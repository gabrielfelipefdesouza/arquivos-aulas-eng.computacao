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2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3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  <p:sldMasterId id="2147483822" r:id="rId2"/>
  </p:sldMasterIdLst>
  <p:notesMasterIdLst>
    <p:notesMasterId r:id="rId32"/>
  </p:notesMasterIdLst>
  <p:sldIdLst>
    <p:sldId id="256" r:id="rId3"/>
    <p:sldId id="269" r:id="rId4"/>
    <p:sldId id="272" r:id="rId5"/>
    <p:sldId id="271" r:id="rId6"/>
    <p:sldId id="273" r:id="rId7"/>
    <p:sldId id="257" r:id="rId8"/>
    <p:sldId id="258" r:id="rId9"/>
    <p:sldId id="373" r:id="rId10"/>
    <p:sldId id="279" r:id="rId11"/>
    <p:sldId id="280" r:id="rId12"/>
    <p:sldId id="281" r:id="rId13"/>
    <p:sldId id="282" r:id="rId14"/>
    <p:sldId id="372" r:id="rId15"/>
    <p:sldId id="283" r:id="rId16"/>
    <p:sldId id="284" r:id="rId17"/>
    <p:sldId id="285" r:id="rId18"/>
    <p:sldId id="286" r:id="rId19"/>
    <p:sldId id="287" r:id="rId20"/>
    <p:sldId id="276" r:id="rId21"/>
    <p:sldId id="277" r:id="rId22"/>
    <p:sldId id="278" r:id="rId23"/>
    <p:sldId id="259" r:id="rId24"/>
    <p:sldId id="260" r:id="rId25"/>
    <p:sldId id="261" r:id="rId26"/>
    <p:sldId id="262" r:id="rId27"/>
    <p:sldId id="264" r:id="rId28"/>
    <p:sldId id="265" r:id="rId29"/>
    <p:sldId id="266" r:id="rId30"/>
    <p:sldId id="27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011" autoAdjust="0"/>
  </p:normalViewPr>
  <p:slideViewPr>
    <p:cSldViewPr snapToGrid="0">
      <p:cViewPr varScale="1">
        <p:scale>
          <a:sx n="71" d="100"/>
          <a:sy n="71" d="100"/>
        </p:scale>
        <p:origin x="101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F1C44-ECE3-4E7B-949D-8462FC9EB751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46273-F4A3-4215-923C-102F6E367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85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46273-F4A3-4215-923C-102F6E3670F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528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https://www.menti.com/zbqmdpfwd2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546273-F4A3-4215-923C-102F6E3670F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22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90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81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79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38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3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6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34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0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07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814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31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25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449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082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107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8945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070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2968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90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232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730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47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2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19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9BE45F-BEC3-44D8-9FB6-9FDE2F9BDF9C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FAE132B-FECC-4A53-A90A-F1CD29B08A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7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Ciências Do ambiente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Prof. Dr. Halison Correia Golias</a:t>
            </a:r>
          </a:p>
        </p:txBody>
      </p:sp>
    </p:spTree>
    <p:extLst>
      <p:ext uri="{BB962C8B-B14F-4D97-AF65-F5344CB8AC3E}">
        <p14:creationId xmlns:p14="http://schemas.microsoft.com/office/powerpoint/2010/main" val="84376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m para anotan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334" y="620713"/>
            <a:ext cx="18573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1" y="1691164"/>
            <a:ext cx="9219459" cy="4273218"/>
          </a:xfrm>
        </p:spPr>
        <p:txBody>
          <a:bodyPr/>
          <a:lstStyle/>
          <a:p>
            <a:r>
              <a:rPr lang="pt-BR" altLang="pt-BR" sz="3200" dirty="0"/>
              <a:t>Aulas expositivas com discussão</a:t>
            </a:r>
            <a:r>
              <a:rPr lang="pt-BR" altLang="pt-BR" dirty="0"/>
              <a:t>. (ver planejamento)</a:t>
            </a:r>
          </a:p>
          <a:p>
            <a:endParaRPr lang="pt-BR" alt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altLang="pt-BR" dirty="0"/>
              <a:t> </a:t>
            </a:r>
            <a:r>
              <a:rPr lang="pt-BR" altLang="pt-BR" sz="2800" dirty="0"/>
              <a:t>Utilização de slides/vídeos/</a:t>
            </a:r>
            <a:r>
              <a:rPr lang="pt-BR" altLang="pt-BR" sz="2800" dirty="0" err="1"/>
              <a:t>Quizz</a:t>
            </a:r>
            <a:r>
              <a:rPr lang="pt-BR" altLang="pt-BR" sz="2800" dirty="0"/>
              <a:t>/Textos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altLang="pt-BR" sz="2800" dirty="0"/>
          </a:p>
          <a:p>
            <a:pPr>
              <a:defRPr/>
            </a:pPr>
            <a:r>
              <a:rPr lang="pt-BR" sz="2800" dirty="0"/>
              <a:t>Comportamento </a:t>
            </a:r>
          </a:p>
          <a:p>
            <a:pPr>
              <a:defRPr/>
            </a:pPr>
            <a:endParaRPr lang="pt-BR" sz="2800" dirty="0"/>
          </a:p>
          <a:p>
            <a:pPr lvl="1">
              <a:defRPr/>
            </a:pPr>
            <a:r>
              <a:rPr lang="pt-BR" sz="2800" dirty="0"/>
              <a:t>Cuidado com os atrasos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altLang="pt-BR" sz="2800" dirty="0"/>
          </a:p>
          <a:p>
            <a:pPr lvl="1">
              <a:buFont typeface="Wingdings" panose="05000000000000000000" pitchFamily="2" charset="2"/>
              <a:buChar char="Ø"/>
            </a:pPr>
            <a:endParaRPr lang="pt-BR" altLang="pt-BR" sz="2600" dirty="0"/>
          </a:p>
          <a:p>
            <a:pPr marL="0" indent="0">
              <a:buNone/>
            </a:pPr>
            <a:endParaRPr lang="pt-BR" altLang="pt-BR" dirty="0"/>
          </a:p>
        </p:txBody>
      </p:sp>
      <p:sp>
        <p:nvSpPr>
          <p:cNvPr id="6148" name="Título 1"/>
          <p:cNvSpPr>
            <a:spLocks noGrp="1"/>
          </p:cNvSpPr>
          <p:nvPr>
            <p:ph type="title"/>
          </p:nvPr>
        </p:nvSpPr>
        <p:spPr>
          <a:xfrm>
            <a:off x="609601" y="371475"/>
            <a:ext cx="8229600" cy="1143001"/>
          </a:xfrm>
        </p:spPr>
        <p:txBody>
          <a:bodyPr>
            <a:normAutofit fontScale="90000"/>
          </a:bodyPr>
          <a:lstStyle/>
          <a:p>
            <a:r>
              <a:rPr lang="pt-BR" altLang="pt-BR" b="1" u="sng" dirty="0"/>
              <a:t>Plano de Ensino e de Trabalho</a:t>
            </a:r>
          </a:p>
        </p:txBody>
      </p:sp>
    </p:spTree>
    <p:extLst>
      <p:ext uri="{BB962C8B-B14F-4D97-AF65-F5344CB8AC3E}">
        <p14:creationId xmlns:p14="http://schemas.microsoft.com/office/powerpoint/2010/main" val="320733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6749" y="1187450"/>
            <a:ext cx="9062042" cy="54006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800" dirty="0"/>
              <a:t>Provas escritas: </a:t>
            </a:r>
          </a:p>
          <a:p>
            <a:pPr lvl="1">
              <a:defRPr/>
            </a:pPr>
            <a:r>
              <a:rPr lang="pt-BR" sz="2600" dirty="0"/>
              <a:t>24/04 – Prova 1 (4,0)</a:t>
            </a:r>
          </a:p>
          <a:p>
            <a:pPr lvl="1">
              <a:defRPr/>
            </a:pPr>
            <a:r>
              <a:rPr lang="pt-BR" sz="2600" dirty="0"/>
              <a:t>12/06 – Prova 2 (4,0)</a:t>
            </a:r>
          </a:p>
          <a:p>
            <a:pPr marL="0" indent="0">
              <a:buNone/>
              <a:defRPr/>
            </a:pPr>
            <a:endParaRPr lang="pt-BR" sz="2800" dirty="0"/>
          </a:p>
          <a:p>
            <a:pPr lvl="1">
              <a:defRPr/>
            </a:pPr>
            <a:r>
              <a:rPr lang="pt-BR" sz="2800" dirty="0"/>
              <a:t>Atividade </a:t>
            </a:r>
            <a:r>
              <a:rPr lang="pt-BR" sz="2800" dirty="0" err="1"/>
              <a:t>moodle</a:t>
            </a:r>
            <a:r>
              <a:rPr lang="pt-BR" sz="2800" dirty="0"/>
              <a:t> (03/04) – 0,5</a:t>
            </a:r>
          </a:p>
          <a:p>
            <a:pPr lvl="1">
              <a:defRPr/>
            </a:pPr>
            <a:r>
              <a:rPr lang="pt-BR" sz="2800" dirty="0"/>
              <a:t>Atividade </a:t>
            </a:r>
            <a:r>
              <a:rPr lang="pt-BR" sz="2800" dirty="0" err="1"/>
              <a:t>moodle</a:t>
            </a:r>
            <a:r>
              <a:rPr lang="pt-BR" sz="2800" dirty="0"/>
              <a:t> (17/04) – 0,5</a:t>
            </a:r>
          </a:p>
          <a:p>
            <a:pPr lvl="1">
              <a:defRPr/>
            </a:pPr>
            <a:r>
              <a:rPr lang="pt-BR" sz="2800" dirty="0"/>
              <a:t>Atividade </a:t>
            </a:r>
            <a:r>
              <a:rPr lang="pt-BR" sz="2800" dirty="0" err="1"/>
              <a:t>moodle</a:t>
            </a:r>
            <a:r>
              <a:rPr lang="pt-BR" sz="2800" dirty="0"/>
              <a:t> (15/05) – 0,5</a:t>
            </a:r>
          </a:p>
          <a:p>
            <a:pPr lvl="1">
              <a:defRPr/>
            </a:pPr>
            <a:r>
              <a:rPr lang="pt-BR" sz="2800" dirty="0"/>
              <a:t>Atividade </a:t>
            </a:r>
            <a:r>
              <a:rPr lang="pt-BR" sz="2800" dirty="0" err="1"/>
              <a:t>moodle</a:t>
            </a:r>
            <a:r>
              <a:rPr lang="pt-BR" sz="2800" dirty="0"/>
              <a:t> (05/06) – 0,5</a:t>
            </a:r>
          </a:p>
          <a:p>
            <a:pPr lvl="1">
              <a:defRPr/>
            </a:pPr>
            <a:r>
              <a:rPr lang="pt-BR" sz="2800" b="1" dirty="0"/>
              <a:t>Recuperação </a:t>
            </a:r>
            <a:r>
              <a:rPr lang="pt-BR" sz="2800" b="1"/>
              <a:t>Final (03/07/2025</a:t>
            </a:r>
            <a:r>
              <a:rPr lang="pt-BR" sz="2800" b="1" dirty="0"/>
              <a:t>) - 8,0 </a:t>
            </a:r>
            <a:r>
              <a:rPr lang="pt-BR" sz="2000" dirty="0"/>
              <a:t>(apenas para quem ficou com nota inferior a 6,0)</a:t>
            </a:r>
          </a:p>
          <a:p>
            <a:pPr lvl="1">
              <a:defRPr/>
            </a:pP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ATENÇÃO: As notas dos trabalhos não são recuperáveis. </a:t>
            </a:r>
          </a:p>
          <a:p>
            <a:pPr lvl="1" indent="0">
              <a:buNone/>
              <a:defRPr/>
            </a:pPr>
            <a:endParaRPr lang="pt-BR" sz="2800" b="1" u="sng" dirty="0">
              <a:solidFill>
                <a:srgbClr val="FF0000"/>
              </a:solidFill>
            </a:endParaRPr>
          </a:p>
          <a:p>
            <a:pPr marL="274320" lvl="1" indent="0">
              <a:buNone/>
              <a:defRPr/>
            </a:pPr>
            <a:endParaRPr lang="pt-BR" dirty="0"/>
          </a:p>
          <a:p>
            <a:pPr>
              <a:defRPr/>
            </a:pP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Avaliações</a:t>
            </a:r>
          </a:p>
        </p:txBody>
      </p:sp>
      <p:pic>
        <p:nvPicPr>
          <p:cNvPr id="5" name="Picture 2" descr="Resultado de imagem para anotando">
            <a:extLst>
              <a:ext uri="{FF2B5EF4-FFF2-40B4-BE49-F238E27FC236}">
                <a16:creationId xmlns:a16="http://schemas.microsoft.com/office/drawing/2014/main" id="{392DB40D-9024-4106-A45B-87AE3412E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030" y="4339432"/>
            <a:ext cx="18573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660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Conteúdo 2"/>
          <p:cNvSpPr>
            <a:spLocks noGrp="1"/>
          </p:cNvSpPr>
          <p:nvPr>
            <p:ph idx="1"/>
          </p:nvPr>
        </p:nvSpPr>
        <p:spPr>
          <a:xfrm>
            <a:off x="1524000" y="5013326"/>
            <a:ext cx="8229600" cy="1844675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2400" b="1" u="sng" dirty="0"/>
              <a:t>Disciplina disponível no Moodle (código da disciplina e senha): </a:t>
            </a:r>
            <a:r>
              <a:rPr lang="pt-BR" altLang="pt-BR" sz="2400" b="1" u="sng" dirty="0">
                <a:highlight>
                  <a:srgbClr val="FFFF00"/>
                </a:highlight>
              </a:rPr>
              <a:t>CICO3A</a:t>
            </a:r>
            <a:r>
              <a:rPr lang="pt-BR" altLang="pt-BR" sz="2400" b="1" u="sng" dirty="0"/>
              <a:t> – </a:t>
            </a:r>
            <a:r>
              <a:rPr lang="pt-BR" altLang="pt-BR" sz="2400" b="1" u="sng" dirty="0">
                <a:solidFill>
                  <a:srgbClr val="FF0000"/>
                </a:solidFill>
                <a:highlight>
                  <a:srgbClr val="FFFF00"/>
                </a:highlight>
              </a:rPr>
              <a:t>CICO3-202501</a:t>
            </a:r>
            <a:endParaRPr lang="pt-BR" sz="2400" b="1" i="0" dirty="0">
              <a:solidFill>
                <a:srgbClr val="FF0000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pPr>
              <a:buFontTx/>
              <a:buNone/>
            </a:pPr>
            <a:r>
              <a:rPr lang="pt-BR" altLang="pt-BR" sz="2400" dirty="0"/>
              <a:t>Aulas teóricas e </a:t>
            </a:r>
            <a:r>
              <a:rPr lang="pt-BR" altLang="pt-BR" sz="2400" u="sng" dirty="0"/>
              <a:t>Textos </a:t>
            </a:r>
            <a:r>
              <a:rPr lang="pt-BR" altLang="pt-BR" sz="2400" dirty="0"/>
              <a:t> (em </a:t>
            </a:r>
            <a:r>
              <a:rPr lang="pt-BR" altLang="pt-BR" sz="2400" dirty="0" err="1"/>
              <a:t>pdf</a:t>
            </a:r>
            <a:r>
              <a:rPr lang="pt-BR" altLang="pt-BR" sz="2400" dirty="0"/>
              <a:t>)</a:t>
            </a:r>
            <a:endParaRPr lang="pt-BR" altLang="pt-BR" sz="2400" u="sng" dirty="0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339" y="-26988"/>
            <a:ext cx="8677275" cy="4978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31181C3-9A47-40A0-8403-8B63608CB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03638"/>
            <a:ext cx="12192000" cy="0"/>
          </a:xfrm>
          <a:prstGeom prst="rect">
            <a:avLst/>
          </a:prstGeom>
          <a:solidFill>
            <a:srgbClr val="FCFD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3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Diagnóstica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C44CC6-4518-5BD9-3FF2-FA26CD293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92F555-4C2A-9EA4-72A6-CE5ACE793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679" y="2252326"/>
            <a:ext cx="3691180" cy="36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Espaço Reservado para Conteúdo 3"/>
          <p:cNvSpPr txBox="1">
            <a:spLocks noGrp="1"/>
          </p:cNvSpPr>
          <p:nvPr>
            <p:ph idx="1"/>
          </p:nvPr>
        </p:nvSpPr>
        <p:spPr>
          <a:xfrm>
            <a:off x="1066800" y="2103120"/>
            <a:ext cx="10058400" cy="347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pt-BR" sz="2500" dirty="0"/>
              <a:t>As </a:t>
            </a:r>
            <a:r>
              <a:rPr lang="pt-BR" sz="2500" b="1" dirty="0"/>
              <a:t>Ciências do Ambiente </a:t>
            </a:r>
            <a:r>
              <a:rPr lang="pt-BR" sz="2500" dirty="0"/>
              <a:t>constituem um ramo da Engenharia que estuda os problemas ambientais de forma interdisciplinar nas dimensões  das ciências </a:t>
            </a:r>
            <a:r>
              <a:rPr lang="pt-BR" sz="2500" b="1" i="1" dirty="0"/>
              <a:t>naturais</a:t>
            </a:r>
            <a:r>
              <a:rPr lang="pt-BR" sz="2500" dirty="0"/>
              <a:t> (biologia, química e geologia), </a:t>
            </a:r>
            <a:r>
              <a:rPr lang="pt-BR" sz="2500" b="1" i="1" dirty="0"/>
              <a:t>sociais</a:t>
            </a:r>
            <a:r>
              <a:rPr lang="pt-BR" sz="2500" dirty="0"/>
              <a:t> (geografia, economia e ciências políticas) e </a:t>
            </a:r>
            <a:r>
              <a:rPr lang="pt-BR" sz="2500" b="1" i="1" dirty="0"/>
              <a:t>humanas</a:t>
            </a:r>
            <a:r>
              <a:rPr lang="pt-BR" sz="2500" dirty="0"/>
              <a:t> (filosofia e ética), visando o </a:t>
            </a:r>
            <a:r>
              <a:rPr lang="pt-BR" sz="2500" b="1" i="1" dirty="0">
                <a:solidFill>
                  <a:srgbClr val="FF0000"/>
                </a:solidFill>
              </a:rPr>
              <a:t>desenvolvimento sustentável</a:t>
            </a:r>
          </a:p>
        </p:txBody>
      </p:sp>
    </p:spTree>
    <p:extLst>
      <p:ext uri="{BB962C8B-B14F-4D97-AF65-F5344CB8AC3E}">
        <p14:creationId xmlns:p14="http://schemas.microsoft.com/office/powerpoint/2010/main" val="73878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3912" y="1988820"/>
            <a:ext cx="10058400" cy="3931920"/>
          </a:xfrm>
        </p:spPr>
        <p:txBody>
          <a:bodyPr>
            <a:noAutofit/>
          </a:bodyPr>
          <a:lstStyle/>
          <a:p>
            <a:pPr marL="0" indent="0" algn="ctr">
              <a:spcBef>
                <a:spcPts val="1200"/>
              </a:spcBef>
              <a:buNone/>
            </a:pPr>
            <a:r>
              <a:rPr lang="pt-BR" sz="2400" b="1" dirty="0"/>
              <a:t>Ciência Ambiental possui três objetivos:</a:t>
            </a:r>
          </a:p>
          <a:p>
            <a:pPr marL="457200" indent="-457200" algn="ctr">
              <a:spcBef>
                <a:spcPts val="1200"/>
              </a:spcBef>
              <a:buAutoNum type="arabicParenR"/>
            </a:pPr>
            <a:r>
              <a:rPr lang="pt-BR" sz="2400" dirty="0"/>
              <a:t>Aprender como a vida na Terra sobreviveu e prosperou</a:t>
            </a:r>
          </a:p>
          <a:p>
            <a:pPr marL="457200" indent="-457200" algn="ctr">
              <a:spcBef>
                <a:spcPts val="1200"/>
              </a:spcBef>
              <a:buAutoNum type="arabicParenR"/>
            </a:pPr>
            <a:r>
              <a:rPr lang="pt-BR" sz="2400" dirty="0"/>
              <a:t>Entender como interagimos com o ambiente</a:t>
            </a:r>
          </a:p>
          <a:p>
            <a:pPr marL="457200" indent="-457200" algn="ctr">
              <a:spcBef>
                <a:spcPts val="1200"/>
              </a:spcBef>
              <a:buAutoNum type="arabicParenR"/>
            </a:pPr>
            <a:r>
              <a:rPr lang="pt-BR" sz="2400" dirty="0"/>
              <a:t>Encontrar formas de lidar com os problemas ambientais e viver de forma mais sustentável</a:t>
            </a:r>
          </a:p>
          <a:p>
            <a:pPr algn="ctr"/>
            <a:r>
              <a:rPr lang="pt-BR" sz="2400" b="1" dirty="0"/>
              <a:t>O componente principal da Ciência Ambiental é a</a:t>
            </a:r>
          </a:p>
          <a:p>
            <a:pPr marL="0" indent="0" algn="ctr">
              <a:buNone/>
            </a:pPr>
            <a:r>
              <a:rPr lang="pt-BR" sz="2400" b="1" i="1" dirty="0">
                <a:solidFill>
                  <a:srgbClr val="FFC000"/>
                </a:solidFill>
              </a:rPr>
              <a:t>Ecologia</a:t>
            </a:r>
            <a:r>
              <a:rPr lang="pt-BR" sz="2400" dirty="0"/>
              <a:t> - área da Ciências Biológicas que estuda as relações entre os organismos vivos e seu ambiente.</a:t>
            </a:r>
          </a:p>
          <a:p>
            <a:pPr marL="0" indent="0" algn="ctr">
              <a:buNone/>
            </a:pPr>
            <a:endParaRPr lang="pt-BR" sz="24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pt-BR" sz="2400" b="1" dirty="0">
                <a:solidFill>
                  <a:srgbClr val="FF0000"/>
                </a:solidFill>
              </a:rPr>
              <a:t>Não confundir Ciências Ambientais com Ambientalismo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4191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é constituído a Ecologia?</a:t>
            </a:r>
          </a:p>
          <a:p>
            <a:pPr lvl="2"/>
            <a:r>
              <a:rPr lang="pt-BR" dirty="0"/>
              <a:t>Espécie (ver classificação)</a:t>
            </a:r>
          </a:p>
          <a:p>
            <a:pPr lvl="2"/>
            <a:r>
              <a:rPr lang="pt-BR" dirty="0"/>
              <a:t>População</a:t>
            </a:r>
          </a:p>
          <a:p>
            <a:pPr lvl="2"/>
            <a:r>
              <a:rPr lang="pt-BR" dirty="0"/>
              <a:t>Comunidade</a:t>
            </a:r>
          </a:p>
          <a:p>
            <a:pPr lvl="2"/>
            <a:r>
              <a:rPr lang="pt-BR" dirty="0"/>
              <a:t>Ecossistema</a:t>
            </a:r>
          </a:p>
          <a:p>
            <a:pPr lvl="2"/>
            <a:r>
              <a:rPr lang="pt-BR" dirty="0"/>
              <a:t>Biosfera</a:t>
            </a:r>
          </a:p>
        </p:txBody>
      </p:sp>
      <p:pic>
        <p:nvPicPr>
          <p:cNvPr id="4" name="Imagem 3" descr="Numériser00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1734"/>
            <a:ext cx="5972176" cy="638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>
            <a:spLocks noChangeArrowheads="1"/>
          </p:cNvSpPr>
          <p:nvPr/>
        </p:nvSpPr>
        <p:spPr bwMode="auto">
          <a:xfrm>
            <a:off x="6459008" y="3925146"/>
            <a:ext cx="2519363" cy="708025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pt-BR" sz="4000" b="1" dirty="0">
                <a:solidFill>
                  <a:srgbClr val="FF0000"/>
                </a:solidFill>
              </a:rPr>
              <a:t>ECOLOGIA</a:t>
            </a:r>
            <a:endParaRPr lang="pt-BR" altLang="pt-BR" sz="4000" b="1" dirty="0">
              <a:solidFill>
                <a:srgbClr val="FF0000"/>
              </a:solidFill>
            </a:endParaRPr>
          </a:p>
        </p:txBody>
      </p:sp>
      <p:pic>
        <p:nvPicPr>
          <p:cNvPr id="5122" name="Picture 2" descr="Níveis de organização dos seres vivos - Ecologia - Cola da 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363" y="321734"/>
            <a:ext cx="8815813" cy="638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lobo Rural - NOTÍCIAS - Fábrica de burros">
            <a:extLst>
              <a:ext uri="{FF2B5EF4-FFF2-40B4-BE49-F238E27FC236}">
                <a16:creationId xmlns:a16="http://schemas.microsoft.com/office/drawing/2014/main" id="{0E17E85C-20FD-4EA6-851C-DEAC7F0E3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63" y="152400"/>
            <a:ext cx="6191250" cy="665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30080E6-4BD8-4596-177A-53CC47DFE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18" y="-2689"/>
            <a:ext cx="11381590" cy="6828954"/>
          </a:xfrm>
          <a:prstGeom prst="rect">
            <a:avLst/>
          </a:prstGeom>
        </p:spPr>
      </p:pic>
      <p:pic>
        <p:nvPicPr>
          <p:cNvPr id="7" name="Picture 2" descr="Javaporco – Wikipédia, a enciclopédia livre">
            <a:extLst>
              <a:ext uri="{FF2B5EF4-FFF2-40B4-BE49-F238E27FC236}">
                <a16:creationId xmlns:a16="http://schemas.microsoft.com/office/drawing/2014/main" id="{9A174611-4661-C3DD-27E3-4779E7033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884" y="455039"/>
            <a:ext cx="9366324" cy="591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8 animais híbridos incríveis que você precisa conhecer">
            <a:extLst>
              <a:ext uri="{FF2B5EF4-FFF2-40B4-BE49-F238E27FC236}">
                <a16:creationId xmlns:a16="http://schemas.microsoft.com/office/drawing/2014/main" id="{8EEB7681-0E4A-44D1-330B-F54D7289C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22" y="266661"/>
            <a:ext cx="10058400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27A6E194-E147-CFEF-DA19-1DFBFDF96603}"/>
              </a:ext>
            </a:extLst>
          </p:cNvPr>
          <p:cNvGrpSpPr/>
          <p:nvPr/>
        </p:nvGrpSpPr>
        <p:grpSpPr>
          <a:xfrm>
            <a:off x="1474332" y="266661"/>
            <a:ext cx="8382000" cy="6286500"/>
            <a:chOff x="1905000" y="285750"/>
            <a:chExt cx="8382000" cy="6286500"/>
          </a:xfrm>
        </p:grpSpPr>
        <p:pic>
          <p:nvPicPr>
            <p:cNvPr id="1032" name="Picture 8" descr="2">
              <a:extLst>
                <a:ext uri="{FF2B5EF4-FFF2-40B4-BE49-F238E27FC236}">
                  <a16:creationId xmlns:a16="http://schemas.microsoft.com/office/drawing/2014/main" id="{2DF6E5AF-7E58-1620-9F62-A1E5BEBF8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285750"/>
              <a:ext cx="8382000" cy="6286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9F70235-88F2-6631-79CA-34FC6ABD14A7}"/>
                </a:ext>
              </a:extLst>
            </p:cNvPr>
            <p:cNvSpPr txBox="1"/>
            <p:nvPr/>
          </p:nvSpPr>
          <p:spPr>
            <a:xfrm>
              <a:off x="6293224" y="5260489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err="1"/>
                <a:t>Tigreão</a:t>
              </a:r>
              <a:endParaRPr lang="pt-BR" b="1"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5C0E937-157F-38D3-7BBB-DC2E51D954ED}"/>
              </a:ext>
            </a:extLst>
          </p:cNvPr>
          <p:cNvGrpSpPr/>
          <p:nvPr/>
        </p:nvGrpSpPr>
        <p:grpSpPr>
          <a:xfrm>
            <a:off x="2823016" y="-47625"/>
            <a:ext cx="7658100" cy="6858000"/>
            <a:chOff x="2266950" y="0"/>
            <a:chExt cx="7658100" cy="6858000"/>
          </a:xfrm>
        </p:grpSpPr>
        <p:pic>
          <p:nvPicPr>
            <p:cNvPr id="1034" name="Picture 10" descr="4">
              <a:extLst>
                <a:ext uri="{FF2B5EF4-FFF2-40B4-BE49-F238E27FC236}">
                  <a16:creationId xmlns:a16="http://schemas.microsoft.com/office/drawing/2014/main" id="{40F3BA66-AB61-AD82-4506-943B098DEE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950" y="0"/>
              <a:ext cx="76581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A1DA6B0A-DC2A-311F-A358-38732F87472F}"/>
                </a:ext>
              </a:extLst>
            </p:cNvPr>
            <p:cNvSpPr txBox="1"/>
            <p:nvPr/>
          </p:nvSpPr>
          <p:spPr>
            <a:xfrm>
              <a:off x="3087445" y="5723068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err="1"/>
                <a:t>Jagleão</a:t>
              </a:r>
              <a:endParaRPr lang="pt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8018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208EA-12A2-16D1-C0A1-FFF676BE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das espécies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8FFD30-FD19-67B7-9B19-1DA80709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pt-BR" sz="2800" b="1" i="1" spc="-5" dirty="0">
                <a:latin typeface="Calibri"/>
                <a:cs typeface="Calibri"/>
              </a:rPr>
              <a:t>Nativas</a:t>
            </a:r>
            <a:r>
              <a:rPr lang="pt-BR" sz="2800" spc="-5" dirty="0">
                <a:latin typeface="Calibri"/>
                <a:cs typeface="Calibri"/>
              </a:rPr>
              <a:t>: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vivem</a:t>
            </a:r>
            <a:r>
              <a:rPr lang="pt-BR" sz="2800" spc="1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em</a:t>
            </a:r>
            <a:r>
              <a:rPr lang="pt-BR" sz="2800" spc="-15" dirty="0">
                <a:latin typeface="Calibri"/>
                <a:cs typeface="Calibri"/>
              </a:rPr>
              <a:t> </a:t>
            </a:r>
            <a:r>
              <a:rPr lang="pt-BR" sz="2800" spc="-5" dirty="0">
                <a:latin typeface="Calibri"/>
                <a:cs typeface="Calibri"/>
              </a:rPr>
              <a:t>um</a:t>
            </a:r>
            <a:r>
              <a:rPr lang="pt-BR" sz="2800" spc="-1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ecossistema</a:t>
            </a:r>
            <a:r>
              <a:rPr lang="pt-BR" sz="2800" spc="-30" dirty="0">
                <a:latin typeface="Calibri"/>
                <a:cs typeface="Calibri"/>
              </a:rPr>
              <a:t> </a:t>
            </a:r>
            <a:r>
              <a:rPr lang="pt-BR" sz="2800" spc="-5" dirty="0">
                <a:latin typeface="Calibri"/>
                <a:cs typeface="Calibri"/>
              </a:rPr>
              <a:t>específico</a:t>
            </a:r>
            <a:endParaRPr lang="pt-BR" sz="2800" dirty="0">
              <a:latin typeface="Calibri"/>
              <a:cs typeface="Calibri"/>
            </a:endParaRPr>
          </a:p>
          <a:p>
            <a:pPr marL="355600" marR="214629" indent="-34290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  <a:tab pos="355600" algn="l"/>
                <a:tab pos="2112645" algn="l"/>
              </a:tabLst>
            </a:pPr>
            <a:r>
              <a:rPr lang="pt-BR" sz="2800" b="1" i="1" spc="-5" dirty="0">
                <a:latin typeface="Calibri"/>
                <a:cs typeface="Calibri"/>
              </a:rPr>
              <a:t>Não-nativas</a:t>
            </a:r>
            <a:r>
              <a:rPr lang="pt-BR" sz="2800" spc="-5" dirty="0">
                <a:latin typeface="Calibri"/>
                <a:cs typeface="Calibri"/>
              </a:rPr>
              <a:t>: ou </a:t>
            </a:r>
            <a:r>
              <a:rPr lang="pt-BR" sz="2800" spc="-15" dirty="0">
                <a:latin typeface="Calibri"/>
                <a:cs typeface="Calibri"/>
              </a:rPr>
              <a:t>invasoras, </a:t>
            </a:r>
            <a:r>
              <a:rPr lang="pt-BR" sz="2800" spc="-10" dirty="0">
                <a:latin typeface="Calibri"/>
                <a:cs typeface="Calibri"/>
              </a:rPr>
              <a:t>estranhas </a:t>
            </a:r>
            <a:r>
              <a:rPr lang="pt-BR" sz="2800" spc="-5" dirty="0">
                <a:latin typeface="Calibri"/>
                <a:cs typeface="Calibri"/>
              </a:rPr>
              <a:t>ou </a:t>
            </a:r>
            <a:r>
              <a:rPr lang="pt-BR" sz="2800" spc="-20" dirty="0">
                <a:latin typeface="Calibri"/>
                <a:cs typeface="Calibri"/>
              </a:rPr>
              <a:t>exóticas </a:t>
            </a:r>
            <a:r>
              <a:rPr lang="pt-BR" sz="2800" dirty="0">
                <a:latin typeface="Calibri"/>
                <a:cs typeface="Calibri"/>
              </a:rPr>
              <a:t>– espécies </a:t>
            </a:r>
            <a:r>
              <a:rPr lang="pt-BR" sz="2800" spc="-530" dirty="0">
                <a:latin typeface="Calibri"/>
                <a:cs typeface="Calibri"/>
              </a:rPr>
              <a:t> </a:t>
            </a:r>
            <a:r>
              <a:rPr lang="pt-BR" sz="2800" spc="-5" dirty="0">
                <a:latin typeface="Calibri"/>
                <a:cs typeface="Calibri"/>
              </a:rPr>
              <a:t>que </a:t>
            </a:r>
            <a:r>
              <a:rPr lang="pt-BR" sz="2800" spc="-10" dirty="0">
                <a:latin typeface="Calibri"/>
                <a:cs typeface="Calibri"/>
              </a:rPr>
              <a:t>migram </a:t>
            </a:r>
            <a:r>
              <a:rPr lang="pt-BR" sz="2800" spc="-5" dirty="0">
                <a:latin typeface="Calibri"/>
                <a:cs typeface="Calibri"/>
              </a:rPr>
              <a:t>ou são </a:t>
            </a:r>
            <a:r>
              <a:rPr lang="pt-BR" sz="2800" spc="-10" dirty="0">
                <a:latin typeface="Calibri"/>
                <a:cs typeface="Calibri"/>
              </a:rPr>
              <a:t>introduzidas (acidentalmente) </a:t>
            </a:r>
            <a:r>
              <a:rPr lang="pt-BR" sz="2800" dirty="0">
                <a:latin typeface="Calibri"/>
                <a:cs typeface="Calibri"/>
              </a:rPr>
              <a:t>em </a:t>
            </a:r>
            <a:r>
              <a:rPr lang="pt-BR" sz="2800" spc="-5" dirty="0">
                <a:latin typeface="Calibri"/>
                <a:cs typeface="Calibri"/>
              </a:rPr>
              <a:t>um </a:t>
            </a:r>
            <a:r>
              <a:rPr lang="pt-BR" sz="280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ecossistema</a:t>
            </a:r>
            <a:endParaRPr lang="pt-BR" sz="2800" dirty="0">
              <a:latin typeface="Calibri"/>
              <a:cs typeface="Calibri"/>
            </a:endParaRPr>
          </a:p>
          <a:p>
            <a:pPr marL="355600" marR="1099820" indent="-34290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pt-BR" sz="2800" b="1" i="1" spc="-5" dirty="0">
                <a:latin typeface="Calibri"/>
                <a:cs typeface="Calibri"/>
              </a:rPr>
              <a:t>Indicadoras</a:t>
            </a:r>
            <a:r>
              <a:rPr lang="pt-BR" sz="2800" spc="-5" dirty="0">
                <a:latin typeface="Calibri"/>
                <a:cs typeface="Calibri"/>
              </a:rPr>
              <a:t>: </a:t>
            </a:r>
            <a:r>
              <a:rPr lang="pt-BR" sz="2800" spc="-10" dirty="0">
                <a:latin typeface="Calibri"/>
                <a:cs typeface="Calibri"/>
              </a:rPr>
              <a:t>fornecem avisos </a:t>
            </a:r>
            <a:r>
              <a:rPr lang="pt-BR" sz="2800" spc="-5" dirty="0">
                <a:latin typeface="Calibri"/>
                <a:cs typeface="Calibri"/>
              </a:rPr>
              <a:t>iniciais de danos </a:t>
            </a:r>
            <a:r>
              <a:rPr lang="pt-BR" sz="2800" dirty="0">
                <a:latin typeface="Calibri"/>
                <a:cs typeface="Calibri"/>
              </a:rPr>
              <a:t>a </a:t>
            </a:r>
            <a:r>
              <a:rPr lang="pt-BR" sz="2800" spc="-5" dirty="0">
                <a:latin typeface="Calibri"/>
                <a:cs typeface="Calibri"/>
              </a:rPr>
              <a:t>uma </a:t>
            </a:r>
            <a:r>
              <a:rPr lang="pt-BR" sz="2800" spc="-53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comunidade</a:t>
            </a:r>
            <a:r>
              <a:rPr lang="pt-BR" sz="2800" dirty="0">
                <a:latin typeface="Calibri"/>
                <a:cs typeface="Calibri"/>
              </a:rPr>
              <a:t> </a:t>
            </a:r>
            <a:r>
              <a:rPr lang="pt-BR" sz="2800" spc="-5" dirty="0">
                <a:latin typeface="Calibri"/>
                <a:cs typeface="Calibri"/>
              </a:rPr>
              <a:t>ou </a:t>
            </a:r>
            <a:r>
              <a:rPr lang="pt-BR" sz="2800" spc="-10" dirty="0">
                <a:latin typeface="Calibri"/>
                <a:cs typeface="Calibri"/>
              </a:rPr>
              <a:t>ecossistemas</a:t>
            </a:r>
            <a:endParaRPr lang="pt-BR"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pt-BR" sz="2800" b="1" i="1" spc="-5" dirty="0">
                <a:latin typeface="Calibri"/>
                <a:cs typeface="Calibri"/>
              </a:rPr>
              <a:t>Chave</a:t>
            </a:r>
            <a:r>
              <a:rPr lang="pt-BR" sz="2800" spc="-5" dirty="0">
                <a:latin typeface="Calibri"/>
                <a:cs typeface="Calibri"/>
              </a:rPr>
              <a:t>: influenciam nos </a:t>
            </a:r>
            <a:r>
              <a:rPr lang="pt-BR" sz="2800" dirty="0">
                <a:latin typeface="Calibri"/>
                <a:cs typeface="Calibri"/>
              </a:rPr>
              <a:t>tipos e abundância </a:t>
            </a:r>
            <a:r>
              <a:rPr lang="pt-BR" sz="2800" spc="-5" dirty="0">
                <a:latin typeface="Calibri"/>
                <a:cs typeface="Calibri"/>
              </a:rPr>
              <a:t>de </a:t>
            </a:r>
            <a:r>
              <a:rPr lang="pt-BR" sz="2800" spc="-15" dirty="0">
                <a:latin typeface="Calibri"/>
                <a:cs typeface="Calibri"/>
              </a:rPr>
              <a:t>outras </a:t>
            </a:r>
            <a:r>
              <a:rPr lang="pt-BR" sz="2800" dirty="0">
                <a:latin typeface="Calibri"/>
                <a:cs typeface="Calibri"/>
              </a:rPr>
              <a:t>espécies </a:t>
            </a:r>
            <a:r>
              <a:rPr lang="pt-BR" sz="2800" spc="-53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em</a:t>
            </a:r>
            <a:r>
              <a:rPr lang="pt-BR" sz="2800" spc="-15" dirty="0">
                <a:latin typeface="Calibri"/>
                <a:cs typeface="Calibri"/>
              </a:rPr>
              <a:t> </a:t>
            </a:r>
            <a:r>
              <a:rPr lang="pt-BR" sz="2800" spc="-5" dirty="0">
                <a:latin typeface="Calibri"/>
                <a:cs typeface="Calibri"/>
              </a:rPr>
              <a:t>um </a:t>
            </a:r>
            <a:r>
              <a:rPr lang="pt-BR" sz="2800" spc="-10" dirty="0">
                <a:latin typeface="Calibri"/>
                <a:cs typeface="Calibri"/>
              </a:rPr>
              <a:t>ecossistema</a:t>
            </a:r>
            <a:endParaRPr lang="pt-BR" sz="2800" dirty="0">
              <a:latin typeface="Calibri"/>
              <a:cs typeface="Calibri"/>
            </a:endParaRP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1835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7133" y="466054"/>
            <a:ext cx="9296119" cy="148864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dirty="0"/>
              <a:t>Como as </a:t>
            </a:r>
            <a:r>
              <a:rPr lang="en-US" dirty="0" err="1"/>
              <a:t>espécies</a:t>
            </a:r>
            <a:r>
              <a:rPr lang="en-US" dirty="0"/>
              <a:t> se </a:t>
            </a:r>
            <a:r>
              <a:rPr lang="en-US" dirty="0" err="1"/>
              <a:t>tornam</a:t>
            </a:r>
            <a:r>
              <a:rPr lang="en-US" dirty="0"/>
              <a:t> </a:t>
            </a:r>
            <a:r>
              <a:rPr lang="en-US" dirty="0" err="1"/>
              <a:t>invasoras</a:t>
            </a:r>
            <a:r>
              <a:rPr lang="en-US" dirty="0"/>
              <a:t>?</a:t>
            </a:r>
            <a:endParaRPr sz="2824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7133" y="1897958"/>
            <a:ext cx="7063628" cy="4457680"/>
          </a:xfrm>
          <a:prstGeom prst="rect">
            <a:avLst/>
          </a:prstGeom>
        </p:spPr>
        <p:txBody>
          <a:bodyPr vert="horz" wrap="square" lIns="0" tIns="137272" rIns="0" bIns="0" rtlCol="0">
            <a:spAutoFit/>
          </a:bodyPr>
          <a:lstStyle/>
          <a:p>
            <a:pPr marL="313781" indent="-303135">
              <a:spcBef>
                <a:spcPts val="1081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13" dirty="0">
                <a:latin typeface="Calibri"/>
                <a:cs typeface="Calibri"/>
              </a:rPr>
              <a:t>Atividades</a:t>
            </a:r>
            <a:r>
              <a:rPr sz="2471" spc="31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envolvendo</a:t>
            </a:r>
            <a:r>
              <a:rPr sz="2471" spc="26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o</a:t>
            </a:r>
            <a:r>
              <a:rPr sz="2471" spc="4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animal:</a:t>
            </a:r>
            <a:r>
              <a:rPr sz="2471" spc="4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espécie</a:t>
            </a:r>
            <a:r>
              <a:rPr sz="2471" spc="13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alvo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997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9" dirty="0">
                <a:latin typeface="Calibri"/>
                <a:cs typeface="Calibri"/>
              </a:rPr>
              <a:t>Espécies</a:t>
            </a:r>
            <a:r>
              <a:rPr sz="2471" spc="-18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acompanhantes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993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4" dirty="0">
                <a:latin typeface="Calibri"/>
                <a:cs typeface="Calibri"/>
              </a:rPr>
              <a:t>Animais</a:t>
            </a:r>
            <a:r>
              <a:rPr sz="2471" spc="13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de </a:t>
            </a:r>
            <a:r>
              <a:rPr sz="2471" spc="-9" dirty="0">
                <a:latin typeface="Calibri"/>
                <a:cs typeface="Calibri"/>
              </a:rPr>
              <a:t>estimação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e </a:t>
            </a:r>
            <a:r>
              <a:rPr sz="2471" spc="-9" dirty="0">
                <a:latin typeface="Calibri"/>
                <a:cs typeface="Calibri"/>
              </a:rPr>
              <a:t>paisagismo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997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13" dirty="0">
                <a:latin typeface="Calibri"/>
                <a:cs typeface="Calibri"/>
              </a:rPr>
              <a:t>Atividades</a:t>
            </a:r>
            <a:r>
              <a:rPr sz="2471" spc="22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de</a:t>
            </a:r>
            <a:r>
              <a:rPr sz="2471" spc="-9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pesca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e</a:t>
            </a:r>
            <a:r>
              <a:rPr sz="2471" spc="-9" dirty="0">
                <a:latin typeface="Calibri"/>
                <a:cs typeface="Calibri"/>
              </a:rPr>
              <a:t> caça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997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9" dirty="0">
                <a:latin typeface="Calibri"/>
                <a:cs typeface="Calibri"/>
              </a:rPr>
              <a:t>Eliminação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de</a:t>
            </a:r>
            <a:r>
              <a:rPr sz="2471" spc="4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barreiras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geográficas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997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13" dirty="0">
                <a:latin typeface="Calibri"/>
                <a:cs typeface="Calibri"/>
              </a:rPr>
              <a:t>Embarcações</a:t>
            </a:r>
            <a:endParaRPr sz="2471" dirty="0">
              <a:latin typeface="Calibri"/>
              <a:cs typeface="Calibri"/>
            </a:endParaRPr>
          </a:p>
          <a:p>
            <a:pPr marL="313781" indent="-303135">
              <a:spcBef>
                <a:spcPts val="1227"/>
              </a:spcBef>
              <a:buFont typeface="Arial MT"/>
              <a:buChar char="•"/>
              <a:tabLst>
                <a:tab pos="313781" algn="l"/>
                <a:tab pos="314342" algn="l"/>
              </a:tabLst>
            </a:pPr>
            <a:r>
              <a:rPr sz="2471" spc="-9" dirty="0">
                <a:latin typeface="Calibri"/>
                <a:cs typeface="Calibri"/>
              </a:rPr>
              <a:t>Escapes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acidentais:</a:t>
            </a:r>
            <a:r>
              <a:rPr sz="2471" spc="22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cultivo,</a:t>
            </a:r>
            <a:r>
              <a:rPr sz="2471" spc="26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experimento,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transporte</a:t>
            </a:r>
            <a:endParaRPr sz="2471" dirty="0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3133" dirty="0">
              <a:latin typeface="Calibri"/>
              <a:cs typeface="Calibri"/>
            </a:endParaRPr>
          </a:p>
          <a:p>
            <a:pPr marL="304256"/>
            <a:r>
              <a:rPr sz="2471" i="1" u="heavy" spc="-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Segunda</a:t>
            </a:r>
            <a:r>
              <a:rPr sz="2471" i="1" u="heavy" spc="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maior</a:t>
            </a:r>
            <a:r>
              <a:rPr sz="2471" i="1" u="heavy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4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causa</a:t>
            </a:r>
            <a:r>
              <a:rPr sz="2471" i="1" u="heavy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4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de</a:t>
            </a:r>
            <a:r>
              <a:rPr sz="2471" i="1" u="heavy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13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extinção</a:t>
            </a:r>
            <a:r>
              <a:rPr sz="2471" i="1" u="heavy" spc="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de</a:t>
            </a:r>
            <a:r>
              <a:rPr sz="2471" i="1" u="heavy" spc="4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4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espécies</a:t>
            </a:r>
            <a:r>
              <a:rPr sz="2471" i="1" u="heavy" spc="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71" i="1" u="heavy" spc="-9" dirty="0"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nativas</a:t>
            </a:r>
            <a:endParaRPr sz="247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7905" y="533442"/>
            <a:ext cx="3440206" cy="2146487"/>
            <a:chOff x="5535167" y="780287"/>
            <a:chExt cx="3898900" cy="2432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2963" y="780287"/>
              <a:ext cx="1720596" cy="17556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5167" y="1438655"/>
              <a:ext cx="2363724" cy="17739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50054" y="102843"/>
            <a:ext cx="4015292" cy="148864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u="heavy" spc="-13" dirty="0" err="1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rPr>
              <a:t>Exemplos</a:t>
            </a:r>
            <a:r>
              <a:rPr u="heavy" spc="-62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" dirty="0" err="1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rPr>
              <a:t>brasileiros</a:t>
            </a:r>
            <a:endParaRPr u="heavy" spc="-9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1279" y="2082542"/>
            <a:ext cx="4873438" cy="3919818"/>
            <a:chOff x="801623" y="2529839"/>
            <a:chExt cx="5523230" cy="44424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23" y="2529839"/>
              <a:ext cx="3363467" cy="37962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5428" y="5554979"/>
              <a:ext cx="2519172" cy="14173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940724" y="2840081"/>
            <a:ext cx="1869141" cy="30942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941" spc="-4" dirty="0">
                <a:latin typeface="Calibri"/>
                <a:cs typeface="Calibri"/>
              </a:rPr>
              <a:t>M</a:t>
            </a:r>
            <a:r>
              <a:rPr sz="1941" spc="-44" dirty="0">
                <a:latin typeface="Calibri"/>
                <a:cs typeface="Calibri"/>
              </a:rPr>
              <a:t>e</a:t>
            </a:r>
            <a:r>
              <a:rPr sz="1941" spc="-9" dirty="0">
                <a:latin typeface="Calibri"/>
                <a:cs typeface="Calibri"/>
              </a:rPr>
              <a:t>xilhã</a:t>
            </a:r>
            <a:r>
              <a:rPr sz="1941" dirty="0">
                <a:latin typeface="Calibri"/>
                <a:cs typeface="Calibri"/>
              </a:rPr>
              <a:t>o</a:t>
            </a:r>
            <a:r>
              <a:rPr sz="1941" spc="-9" dirty="0">
                <a:latin typeface="Calibri"/>
                <a:cs typeface="Calibri"/>
              </a:rPr>
              <a:t>-dou</a:t>
            </a:r>
            <a:r>
              <a:rPr sz="1941" spc="-44" dirty="0">
                <a:latin typeface="Calibri"/>
                <a:cs typeface="Calibri"/>
              </a:rPr>
              <a:t>r</a:t>
            </a:r>
            <a:r>
              <a:rPr sz="1941" spc="-4" dirty="0">
                <a:latin typeface="Calibri"/>
                <a:cs typeface="Calibri"/>
              </a:rPr>
              <a:t>ado</a:t>
            </a:r>
            <a:endParaRPr sz="1941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85081" y="4191448"/>
            <a:ext cx="2521324" cy="168088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78823" y="5988852"/>
            <a:ext cx="1792941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algn="ctr">
              <a:spcBef>
                <a:spcPts val="84"/>
              </a:spcBef>
            </a:pPr>
            <a:r>
              <a:rPr sz="1941" spc="-13" dirty="0" err="1">
                <a:latin typeface="Calibri"/>
                <a:cs typeface="Calibri"/>
              </a:rPr>
              <a:t>Caramujo-gigante</a:t>
            </a:r>
            <a:r>
              <a:rPr lang="pt-BR" sz="1941" spc="-13" dirty="0">
                <a:latin typeface="Calibri"/>
                <a:cs typeface="Calibri"/>
              </a:rPr>
              <a:t> (1980)</a:t>
            </a:r>
            <a:endParaRPr sz="1941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53810" y="2538992"/>
            <a:ext cx="2027816" cy="12694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59259" y="3825549"/>
            <a:ext cx="976969" cy="620917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lang="pt-BR" sz="1941" spc="-4" dirty="0">
                <a:latin typeface="Calibri"/>
                <a:cs typeface="Calibri"/>
              </a:rPr>
              <a:t>T</a:t>
            </a:r>
            <a:r>
              <a:rPr sz="1941" spc="-4" dirty="0" err="1">
                <a:latin typeface="Calibri"/>
                <a:cs typeface="Calibri"/>
              </a:rPr>
              <a:t>ilápia</a:t>
            </a:r>
            <a:endParaRPr lang="pt-BR" sz="1941" spc="-4" dirty="0">
              <a:latin typeface="Calibri"/>
              <a:cs typeface="Calibri"/>
            </a:endParaRPr>
          </a:p>
          <a:p>
            <a:pPr marL="11206">
              <a:spcBef>
                <a:spcPts val="84"/>
              </a:spcBef>
            </a:pPr>
            <a:r>
              <a:rPr lang="pt-BR" sz="1941" spc="-4" dirty="0">
                <a:latin typeface="Calibri"/>
                <a:cs typeface="Calibri"/>
              </a:rPr>
              <a:t>(1950)</a:t>
            </a:r>
            <a:endParaRPr sz="1941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9843" y="5973921"/>
            <a:ext cx="796437" cy="9195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algn="ctr">
              <a:spcBef>
                <a:spcPts val="84"/>
              </a:spcBef>
            </a:pPr>
            <a:r>
              <a:rPr lang="pt-BR" sz="1941" spc="-9" dirty="0">
                <a:latin typeface="Calibri"/>
                <a:cs typeface="Calibri"/>
              </a:rPr>
              <a:t>Javali </a:t>
            </a:r>
            <a:br>
              <a:rPr lang="pt-BR" sz="1941" spc="-9" dirty="0">
                <a:latin typeface="Calibri"/>
                <a:cs typeface="Calibri"/>
              </a:rPr>
            </a:br>
            <a:r>
              <a:rPr lang="pt-BR" sz="1941" spc="-9" dirty="0">
                <a:latin typeface="Calibri"/>
                <a:cs typeface="Calibri"/>
              </a:rPr>
              <a:t>(1904)</a:t>
            </a:r>
          </a:p>
          <a:p>
            <a:pPr marL="11206">
              <a:spcBef>
                <a:spcPts val="84"/>
              </a:spcBef>
            </a:pPr>
            <a:endParaRPr sz="1941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2387" y="5531033"/>
            <a:ext cx="1577788" cy="6080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algn="ctr">
              <a:spcBef>
                <a:spcPts val="84"/>
              </a:spcBef>
            </a:pPr>
            <a:r>
              <a:rPr sz="1941" spc="-4" dirty="0" err="1">
                <a:latin typeface="Calibri"/>
                <a:cs typeface="Calibri"/>
              </a:rPr>
              <a:t>Abelha</a:t>
            </a:r>
            <a:r>
              <a:rPr sz="1941" spc="-4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41" spc="-9" dirty="0" err="1">
                <a:latin typeface="Calibri"/>
                <a:cs typeface="Calibri"/>
              </a:rPr>
              <a:t>africana</a:t>
            </a:r>
            <a:r>
              <a:rPr lang="pt-BR" sz="1941" spc="-9" dirty="0">
                <a:latin typeface="Calibri"/>
                <a:cs typeface="Calibri"/>
              </a:rPr>
              <a:t> (1956)</a:t>
            </a:r>
            <a:endParaRPr sz="194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520" y="293510"/>
            <a:ext cx="8165054" cy="148864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dirty="0" err="1"/>
              <a:t>Espécies</a:t>
            </a:r>
            <a:r>
              <a:rPr lang="en-US" dirty="0"/>
              <a:t> </a:t>
            </a:r>
            <a:r>
              <a:rPr lang="en-US" dirty="0" err="1"/>
              <a:t>indicadoras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comunidades</a:t>
            </a:r>
            <a:r>
              <a:rPr lang="en-US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5022" y="1782153"/>
            <a:ext cx="7056344" cy="125055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>
              <a:spcBef>
                <a:spcPts val="93"/>
              </a:spcBef>
              <a:buChar char="•"/>
              <a:tabLst>
                <a:tab pos="223008" algn="l"/>
              </a:tabLst>
            </a:pPr>
            <a:r>
              <a:rPr lang="pt-BR" sz="2294" spc="-4" dirty="0">
                <a:latin typeface="Calibri"/>
                <a:cs typeface="Calibri"/>
              </a:rPr>
              <a:t> S</a:t>
            </a:r>
            <a:r>
              <a:rPr sz="2294" spc="-4" dirty="0" err="1">
                <a:latin typeface="Calibri"/>
                <a:cs typeface="Calibri"/>
              </a:rPr>
              <a:t>ua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presença </a:t>
            </a:r>
            <a:r>
              <a:rPr sz="2294" spc="-4" dirty="0">
                <a:latin typeface="Calibri"/>
                <a:cs typeface="Calibri"/>
              </a:rPr>
              <a:t>ou </a:t>
            </a:r>
            <a:r>
              <a:rPr sz="2294" spc="-9" dirty="0">
                <a:latin typeface="Calibri"/>
                <a:cs typeface="Calibri"/>
              </a:rPr>
              <a:t>alterações </a:t>
            </a:r>
            <a:r>
              <a:rPr sz="2294" spc="-4" dirty="0">
                <a:latin typeface="Calibri"/>
                <a:cs typeface="Calibri"/>
              </a:rPr>
              <a:t>de densidade </a:t>
            </a:r>
            <a:r>
              <a:rPr sz="2294" spc="-9" dirty="0">
                <a:latin typeface="Calibri"/>
                <a:cs typeface="Calibri"/>
              </a:rPr>
              <a:t>fornecem avisos </a:t>
            </a:r>
            <a:r>
              <a:rPr sz="2294" spc="-507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iniciais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de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danos </a:t>
            </a:r>
            <a:r>
              <a:rPr sz="2294" dirty="0">
                <a:latin typeface="Calibri"/>
                <a:cs typeface="Calibri"/>
              </a:rPr>
              <a:t>ao </a:t>
            </a:r>
            <a:r>
              <a:rPr sz="2294" spc="-9" dirty="0">
                <a:latin typeface="Calibri"/>
                <a:cs typeface="Calibri"/>
              </a:rPr>
              <a:t>ecossistema</a:t>
            </a:r>
            <a:endParaRPr sz="2294" dirty="0">
              <a:latin typeface="Calibri"/>
              <a:cs typeface="Calibri"/>
            </a:endParaRPr>
          </a:p>
          <a:p>
            <a:pPr marL="222449" indent="-211802">
              <a:spcBef>
                <a:spcPts val="1394"/>
              </a:spcBef>
              <a:buChar char="•"/>
              <a:tabLst>
                <a:tab pos="223008" algn="l"/>
              </a:tabLst>
            </a:pPr>
            <a:r>
              <a:rPr lang="pt-BR" sz="2294" spc="-9" dirty="0">
                <a:latin typeface="Calibri"/>
                <a:cs typeface="Calibri"/>
              </a:rPr>
              <a:t>F</a:t>
            </a:r>
            <a:r>
              <a:rPr sz="2294" spc="-9" dirty="0" err="1">
                <a:latin typeface="Calibri"/>
                <a:cs typeface="Calibri"/>
              </a:rPr>
              <a:t>acilita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o</a:t>
            </a:r>
            <a:r>
              <a:rPr sz="2294" spc="-4" dirty="0">
                <a:latin typeface="Calibri"/>
                <a:cs typeface="Calibri"/>
              </a:rPr>
              <a:t> trabalho da</a:t>
            </a:r>
            <a:r>
              <a:rPr sz="2294" spc="-18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biologia</a:t>
            </a:r>
            <a:r>
              <a:rPr sz="2294" spc="9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da </a:t>
            </a:r>
            <a:r>
              <a:rPr sz="2294" spc="-9" dirty="0">
                <a:latin typeface="Calibri"/>
                <a:cs typeface="Calibri"/>
              </a:rPr>
              <a:t>conservação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9253" y="3254187"/>
            <a:ext cx="3303941" cy="21864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05979" y="5573323"/>
            <a:ext cx="967068" cy="30942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941" b="1" spc="-4" dirty="0">
                <a:latin typeface="Arial"/>
                <a:cs typeface="Arial"/>
              </a:rPr>
              <a:t>Liq</a:t>
            </a:r>
            <a:r>
              <a:rPr sz="1941" b="1" dirty="0">
                <a:latin typeface="Arial"/>
                <a:cs typeface="Arial"/>
              </a:rPr>
              <a:t>u</a:t>
            </a:r>
            <a:r>
              <a:rPr sz="1941" b="1" spc="-9" dirty="0">
                <a:latin typeface="Arial"/>
                <a:cs typeface="Arial"/>
              </a:rPr>
              <a:t>ens</a:t>
            </a:r>
            <a:endParaRPr sz="1941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4695" y="3254187"/>
            <a:ext cx="3184264" cy="218111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15535" y="5573323"/>
            <a:ext cx="624728" cy="30942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941" b="1" spc="-110" dirty="0">
                <a:latin typeface="Arial"/>
                <a:cs typeface="Arial"/>
              </a:rPr>
              <a:t>T</a:t>
            </a:r>
            <a:r>
              <a:rPr sz="1941" b="1" spc="-9" dirty="0">
                <a:latin typeface="Arial"/>
                <a:cs typeface="Arial"/>
              </a:rPr>
              <a:t>ruta</a:t>
            </a:r>
            <a:endParaRPr sz="194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m 4">
            <a:extLst>
              <a:ext uri="{FF2B5EF4-FFF2-40B4-BE49-F238E27FC236}">
                <a16:creationId xmlns:a16="http://schemas.microsoft.com/office/drawing/2014/main" id="{F84F004A-0502-A8BB-FC3E-C010C676C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39" y="1"/>
            <a:ext cx="9144000" cy="415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Espaço Reservado para Conteúdo 9">
            <a:extLst>
              <a:ext uri="{FF2B5EF4-FFF2-40B4-BE49-F238E27FC236}">
                <a16:creationId xmlns:a16="http://schemas.microsoft.com/office/drawing/2014/main" id="{837E0E23-DDC3-979C-6F34-7301E04231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389" y="4292600"/>
            <a:ext cx="5151437" cy="1936750"/>
          </a:xfrm>
        </p:spPr>
      </p:pic>
      <p:pic>
        <p:nvPicPr>
          <p:cNvPr id="26628" name="Imagem 11">
            <a:extLst>
              <a:ext uri="{FF2B5EF4-FFF2-40B4-BE49-F238E27FC236}">
                <a16:creationId xmlns:a16="http://schemas.microsoft.com/office/drawing/2014/main" id="{97E5C0A8-34D9-5591-7D4A-E89E378F2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4281488"/>
            <a:ext cx="35623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Imagem 13">
            <a:extLst>
              <a:ext uri="{FF2B5EF4-FFF2-40B4-BE49-F238E27FC236}">
                <a16:creationId xmlns:a16="http://schemas.microsoft.com/office/drawing/2014/main" id="{FB29700D-2DC6-BD38-BFA5-5E14F480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4808538"/>
            <a:ext cx="35623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2" name="Picture 2" descr="Dorymyrmex bicolor – Wikipédia, a enciclopédia livre">
            <a:extLst>
              <a:ext uri="{FF2B5EF4-FFF2-40B4-BE49-F238E27FC236}">
                <a16:creationId xmlns:a16="http://schemas.microsoft.com/office/drawing/2014/main" id="{7779ABE1-8D3B-B95F-CE8E-E24AD6218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090" y="87447"/>
            <a:ext cx="3178175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731D8F-DEAF-E632-0CAF-D3D06A55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4916" y="2000708"/>
            <a:ext cx="3178175" cy="1143000"/>
          </a:xfrm>
        </p:spPr>
        <p:txBody>
          <a:bodyPr>
            <a:normAutofit/>
          </a:bodyPr>
          <a:lstStyle/>
          <a:p>
            <a:pPr algn="r">
              <a:defRPr/>
            </a:pPr>
            <a:r>
              <a:rPr lang="pt-BR" sz="2400" i="1" dirty="0" err="1"/>
              <a:t>Dorymyrmex</a:t>
            </a:r>
            <a:r>
              <a:rPr lang="pt-BR" sz="2400" dirty="0"/>
              <a:t>    </a:t>
            </a:r>
            <a:br>
              <a:rPr lang="pt-BR" sz="2400" dirty="0"/>
            </a:br>
            <a:r>
              <a:rPr lang="pt-BR" sz="2400" dirty="0"/>
              <a:t>( + abundante) </a:t>
            </a:r>
          </a:p>
        </p:txBody>
      </p:sp>
      <p:pic>
        <p:nvPicPr>
          <p:cNvPr id="26633" name="Picture 9" descr="Odontomachus haematodus · BioDiversity4All">
            <a:extLst>
              <a:ext uri="{FF2B5EF4-FFF2-40B4-BE49-F238E27FC236}">
                <a16:creationId xmlns:a16="http://schemas.microsoft.com/office/drawing/2014/main" id="{CB66E750-E8A1-561C-CE4D-9B4BED151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696" y="4072396"/>
            <a:ext cx="2736304" cy="182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072183FD-6A6D-3BF3-0F77-3FE38660C04E}"/>
              </a:ext>
            </a:extLst>
          </p:cNvPr>
          <p:cNvSpPr txBox="1">
            <a:spLocks/>
          </p:cNvSpPr>
          <p:nvPr/>
        </p:nvSpPr>
        <p:spPr>
          <a:xfrm>
            <a:off x="9459275" y="5476352"/>
            <a:ext cx="2451327" cy="110274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 kern="1200" spc="5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tabLst>
                <a:tab pos="3830638" algn="l"/>
              </a:tabLst>
              <a:defRPr sz="3600" b="1">
                <a:solidFill>
                  <a:srgbClr val="FEFEFE"/>
                </a:solidFill>
                <a:latin typeface="Tw Cen MT" panose="020B0602020104020603" pitchFamily="34" charset="0"/>
              </a:defRPr>
            </a:lvl9pPr>
          </a:lstStyle>
          <a:p>
            <a:pPr algn="r">
              <a:defRPr/>
            </a:pPr>
            <a:r>
              <a:rPr lang="pt-BR" sz="2400" i="1" dirty="0" err="1"/>
              <a:t>Odontomachus</a:t>
            </a:r>
            <a:r>
              <a:rPr lang="pt-BR" sz="2400" dirty="0"/>
              <a:t> (bioindicadora)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2274"/>
            <a:ext cx="6572922" cy="3588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2613" y="3546213"/>
            <a:ext cx="6759388" cy="33117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-151548" y="-117578"/>
            <a:ext cx="3438009" cy="892128"/>
          </a:xfrm>
          <a:custGeom>
            <a:avLst/>
            <a:gdLst/>
            <a:ahLst/>
            <a:cxnLst/>
            <a:rect l="l" t="t" r="r" b="b"/>
            <a:pathLst>
              <a:path w="2040889" h="529590">
                <a:moveTo>
                  <a:pt x="1072896" y="0"/>
                </a:moveTo>
                <a:lnTo>
                  <a:pt x="967740" y="0"/>
                </a:lnTo>
                <a:lnTo>
                  <a:pt x="815340" y="3810"/>
                </a:lnTo>
                <a:lnTo>
                  <a:pt x="766572" y="7620"/>
                </a:lnTo>
                <a:lnTo>
                  <a:pt x="719328" y="10160"/>
                </a:lnTo>
                <a:lnTo>
                  <a:pt x="672084" y="15240"/>
                </a:lnTo>
                <a:lnTo>
                  <a:pt x="580644" y="24130"/>
                </a:lnTo>
                <a:lnTo>
                  <a:pt x="495300" y="36830"/>
                </a:lnTo>
                <a:lnTo>
                  <a:pt x="454152" y="41910"/>
                </a:lnTo>
                <a:lnTo>
                  <a:pt x="414528" y="49530"/>
                </a:lnTo>
                <a:lnTo>
                  <a:pt x="339852" y="64770"/>
                </a:lnTo>
                <a:lnTo>
                  <a:pt x="303276" y="74930"/>
                </a:lnTo>
                <a:lnTo>
                  <a:pt x="269748" y="83820"/>
                </a:lnTo>
                <a:lnTo>
                  <a:pt x="237744" y="92710"/>
                </a:lnTo>
                <a:lnTo>
                  <a:pt x="207264" y="101600"/>
                </a:lnTo>
                <a:lnTo>
                  <a:pt x="179832" y="113030"/>
                </a:lnTo>
                <a:lnTo>
                  <a:pt x="152400" y="121920"/>
                </a:lnTo>
                <a:lnTo>
                  <a:pt x="128015" y="133350"/>
                </a:lnTo>
                <a:lnTo>
                  <a:pt x="105156" y="144780"/>
                </a:lnTo>
                <a:lnTo>
                  <a:pt x="83820" y="154940"/>
                </a:lnTo>
                <a:lnTo>
                  <a:pt x="65532" y="167640"/>
                </a:lnTo>
                <a:lnTo>
                  <a:pt x="48768" y="179070"/>
                </a:lnTo>
                <a:lnTo>
                  <a:pt x="41148" y="185420"/>
                </a:lnTo>
                <a:lnTo>
                  <a:pt x="35052" y="193040"/>
                </a:lnTo>
                <a:lnTo>
                  <a:pt x="22860" y="205740"/>
                </a:lnTo>
                <a:lnTo>
                  <a:pt x="16764" y="213360"/>
                </a:lnTo>
                <a:lnTo>
                  <a:pt x="12192" y="220980"/>
                </a:lnTo>
                <a:lnTo>
                  <a:pt x="9143" y="227330"/>
                </a:lnTo>
                <a:lnTo>
                  <a:pt x="4571" y="234950"/>
                </a:lnTo>
                <a:lnTo>
                  <a:pt x="3048" y="242570"/>
                </a:lnTo>
                <a:lnTo>
                  <a:pt x="0" y="250190"/>
                </a:lnTo>
                <a:lnTo>
                  <a:pt x="0" y="273050"/>
                </a:lnTo>
                <a:lnTo>
                  <a:pt x="13715" y="311150"/>
                </a:lnTo>
                <a:lnTo>
                  <a:pt x="18288" y="316230"/>
                </a:lnTo>
                <a:lnTo>
                  <a:pt x="22860" y="323850"/>
                </a:lnTo>
                <a:lnTo>
                  <a:pt x="42671" y="344170"/>
                </a:lnTo>
                <a:lnTo>
                  <a:pt x="65532" y="361950"/>
                </a:lnTo>
                <a:lnTo>
                  <a:pt x="85343" y="374650"/>
                </a:lnTo>
                <a:lnTo>
                  <a:pt x="105156" y="384810"/>
                </a:lnTo>
                <a:lnTo>
                  <a:pt x="128015" y="397510"/>
                </a:lnTo>
                <a:lnTo>
                  <a:pt x="179832" y="417830"/>
                </a:lnTo>
                <a:lnTo>
                  <a:pt x="208788" y="427990"/>
                </a:lnTo>
                <a:lnTo>
                  <a:pt x="239268" y="436880"/>
                </a:lnTo>
                <a:lnTo>
                  <a:pt x="271272" y="445770"/>
                </a:lnTo>
                <a:lnTo>
                  <a:pt x="304800" y="455930"/>
                </a:lnTo>
                <a:lnTo>
                  <a:pt x="376428" y="472440"/>
                </a:lnTo>
                <a:lnTo>
                  <a:pt x="454152" y="487680"/>
                </a:lnTo>
                <a:lnTo>
                  <a:pt x="495300" y="494030"/>
                </a:lnTo>
                <a:lnTo>
                  <a:pt x="537972" y="499110"/>
                </a:lnTo>
                <a:lnTo>
                  <a:pt x="582168" y="505460"/>
                </a:lnTo>
                <a:lnTo>
                  <a:pt x="626364" y="510540"/>
                </a:lnTo>
                <a:lnTo>
                  <a:pt x="816864" y="525780"/>
                </a:lnTo>
                <a:lnTo>
                  <a:pt x="967740" y="529590"/>
                </a:lnTo>
                <a:lnTo>
                  <a:pt x="1019556" y="529590"/>
                </a:lnTo>
                <a:lnTo>
                  <a:pt x="1071372" y="528320"/>
                </a:lnTo>
                <a:lnTo>
                  <a:pt x="1123188" y="528320"/>
                </a:lnTo>
                <a:lnTo>
                  <a:pt x="1173480" y="527050"/>
                </a:lnTo>
                <a:lnTo>
                  <a:pt x="1223772" y="524510"/>
                </a:lnTo>
                <a:lnTo>
                  <a:pt x="1321308" y="518160"/>
                </a:lnTo>
                <a:lnTo>
                  <a:pt x="1414272" y="510540"/>
                </a:lnTo>
                <a:lnTo>
                  <a:pt x="1458468" y="504190"/>
                </a:lnTo>
                <a:lnTo>
                  <a:pt x="967740" y="504190"/>
                </a:lnTo>
                <a:lnTo>
                  <a:pt x="816864" y="499110"/>
                </a:lnTo>
                <a:lnTo>
                  <a:pt x="720852" y="494030"/>
                </a:lnTo>
                <a:lnTo>
                  <a:pt x="629412" y="483870"/>
                </a:lnTo>
                <a:lnTo>
                  <a:pt x="585216" y="480060"/>
                </a:lnTo>
                <a:lnTo>
                  <a:pt x="541020" y="473710"/>
                </a:lnTo>
                <a:lnTo>
                  <a:pt x="458724" y="461010"/>
                </a:lnTo>
                <a:lnTo>
                  <a:pt x="419100" y="453390"/>
                </a:lnTo>
                <a:lnTo>
                  <a:pt x="381000" y="448310"/>
                </a:lnTo>
                <a:lnTo>
                  <a:pt x="344424" y="438150"/>
                </a:lnTo>
                <a:lnTo>
                  <a:pt x="310896" y="430530"/>
                </a:lnTo>
                <a:lnTo>
                  <a:pt x="277368" y="421640"/>
                </a:lnTo>
                <a:lnTo>
                  <a:pt x="245364" y="412750"/>
                </a:lnTo>
                <a:lnTo>
                  <a:pt x="216408" y="403860"/>
                </a:lnTo>
                <a:lnTo>
                  <a:pt x="188976" y="394970"/>
                </a:lnTo>
                <a:lnTo>
                  <a:pt x="163068" y="383540"/>
                </a:lnTo>
                <a:lnTo>
                  <a:pt x="138684" y="373380"/>
                </a:lnTo>
                <a:lnTo>
                  <a:pt x="117348" y="361950"/>
                </a:lnTo>
                <a:lnTo>
                  <a:pt x="97536" y="351790"/>
                </a:lnTo>
                <a:lnTo>
                  <a:pt x="79248" y="341630"/>
                </a:lnTo>
                <a:lnTo>
                  <a:pt x="65532" y="328930"/>
                </a:lnTo>
                <a:lnTo>
                  <a:pt x="57912" y="323850"/>
                </a:lnTo>
                <a:lnTo>
                  <a:pt x="47243" y="313690"/>
                </a:lnTo>
                <a:lnTo>
                  <a:pt x="38100" y="300990"/>
                </a:lnTo>
                <a:lnTo>
                  <a:pt x="33528" y="297180"/>
                </a:lnTo>
                <a:lnTo>
                  <a:pt x="30480" y="290830"/>
                </a:lnTo>
                <a:lnTo>
                  <a:pt x="28956" y="284480"/>
                </a:lnTo>
                <a:lnTo>
                  <a:pt x="27432" y="280670"/>
                </a:lnTo>
                <a:lnTo>
                  <a:pt x="25908" y="274320"/>
                </a:lnTo>
                <a:lnTo>
                  <a:pt x="24384" y="269240"/>
                </a:lnTo>
                <a:lnTo>
                  <a:pt x="24384" y="259080"/>
                </a:lnTo>
                <a:lnTo>
                  <a:pt x="25908" y="254000"/>
                </a:lnTo>
                <a:lnTo>
                  <a:pt x="27432" y="247650"/>
                </a:lnTo>
                <a:lnTo>
                  <a:pt x="28956" y="243840"/>
                </a:lnTo>
                <a:lnTo>
                  <a:pt x="32004" y="237490"/>
                </a:lnTo>
                <a:lnTo>
                  <a:pt x="38100" y="227330"/>
                </a:lnTo>
                <a:lnTo>
                  <a:pt x="42671" y="222250"/>
                </a:lnTo>
                <a:lnTo>
                  <a:pt x="47243" y="215900"/>
                </a:lnTo>
                <a:lnTo>
                  <a:pt x="53340" y="209550"/>
                </a:lnTo>
                <a:lnTo>
                  <a:pt x="59436" y="205740"/>
                </a:lnTo>
                <a:lnTo>
                  <a:pt x="65532" y="199390"/>
                </a:lnTo>
                <a:lnTo>
                  <a:pt x="80772" y="189230"/>
                </a:lnTo>
                <a:lnTo>
                  <a:pt x="97536" y="177800"/>
                </a:lnTo>
                <a:lnTo>
                  <a:pt x="117348" y="166370"/>
                </a:lnTo>
                <a:lnTo>
                  <a:pt x="138684" y="154940"/>
                </a:lnTo>
                <a:lnTo>
                  <a:pt x="163068" y="146050"/>
                </a:lnTo>
                <a:lnTo>
                  <a:pt x="188976" y="135890"/>
                </a:lnTo>
                <a:lnTo>
                  <a:pt x="216408" y="125730"/>
                </a:lnTo>
                <a:lnTo>
                  <a:pt x="245364" y="115570"/>
                </a:lnTo>
                <a:lnTo>
                  <a:pt x="277368" y="107950"/>
                </a:lnTo>
                <a:lnTo>
                  <a:pt x="344424" y="90170"/>
                </a:lnTo>
                <a:lnTo>
                  <a:pt x="419100" y="74930"/>
                </a:lnTo>
                <a:lnTo>
                  <a:pt x="458724" y="68580"/>
                </a:lnTo>
                <a:lnTo>
                  <a:pt x="499872" y="60960"/>
                </a:lnTo>
                <a:lnTo>
                  <a:pt x="541020" y="54610"/>
                </a:lnTo>
                <a:lnTo>
                  <a:pt x="720852" y="36830"/>
                </a:lnTo>
                <a:lnTo>
                  <a:pt x="768096" y="33020"/>
                </a:lnTo>
                <a:lnTo>
                  <a:pt x="816864" y="30480"/>
                </a:lnTo>
                <a:lnTo>
                  <a:pt x="867156" y="26670"/>
                </a:lnTo>
                <a:lnTo>
                  <a:pt x="917447" y="25400"/>
                </a:lnTo>
                <a:lnTo>
                  <a:pt x="967740" y="25400"/>
                </a:lnTo>
                <a:lnTo>
                  <a:pt x="1019556" y="24130"/>
                </a:lnTo>
                <a:lnTo>
                  <a:pt x="1458468" y="24130"/>
                </a:lnTo>
                <a:lnTo>
                  <a:pt x="1414272" y="19050"/>
                </a:lnTo>
                <a:lnTo>
                  <a:pt x="1367028" y="15240"/>
                </a:lnTo>
                <a:lnTo>
                  <a:pt x="1321308" y="10160"/>
                </a:lnTo>
                <a:lnTo>
                  <a:pt x="1223772" y="3810"/>
                </a:lnTo>
                <a:lnTo>
                  <a:pt x="1072896" y="0"/>
                </a:lnTo>
                <a:close/>
              </a:path>
              <a:path w="2040889" h="529590">
                <a:moveTo>
                  <a:pt x="1458468" y="24130"/>
                </a:moveTo>
                <a:lnTo>
                  <a:pt x="1019556" y="24130"/>
                </a:lnTo>
                <a:lnTo>
                  <a:pt x="1123188" y="26670"/>
                </a:lnTo>
                <a:lnTo>
                  <a:pt x="1173480" y="29210"/>
                </a:lnTo>
                <a:lnTo>
                  <a:pt x="1222248" y="30480"/>
                </a:lnTo>
                <a:lnTo>
                  <a:pt x="1271016" y="33020"/>
                </a:lnTo>
                <a:lnTo>
                  <a:pt x="1365504" y="40640"/>
                </a:lnTo>
                <a:lnTo>
                  <a:pt x="1411224" y="45720"/>
                </a:lnTo>
                <a:lnTo>
                  <a:pt x="1455420" y="49530"/>
                </a:lnTo>
                <a:lnTo>
                  <a:pt x="1499616" y="55880"/>
                </a:lnTo>
                <a:lnTo>
                  <a:pt x="1621536" y="74930"/>
                </a:lnTo>
                <a:lnTo>
                  <a:pt x="1658112" y="82550"/>
                </a:lnTo>
                <a:lnTo>
                  <a:pt x="1694688" y="91440"/>
                </a:lnTo>
                <a:lnTo>
                  <a:pt x="1729739" y="99060"/>
                </a:lnTo>
                <a:lnTo>
                  <a:pt x="1824227" y="125730"/>
                </a:lnTo>
                <a:lnTo>
                  <a:pt x="1877568" y="146050"/>
                </a:lnTo>
                <a:lnTo>
                  <a:pt x="1923288" y="167640"/>
                </a:lnTo>
                <a:lnTo>
                  <a:pt x="1943100" y="177800"/>
                </a:lnTo>
                <a:lnTo>
                  <a:pt x="1959864" y="189230"/>
                </a:lnTo>
                <a:lnTo>
                  <a:pt x="1975103" y="199390"/>
                </a:lnTo>
                <a:lnTo>
                  <a:pt x="1987296" y="212090"/>
                </a:lnTo>
                <a:lnTo>
                  <a:pt x="1993391" y="215900"/>
                </a:lnTo>
                <a:lnTo>
                  <a:pt x="2002536" y="228600"/>
                </a:lnTo>
                <a:lnTo>
                  <a:pt x="2005584" y="232410"/>
                </a:lnTo>
                <a:lnTo>
                  <a:pt x="2008632" y="238760"/>
                </a:lnTo>
                <a:lnTo>
                  <a:pt x="2011679" y="243840"/>
                </a:lnTo>
                <a:lnTo>
                  <a:pt x="2013203" y="250190"/>
                </a:lnTo>
                <a:lnTo>
                  <a:pt x="2014727" y="254000"/>
                </a:lnTo>
                <a:lnTo>
                  <a:pt x="2014727" y="275590"/>
                </a:lnTo>
                <a:lnTo>
                  <a:pt x="2013203" y="281940"/>
                </a:lnTo>
                <a:lnTo>
                  <a:pt x="2010156" y="285750"/>
                </a:lnTo>
                <a:lnTo>
                  <a:pt x="2008632" y="292100"/>
                </a:lnTo>
                <a:lnTo>
                  <a:pt x="2005584" y="297180"/>
                </a:lnTo>
                <a:lnTo>
                  <a:pt x="2002536" y="303530"/>
                </a:lnTo>
                <a:lnTo>
                  <a:pt x="1997964" y="307340"/>
                </a:lnTo>
                <a:lnTo>
                  <a:pt x="1993391" y="313690"/>
                </a:lnTo>
                <a:lnTo>
                  <a:pt x="1987296" y="318770"/>
                </a:lnTo>
                <a:lnTo>
                  <a:pt x="1975103" y="330200"/>
                </a:lnTo>
                <a:lnTo>
                  <a:pt x="1923288" y="361950"/>
                </a:lnTo>
                <a:lnTo>
                  <a:pt x="1877568" y="383540"/>
                </a:lnTo>
                <a:lnTo>
                  <a:pt x="1824227" y="403860"/>
                </a:lnTo>
                <a:lnTo>
                  <a:pt x="1763268" y="421640"/>
                </a:lnTo>
                <a:lnTo>
                  <a:pt x="1694688" y="438150"/>
                </a:lnTo>
                <a:lnTo>
                  <a:pt x="1658112" y="448310"/>
                </a:lnTo>
                <a:lnTo>
                  <a:pt x="1620012" y="453390"/>
                </a:lnTo>
                <a:lnTo>
                  <a:pt x="1581912" y="461010"/>
                </a:lnTo>
                <a:lnTo>
                  <a:pt x="1455420" y="480060"/>
                </a:lnTo>
                <a:lnTo>
                  <a:pt x="1411224" y="483870"/>
                </a:lnTo>
                <a:lnTo>
                  <a:pt x="1318260" y="494030"/>
                </a:lnTo>
                <a:lnTo>
                  <a:pt x="1173480" y="501650"/>
                </a:lnTo>
                <a:lnTo>
                  <a:pt x="1071372" y="504190"/>
                </a:lnTo>
                <a:lnTo>
                  <a:pt x="1458468" y="504190"/>
                </a:lnTo>
                <a:lnTo>
                  <a:pt x="1545336" y="494030"/>
                </a:lnTo>
                <a:lnTo>
                  <a:pt x="1586484" y="486410"/>
                </a:lnTo>
                <a:lnTo>
                  <a:pt x="1626108" y="480060"/>
                </a:lnTo>
                <a:lnTo>
                  <a:pt x="1700784" y="464820"/>
                </a:lnTo>
                <a:lnTo>
                  <a:pt x="1735836" y="455930"/>
                </a:lnTo>
                <a:lnTo>
                  <a:pt x="1769364" y="445770"/>
                </a:lnTo>
                <a:lnTo>
                  <a:pt x="1801368" y="436880"/>
                </a:lnTo>
                <a:lnTo>
                  <a:pt x="1860803" y="417830"/>
                </a:lnTo>
                <a:lnTo>
                  <a:pt x="1912620" y="396240"/>
                </a:lnTo>
                <a:lnTo>
                  <a:pt x="1975103" y="361950"/>
                </a:lnTo>
                <a:lnTo>
                  <a:pt x="1997964" y="342900"/>
                </a:lnTo>
                <a:lnTo>
                  <a:pt x="2005584" y="336550"/>
                </a:lnTo>
                <a:lnTo>
                  <a:pt x="2034539" y="295910"/>
                </a:lnTo>
                <a:lnTo>
                  <a:pt x="2040636" y="273050"/>
                </a:lnTo>
                <a:lnTo>
                  <a:pt x="2040636" y="255270"/>
                </a:lnTo>
                <a:lnTo>
                  <a:pt x="2037588" y="240030"/>
                </a:lnTo>
                <a:lnTo>
                  <a:pt x="2034539" y="234950"/>
                </a:lnTo>
                <a:lnTo>
                  <a:pt x="2031491" y="227330"/>
                </a:lnTo>
                <a:lnTo>
                  <a:pt x="2026920" y="219710"/>
                </a:lnTo>
                <a:lnTo>
                  <a:pt x="2022348" y="213360"/>
                </a:lnTo>
                <a:lnTo>
                  <a:pt x="2017776" y="205740"/>
                </a:lnTo>
                <a:lnTo>
                  <a:pt x="2011679" y="199390"/>
                </a:lnTo>
                <a:lnTo>
                  <a:pt x="2005584" y="191770"/>
                </a:lnTo>
                <a:lnTo>
                  <a:pt x="1990344" y="179070"/>
                </a:lnTo>
                <a:lnTo>
                  <a:pt x="1973579" y="167640"/>
                </a:lnTo>
                <a:lnTo>
                  <a:pt x="1955291" y="154940"/>
                </a:lnTo>
                <a:lnTo>
                  <a:pt x="1933956" y="144780"/>
                </a:lnTo>
                <a:lnTo>
                  <a:pt x="1911096" y="132080"/>
                </a:lnTo>
                <a:lnTo>
                  <a:pt x="1886712" y="121920"/>
                </a:lnTo>
                <a:lnTo>
                  <a:pt x="1860803" y="113030"/>
                </a:lnTo>
                <a:lnTo>
                  <a:pt x="1831848" y="101600"/>
                </a:lnTo>
                <a:lnTo>
                  <a:pt x="1801368" y="92710"/>
                </a:lnTo>
                <a:lnTo>
                  <a:pt x="1769364" y="82550"/>
                </a:lnTo>
                <a:lnTo>
                  <a:pt x="1735836" y="74930"/>
                </a:lnTo>
                <a:lnTo>
                  <a:pt x="1700784" y="64770"/>
                </a:lnTo>
                <a:lnTo>
                  <a:pt x="1626108" y="49530"/>
                </a:lnTo>
                <a:lnTo>
                  <a:pt x="1584960" y="41910"/>
                </a:lnTo>
                <a:lnTo>
                  <a:pt x="1545336" y="36830"/>
                </a:lnTo>
                <a:lnTo>
                  <a:pt x="1458468" y="241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617282" y="3429000"/>
            <a:ext cx="3074895" cy="889073"/>
          </a:xfrm>
          <a:custGeom>
            <a:avLst/>
            <a:gdLst/>
            <a:ahLst/>
            <a:cxnLst/>
            <a:rect l="l" t="t" r="r" b="b"/>
            <a:pathLst>
              <a:path w="2833370" h="671829">
                <a:moveTo>
                  <a:pt x="26923" y="323850"/>
                </a:moveTo>
                <a:lnTo>
                  <a:pt x="12191" y="323850"/>
                </a:lnTo>
                <a:lnTo>
                  <a:pt x="0" y="335279"/>
                </a:lnTo>
                <a:lnTo>
                  <a:pt x="0" y="347979"/>
                </a:lnTo>
                <a:lnTo>
                  <a:pt x="1524" y="356869"/>
                </a:lnTo>
                <a:lnTo>
                  <a:pt x="4571" y="365759"/>
                </a:lnTo>
                <a:lnTo>
                  <a:pt x="18287" y="393700"/>
                </a:lnTo>
                <a:lnTo>
                  <a:pt x="24383" y="402589"/>
                </a:lnTo>
                <a:lnTo>
                  <a:pt x="32003" y="410209"/>
                </a:lnTo>
                <a:lnTo>
                  <a:pt x="39624" y="419100"/>
                </a:lnTo>
                <a:lnTo>
                  <a:pt x="48768" y="426719"/>
                </a:lnTo>
                <a:lnTo>
                  <a:pt x="57912" y="435609"/>
                </a:lnTo>
                <a:lnTo>
                  <a:pt x="79247" y="450850"/>
                </a:lnTo>
                <a:lnTo>
                  <a:pt x="103631" y="467359"/>
                </a:lnTo>
                <a:lnTo>
                  <a:pt x="131063" y="481329"/>
                </a:lnTo>
                <a:lnTo>
                  <a:pt x="146303" y="487679"/>
                </a:lnTo>
                <a:lnTo>
                  <a:pt x="176784" y="502919"/>
                </a:lnTo>
                <a:lnTo>
                  <a:pt x="193548" y="509269"/>
                </a:lnTo>
                <a:lnTo>
                  <a:pt x="211836" y="516889"/>
                </a:lnTo>
                <a:lnTo>
                  <a:pt x="248412" y="529589"/>
                </a:lnTo>
                <a:lnTo>
                  <a:pt x="268224" y="537209"/>
                </a:lnTo>
                <a:lnTo>
                  <a:pt x="288036" y="542289"/>
                </a:lnTo>
                <a:lnTo>
                  <a:pt x="352043" y="561339"/>
                </a:lnTo>
                <a:lnTo>
                  <a:pt x="374903" y="567689"/>
                </a:lnTo>
                <a:lnTo>
                  <a:pt x="397763" y="571499"/>
                </a:lnTo>
                <a:lnTo>
                  <a:pt x="420624" y="577849"/>
                </a:lnTo>
                <a:lnTo>
                  <a:pt x="521208" y="599439"/>
                </a:lnTo>
                <a:lnTo>
                  <a:pt x="687324" y="626109"/>
                </a:lnTo>
                <a:lnTo>
                  <a:pt x="806196" y="641349"/>
                </a:lnTo>
                <a:lnTo>
                  <a:pt x="932688" y="654049"/>
                </a:lnTo>
                <a:lnTo>
                  <a:pt x="998219" y="659129"/>
                </a:lnTo>
                <a:lnTo>
                  <a:pt x="1065276" y="662939"/>
                </a:lnTo>
                <a:lnTo>
                  <a:pt x="1202436" y="669289"/>
                </a:lnTo>
                <a:lnTo>
                  <a:pt x="1344167" y="671829"/>
                </a:lnTo>
                <a:lnTo>
                  <a:pt x="1488948" y="671829"/>
                </a:lnTo>
                <a:lnTo>
                  <a:pt x="1630679" y="669289"/>
                </a:lnTo>
                <a:lnTo>
                  <a:pt x="1700784" y="666749"/>
                </a:lnTo>
                <a:lnTo>
                  <a:pt x="1834896" y="659129"/>
                </a:lnTo>
                <a:lnTo>
                  <a:pt x="1900427" y="654049"/>
                </a:lnTo>
                <a:lnTo>
                  <a:pt x="1964436" y="647699"/>
                </a:lnTo>
                <a:lnTo>
                  <a:pt x="1344167" y="647699"/>
                </a:lnTo>
                <a:lnTo>
                  <a:pt x="1274064" y="646429"/>
                </a:lnTo>
                <a:lnTo>
                  <a:pt x="1133855" y="641349"/>
                </a:lnTo>
                <a:lnTo>
                  <a:pt x="935736" y="628649"/>
                </a:lnTo>
                <a:lnTo>
                  <a:pt x="809243" y="615949"/>
                </a:lnTo>
                <a:lnTo>
                  <a:pt x="633984" y="593089"/>
                </a:lnTo>
                <a:lnTo>
                  <a:pt x="525779" y="575309"/>
                </a:lnTo>
                <a:lnTo>
                  <a:pt x="475488" y="563879"/>
                </a:lnTo>
                <a:lnTo>
                  <a:pt x="426719" y="553719"/>
                </a:lnTo>
                <a:lnTo>
                  <a:pt x="403860" y="547369"/>
                </a:lnTo>
                <a:lnTo>
                  <a:pt x="358139" y="537209"/>
                </a:lnTo>
                <a:lnTo>
                  <a:pt x="256031" y="506729"/>
                </a:lnTo>
                <a:lnTo>
                  <a:pt x="237743" y="499109"/>
                </a:lnTo>
                <a:lnTo>
                  <a:pt x="220979" y="492759"/>
                </a:lnTo>
                <a:lnTo>
                  <a:pt x="202691" y="486409"/>
                </a:lnTo>
                <a:lnTo>
                  <a:pt x="187451" y="478789"/>
                </a:lnTo>
                <a:lnTo>
                  <a:pt x="172212" y="472439"/>
                </a:lnTo>
                <a:lnTo>
                  <a:pt x="156972" y="464819"/>
                </a:lnTo>
                <a:lnTo>
                  <a:pt x="141731" y="458469"/>
                </a:lnTo>
                <a:lnTo>
                  <a:pt x="129539" y="450850"/>
                </a:lnTo>
                <a:lnTo>
                  <a:pt x="115824" y="443229"/>
                </a:lnTo>
                <a:lnTo>
                  <a:pt x="105156" y="438150"/>
                </a:lnTo>
                <a:lnTo>
                  <a:pt x="92963" y="430529"/>
                </a:lnTo>
                <a:lnTo>
                  <a:pt x="83819" y="422909"/>
                </a:lnTo>
                <a:lnTo>
                  <a:pt x="73151" y="415289"/>
                </a:lnTo>
                <a:lnTo>
                  <a:pt x="65531" y="408939"/>
                </a:lnTo>
                <a:lnTo>
                  <a:pt x="50291" y="393700"/>
                </a:lnTo>
                <a:lnTo>
                  <a:pt x="44195" y="386079"/>
                </a:lnTo>
                <a:lnTo>
                  <a:pt x="39624" y="378459"/>
                </a:lnTo>
                <a:lnTo>
                  <a:pt x="35051" y="372109"/>
                </a:lnTo>
                <a:lnTo>
                  <a:pt x="30480" y="364489"/>
                </a:lnTo>
                <a:lnTo>
                  <a:pt x="28956" y="356869"/>
                </a:lnTo>
                <a:lnTo>
                  <a:pt x="25907" y="349250"/>
                </a:lnTo>
                <a:lnTo>
                  <a:pt x="12191" y="349250"/>
                </a:lnTo>
                <a:lnTo>
                  <a:pt x="25907" y="335279"/>
                </a:lnTo>
                <a:lnTo>
                  <a:pt x="25907" y="328929"/>
                </a:lnTo>
                <a:lnTo>
                  <a:pt x="26923" y="323850"/>
                </a:lnTo>
                <a:close/>
              </a:path>
              <a:path w="2833370" h="671829">
                <a:moveTo>
                  <a:pt x="1964436" y="26669"/>
                </a:moveTo>
                <a:lnTo>
                  <a:pt x="1488948" y="26669"/>
                </a:lnTo>
                <a:lnTo>
                  <a:pt x="1630679" y="29209"/>
                </a:lnTo>
                <a:lnTo>
                  <a:pt x="1767839" y="35559"/>
                </a:lnTo>
                <a:lnTo>
                  <a:pt x="1898903" y="44450"/>
                </a:lnTo>
                <a:lnTo>
                  <a:pt x="2023872" y="57150"/>
                </a:lnTo>
                <a:lnTo>
                  <a:pt x="2142743" y="72389"/>
                </a:lnTo>
                <a:lnTo>
                  <a:pt x="2200655" y="81279"/>
                </a:lnTo>
                <a:lnTo>
                  <a:pt x="2307336" y="99059"/>
                </a:lnTo>
                <a:lnTo>
                  <a:pt x="2430779" y="125729"/>
                </a:lnTo>
                <a:lnTo>
                  <a:pt x="2474976" y="137159"/>
                </a:lnTo>
                <a:lnTo>
                  <a:pt x="2497836" y="143509"/>
                </a:lnTo>
                <a:lnTo>
                  <a:pt x="2517648" y="149859"/>
                </a:lnTo>
                <a:lnTo>
                  <a:pt x="2538984" y="156209"/>
                </a:lnTo>
                <a:lnTo>
                  <a:pt x="2613660" y="180339"/>
                </a:lnTo>
                <a:lnTo>
                  <a:pt x="2630424" y="187959"/>
                </a:lnTo>
                <a:lnTo>
                  <a:pt x="2647188" y="194309"/>
                </a:lnTo>
                <a:lnTo>
                  <a:pt x="2662428" y="201929"/>
                </a:lnTo>
                <a:lnTo>
                  <a:pt x="2677667" y="207009"/>
                </a:lnTo>
                <a:lnTo>
                  <a:pt x="2691384" y="214629"/>
                </a:lnTo>
                <a:lnTo>
                  <a:pt x="2705100" y="220979"/>
                </a:lnTo>
                <a:lnTo>
                  <a:pt x="2729484" y="236219"/>
                </a:lnTo>
                <a:lnTo>
                  <a:pt x="2740152" y="243839"/>
                </a:lnTo>
                <a:lnTo>
                  <a:pt x="2750819" y="250189"/>
                </a:lnTo>
                <a:lnTo>
                  <a:pt x="2769108" y="265429"/>
                </a:lnTo>
                <a:lnTo>
                  <a:pt x="2776728" y="273050"/>
                </a:lnTo>
                <a:lnTo>
                  <a:pt x="2788919" y="288289"/>
                </a:lnTo>
                <a:lnTo>
                  <a:pt x="2795016" y="294639"/>
                </a:lnTo>
                <a:lnTo>
                  <a:pt x="2799588" y="302259"/>
                </a:lnTo>
                <a:lnTo>
                  <a:pt x="2802636" y="309879"/>
                </a:lnTo>
                <a:lnTo>
                  <a:pt x="2805684" y="316229"/>
                </a:lnTo>
                <a:lnTo>
                  <a:pt x="2808731" y="331469"/>
                </a:lnTo>
                <a:lnTo>
                  <a:pt x="2808731" y="336550"/>
                </a:lnTo>
                <a:lnTo>
                  <a:pt x="2807208" y="344169"/>
                </a:lnTo>
                <a:lnTo>
                  <a:pt x="2807208" y="350519"/>
                </a:lnTo>
                <a:lnTo>
                  <a:pt x="2804160" y="358139"/>
                </a:lnTo>
                <a:lnTo>
                  <a:pt x="2802636" y="365759"/>
                </a:lnTo>
                <a:lnTo>
                  <a:pt x="2798064" y="372109"/>
                </a:lnTo>
                <a:lnTo>
                  <a:pt x="2788919" y="387350"/>
                </a:lnTo>
                <a:lnTo>
                  <a:pt x="2759964" y="416559"/>
                </a:lnTo>
                <a:lnTo>
                  <a:pt x="2750819" y="422909"/>
                </a:lnTo>
                <a:lnTo>
                  <a:pt x="2729484" y="438150"/>
                </a:lnTo>
                <a:lnTo>
                  <a:pt x="2717291" y="445769"/>
                </a:lnTo>
                <a:lnTo>
                  <a:pt x="2705100" y="450850"/>
                </a:lnTo>
                <a:lnTo>
                  <a:pt x="2691384" y="458469"/>
                </a:lnTo>
                <a:lnTo>
                  <a:pt x="2677667" y="464819"/>
                </a:lnTo>
                <a:lnTo>
                  <a:pt x="2662428" y="472439"/>
                </a:lnTo>
                <a:lnTo>
                  <a:pt x="2647188" y="478789"/>
                </a:lnTo>
                <a:lnTo>
                  <a:pt x="2630424" y="486409"/>
                </a:lnTo>
                <a:lnTo>
                  <a:pt x="2613660" y="492759"/>
                </a:lnTo>
                <a:lnTo>
                  <a:pt x="2595372" y="500379"/>
                </a:lnTo>
                <a:lnTo>
                  <a:pt x="2577084" y="506729"/>
                </a:lnTo>
                <a:lnTo>
                  <a:pt x="2557272" y="511809"/>
                </a:lnTo>
                <a:lnTo>
                  <a:pt x="2538984" y="518159"/>
                </a:lnTo>
                <a:lnTo>
                  <a:pt x="2453640" y="542289"/>
                </a:lnTo>
                <a:lnTo>
                  <a:pt x="2430779" y="547369"/>
                </a:lnTo>
                <a:lnTo>
                  <a:pt x="2406396" y="553719"/>
                </a:lnTo>
                <a:lnTo>
                  <a:pt x="2357628" y="563879"/>
                </a:lnTo>
                <a:lnTo>
                  <a:pt x="2307336" y="575309"/>
                </a:lnTo>
                <a:lnTo>
                  <a:pt x="2199131" y="593089"/>
                </a:lnTo>
                <a:lnTo>
                  <a:pt x="2023872" y="615949"/>
                </a:lnTo>
                <a:lnTo>
                  <a:pt x="1898903" y="628649"/>
                </a:lnTo>
                <a:lnTo>
                  <a:pt x="1699260" y="641349"/>
                </a:lnTo>
                <a:lnTo>
                  <a:pt x="1560576" y="646429"/>
                </a:lnTo>
                <a:lnTo>
                  <a:pt x="1488948" y="647699"/>
                </a:lnTo>
                <a:lnTo>
                  <a:pt x="1964436" y="647699"/>
                </a:lnTo>
                <a:lnTo>
                  <a:pt x="2026919" y="641349"/>
                </a:lnTo>
                <a:lnTo>
                  <a:pt x="2147316" y="626109"/>
                </a:lnTo>
                <a:lnTo>
                  <a:pt x="2311908" y="599439"/>
                </a:lnTo>
                <a:lnTo>
                  <a:pt x="2363724" y="588009"/>
                </a:lnTo>
                <a:lnTo>
                  <a:pt x="2412491" y="577849"/>
                </a:lnTo>
                <a:lnTo>
                  <a:pt x="2436876" y="571499"/>
                </a:lnTo>
                <a:lnTo>
                  <a:pt x="2459736" y="567689"/>
                </a:lnTo>
                <a:lnTo>
                  <a:pt x="2482596" y="561339"/>
                </a:lnTo>
                <a:lnTo>
                  <a:pt x="2546604" y="542289"/>
                </a:lnTo>
                <a:lnTo>
                  <a:pt x="2566416" y="537209"/>
                </a:lnTo>
                <a:lnTo>
                  <a:pt x="2584704" y="529589"/>
                </a:lnTo>
                <a:lnTo>
                  <a:pt x="2604516" y="523239"/>
                </a:lnTo>
                <a:lnTo>
                  <a:pt x="2622804" y="516889"/>
                </a:lnTo>
                <a:lnTo>
                  <a:pt x="2639567" y="509269"/>
                </a:lnTo>
                <a:lnTo>
                  <a:pt x="2656331" y="502919"/>
                </a:lnTo>
                <a:lnTo>
                  <a:pt x="2673096" y="495300"/>
                </a:lnTo>
                <a:lnTo>
                  <a:pt x="2688336" y="487679"/>
                </a:lnTo>
                <a:lnTo>
                  <a:pt x="2703576" y="481329"/>
                </a:lnTo>
                <a:lnTo>
                  <a:pt x="2717291" y="473709"/>
                </a:lnTo>
                <a:lnTo>
                  <a:pt x="2729484" y="467359"/>
                </a:lnTo>
                <a:lnTo>
                  <a:pt x="2743200" y="458469"/>
                </a:lnTo>
                <a:lnTo>
                  <a:pt x="2753867" y="450850"/>
                </a:lnTo>
                <a:lnTo>
                  <a:pt x="2766060" y="443229"/>
                </a:lnTo>
                <a:lnTo>
                  <a:pt x="2785872" y="426719"/>
                </a:lnTo>
                <a:lnTo>
                  <a:pt x="2802636" y="410209"/>
                </a:lnTo>
                <a:lnTo>
                  <a:pt x="2808731" y="401319"/>
                </a:lnTo>
                <a:lnTo>
                  <a:pt x="2816352" y="392429"/>
                </a:lnTo>
                <a:lnTo>
                  <a:pt x="2820924" y="384809"/>
                </a:lnTo>
                <a:lnTo>
                  <a:pt x="2825496" y="373379"/>
                </a:lnTo>
                <a:lnTo>
                  <a:pt x="2831591" y="355600"/>
                </a:lnTo>
                <a:lnTo>
                  <a:pt x="2833116" y="346709"/>
                </a:lnTo>
                <a:lnTo>
                  <a:pt x="2833116" y="326389"/>
                </a:lnTo>
                <a:lnTo>
                  <a:pt x="2820924" y="288289"/>
                </a:lnTo>
                <a:lnTo>
                  <a:pt x="2814828" y="280669"/>
                </a:lnTo>
                <a:lnTo>
                  <a:pt x="2808731" y="271779"/>
                </a:lnTo>
                <a:lnTo>
                  <a:pt x="2801112" y="262889"/>
                </a:lnTo>
                <a:lnTo>
                  <a:pt x="2793491" y="255269"/>
                </a:lnTo>
                <a:lnTo>
                  <a:pt x="2785872" y="245109"/>
                </a:lnTo>
                <a:lnTo>
                  <a:pt x="2753867" y="222250"/>
                </a:lnTo>
                <a:lnTo>
                  <a:pt x="2702052" y="191769"/>
                </a:lnTo>
                <a:lnTo>
                  <a:pt x="2656331" y="171450"/>
                </a:lnTo>
                <a:lnTo>
                  <a:pt x="2639567" y="163829"/>
                </a:lnTo>
                <a:lnTo>
                  <a:pt x="2622804" y="157479"/>
                </a:lnTo>
                <a:lnTo>
                  <a:pt x="2604516" y="149859"/>
                </a:lnTo>
                <a:lnTo>
                  <a:pt x="2584704" y="143509"/>
                </a:lnTo>
                <a:lnTo>
                  <a:pt x="2566416" y="137159"/>
                </a:lnTo>
                <a:lnTo>
                  <a:pt x="2545079" y="130809"/>
                </a:lnTo>
                <a:lnTo>
                  <a:pt x="2525267" y="125729"/>
                </a:lnTo>
                <a:lnTo>
                  <a:pt x="2482596" y="113029"/>
                </a:lnTo>
                <a:lnTo>
                  <a:pt x="2436876" y="100329"/>
                </a:lnTo>
                <a:lnTo>
                  <a:pt x="2412491" y="95250"/>
                </a:lnTo>
                <a:lnTo>
                  <a:pt x="2363724" y="83819"/>
                </a:lnTo>
                <a:lnTo>
                  <a:pt x="2311908" y="74929"/>
                </a:lnTo>
                <a:lnTo>
                  <a:pt x="2203704" y="54609"/>
                </a:lnTo>
                <a:lnTo>
                  <a:pt x="2147316" y="48259"/>
                </a:lnTo>
                <a:lnTo>
                  <a:pt x="2087879" y="39369"/>
                </a:lnTo>
                <a:lnTo>
                  <a:pt x="2026919" y="31750"/>
                </a:lnTo>
                <a:lnTo>
                  <a:pt x="1964436" y="26669"/>
                </a:lnTo>
                <a:close/>
              </a:path>
              <a:path w="2833370" h="671829">
                <a:moveTo>
                  <a:pt x="25907" y="335279"/>
                </a:moveTo>
                <a:lnTo>
                  <a:pt x="12191" y="349250"/>
                </a:lnTo>
                <a:lnTo>
                  <a:pt x="19812" y="349250"/>
                </a:lnTo>
                <a:lnTo>
                  <a:pt x="24383" y="344169"/>
                </a:lnTo>
                <a:lnTo>
                  <a:pt x="25907" y="336550"/>
                </a:lnTo>
                <a:lnTo>
                  <a:pt x="25907" y="335279"/>
                </a:lnTo>
                <a:close/>
              </a:path>
              <a:path w="2833370" h="671829">
                <a:moveTo>
                  <a:pt x="25907" y="336550"/>
                </a:moveTo>
                <a:lnTo>
                  <a:pt x="24383" y="344169"/>
                </a:lnTo>
                <a:lnTo>
                  <a:pt x="19812" y="349250"/>
                </a:lnTo>
                <a:lnTo>
                  <a:pt x="25907" y="349250"/>
                </a:lnTo>
                <a:lnTo>
                  <a:pt x="25907" y="336550"/>
                </a:lnTo>
                <a:close/>
              </a:path>
              <a:path w="2833370" h="671829">
                <a:moveTo>
                  <a:pt x="12191" y="323850"/>
                </a:moveTo>
                <a:lnTo>
                  <a:pt x="9143" y="323850"/>
                </a:lnTo>
                <a:lnTo>
                  <a:pt x="6095" y="325119"/>
                </a:lnTo>
                <a:lnTo>
                  <a:pt x="3047" y="327659"/>
                </a:lnTo>
                <a:lnTo>
                  <a:pt x="0" y="334009"/>
                </a:lnTo>
                <a:lnTo>
                  <a:pt x="0" y="335279"/>
                </a:lnTo>
                <a:lnTo>
                  <a:pt x="12191" y="323850"/>
                </a:lnTo>
                <a:close/>
              </a:path>
              <a:path w="2833370" h="671829">
                <a:moveTo>
                  <a:pt x="1488948" y="0"/>
                </a:moveTo>
                <a:lnTo>
                  <a:pt x="1344167" y="0"/>
                </a:lnTo>
                <a:lnTo>
                  <a:pt x="1272539" y="1269"/>
                </a:lnTo>
                <a:lnTo>
                  <a:pt x="1133855" y="6350"/>
                </a:lnTo>
                <a:lnTo>
                  <a:pt x="1065276" y="11429"/>
                </a:lnTo>
                <a:lnTo>
                  <a:pt x="998219" y="13969"/>
                </a:lnTo>
                <a:lnTo>
                  <a:pt x="868679" y="26669"/>
                </a:lnTo>
                <a:lnTo>
                  <a:pt x="806196" y="31750"/>
                </a:lnTo>
                <a:lnTo>
                  <a:pt x="629412" y="54609"/>
                </a:lnTo>
                <a:lnTo>
                  <a:pt x="521208" y="74929"/>
                </a:lnTo>
                <a:lnTo>
                  <a:pt x="469391" y="83819"/>
                </a:lnTo>
                <a:lnTo>
                  <a:pt x="420624" y="95250"/>
                </a:lnTo>
                <a:lnTo>
                  <a:pt x="352043" y="113029"/>
                </a:lnTo>
                <a:lnTo>
                  <a:pt x="330708" y="119379"/>
                </a:lnTo>
                <a:lnTo>
                  <a:pt x="307848" y="125729"/>
                </a:lnTo>
                <a:lnTo>
                  <a:pt x="248412" y="143509"/>
                </a:lnTo>
                <a:lnTo>
                  <a:pt x="230124" y="149859"/>
                </a:lnTo>
                <a:lnTo>
                  <a:pt x="211836" y="157479"/>
                </a:lnTo>
                <a:lnTo>
                  <a:pt x="193548" y="163829"/>
                </a:lnTo>
                <a:lnTo>
                  <a:pt x="176784" y="171450"/>
                </a:lnTo>
                <a:lnTo>
                  <a:pt x="161543" y="176529"/>
                </a:lnTo>
                <a:lnTo>
                  <a:pt x="131063" y="191769"/>
                </a:lnTo>
                <a:lnTo>
                  <a:pt x="103631" y="207009"/>
                </a:lnTo>
                <a:lnTo>
                  <a:pt x="79247" y="222250"/>
                </a:lnTo>
                <a:lnTo>
                  <a:pt x="57912" y="238759"/>
                </a:lnTo>
                <a:lnTo>
                  <a:pt x="48768" y="247650"/>
                </a:lnTo>
                <a:lnTo>
                  <a:pt x="39624" y="255269"/>
                </a:lnTo>
                <a:lnTo>
                  <a:pt x="32003" y="264159"/>
                </a:lnTo>
                <a:lnTo>
                  <a:pt x="24383" y="271779"/>
                </a:lnTo>
                <a:lnTo>
                  <a:pt x="12191" y="289559"/>
                </a:lnTo>
                <a:lnTo>
                  <a:pt x="7619" y="298450"/>
                </a:lnTo>
                <a:lnTo>
                  <a:pt x="1524" y="317500"/>
                </a:lnTo>
                <a:lnTo>
                  <a:pt x="0" y="327659"/>
                </a:lnTo>
                <a:lnTo>
                  <a:pt x="0" y="334009"/>
                </a:lnTo>
                <a:lnTo>
                  <a:pt x="3047" y="327659"/>
                </a:lnTo>
                <a:lnTo>
                  <a:pt x="6095" y="325119"/>
                </a:lnTo>
                <a:lnTo>
                  <a:pt x="9143" y="323850"/>
                </a:lnTo>
                <a:lnTo>
                  <a:pt x="26923" y="323850"/>
                </a:lnTo>
                <a:lnTo>
                  <a:pt x="27431" y="321309"/>
                </a:lnTo>
                <a:lnTo>
                  <a:pt x="28956" y="316229"/>
                </a:lnTo>
                <a:lnTo>
                  <a:pt x="35051" y="300989"/>
                </a:lnTo>
                <a:lnTo>
                  <a:pt x="39624" y="294639"/>
                </a:lnTo>
                <a:lnTo>
                  <a:pt x="45719" y="287019"/>
                </a:lnTo>
                <a:lnTo>
                  <a:pt x="50291" y="279400"/>
                </a:lnTo>
                <a:lnTo>
                  <a:pt x="57912" y="271779"/>
                </a:lnTo>
                <a:lnTo>
                  <a:pt x="83819" y="250189"/>
                </a:lnTo>
                <a:lnTo>
                  <a:pt x="94487" y="242569"/>
                </a:lnTo>
                <a:lnTo>
                  <a:pt x="105156" y="236219"/>
                </a:lnTo>
                <a:lnTo>
                  <a:pt x="129539" y="220979"/>
                </a:lnTo>
                <a:lnTo>
                  <a:pt x="143255" y="214629"/>
                </a:lnTo>
                <a:lnTo>
                  <a:pt x="156972" y="207009"/>
                </a:lnTo>
                <a:lnTo>
                  <a:pt x="172212" y="201929"/>
                </a:lnTo>
                <a:lnTo>
                  <a:pt x="187451" y="194309"/>
                </a:lnTo>
                <a:lnTo>
                  <a:pt x="204215" y="187959"/>
                </a:lnTo>
                <a:lnTo>
                  <a:pt x="220979" y="180339"/>
                </a:lnTo>
                <a:lnTo>
                  <a:pt x="358139" y="137159"/>
                </a:lnTo>
                <a:lnTo>
                  <a:pt x="403860" y="125729"/>
                </a:lnTo>
                <a:lnTo>
                  <a:pt x="475488" y="110489"/>
                </a:lnTo>
                <a:lnTo>
                  <a:pt x="525779" y="99059"/>
                </a:lnTo>
                <a:lnTo>
                  <a:pt x="690372" y="72389"/>
                </a:lnTo>
                <a:lnTo>
                  <a:pt x="809243" y="57150"/>
                </a:lnTo>
                <a:lnTo>
                  <a:pt x="935736" y="44450"/>
                </a:lnTo>
                <a:lnTo>
                  <a:pt x="999743" y="39369"/>
                </a:lnTo>
                <a:lnTo>
                  <a:pt x="1133855" y="31750"/>
                </a:lnTo>
                <a:lnTo>
                  <a:pt x="1203960" y="29209"/>
                </a:lnTo>
                <a:lnTo>
                  <a:pt x="1344167" y="26669"/>
                </a:lnTo>
                <a:lnTo>
                  <a:pt x="1964436" y="26669"/>
                </a:lnTo>
                <a:lnTo>
                  <a:pt x="1900427" y="20319"/>
                </a:lnTo>
                <a:lnTo>
                  <a:pt x="1834896" y="15239"/>
                </a:lnTo>
                <a:lnTo>
                  <a:pt x="1700784" y="6350"/>
                </a:lnTo>
                <a:lnTo>
                  <a:pt x="1560576" y="1269"/>
                </a:lnTo>
                <a:lnTo>
                  <a:pt x="14889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0860" y="1879195"/>
            <a:ext cx="4159623" cy="440327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345680" y="1870159"/>
            <a:ext cx="4058098" cy="4412308"/>
            <a:chOff x="5181600" y="1524000"/>
            <a:chExt cx="4204970" cy="4572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1600" y="1524000"/>
              <a:ext cx="4204715" cy="4572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800" y="4038600"/>
              <a:ext cx="990600" cy="8945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0" y="1752600"/>
              <a:ext cx="1447800" cy="85953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4627" y="417465"/>
            <a:ext cx="7700682" cy="1673309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Exemplo</a:t>
            </a:r>
            <a:r>
              <a:rPr lang="en-US" sz="3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 do uso de </a:t>
            </a: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espécie</a:t>
            </a:r>
            <a:r>
              <a:rPr lang="en-US" sz="3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 indicadora: </a:t>
            </a: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besouros</a:t>
            </a:r>
            <a:r>
              <a:rPr lang="en-US" sz="3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 </a:t>
            </a: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em</a:t>
            </a:r>
            <a:r>
              <a:rPr lang="en-US" sz="3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 </a:t>
            </a: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florestas</a:t>
            </a:r>
            <a:r>
              <a:rPr lang="en-US" sz="3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 </a:t>
            </a:r>
            <a:r>
              <a:rPr lang="en-US" sz="3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rPr>
              <a:t>tropicais</a:t>
            </a:r>
            <a:endParaRPr lang="en-US" sz="3600" b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596" y="638001"/>
            <a:ext cx="3053403" cy="445922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2824" spc="-9" dirty="0">
                <a:solidFill>
                  <a:schemeClr val="tx1"/>
                </a:solidFill>
              </a:rPr>
              <a:t>Espécies-chave:</a:t>
            </a:r>
            <a:endParaRPr sz="2824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857" y="1153720"/>
            <a:ext cx="6670861" cy="125055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414079" marR="4483" indent="-403433">
              <a:spcBef>
                <a:spcPts val="93"/>
              </a:spcBef>
              <a:buChar char="•"/>
              <a:tabLst>
                <a:tab pos="414079" algn="l"/>
                <a:tab pos="414640" algn="l"/>
              </a:tabLst>
            </a:pPr>
            <a:r>
              <a:rPr sz="2294" spc="-9" dirty="0">
                <a:latin typeface="Calibri"/>
                <a:cs typeface="Calibri"/>
              </a:rPr>
              <a:t>Possuem</a:t>
            </a:r>
            <a:r>
              <a:rPr sz="2294" spc="-44" dirty="0">
                <a:latin typeface="Calibri"/>
                <a:cs typeface="Calibri"/>
              </a:rPr>
              <a:t> </a:t>
            </a:r>
            <a:r>
              <a:rPr sz="2294" spc="-13" dirty="0">
                <a:latin typeface="Calibri"/>
                <a:cs typeface="Calibri"/>
              </a:rPr>
              <a:t>efeitos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nos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tipos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e</a:t>
            </a:r>
            <a:r>
              <a:rPr sz="2294" spc="-18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na</a:t>
            </a:r>
            <a:r>
              <a:rPr sz="2294" spc="-9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abundância</a:t>
            </a:r>
            <a:r>
              <a:rPr sz="2294" spc="-40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de</a:t>
            </a:r>
            <a:r>
              <a:rPr sz="2294" spc="-18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outras </a:t>
            </a:r>
            <a:r>
              <a:rPr sz="2294" spc="-50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espécies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do </a:t>
            </a:r>
            <a:r>
              <a:rPr sz="2294" spc="-9" dirty="0">
                <a:latin typeface="Calibri"/>
                <a:cs typeface="Calibri"/>
              </a:rPr>
              <a:t>ecossistema</a:t>
            </a:r>
            <a:endParaRPr sz="2294" dirty="0">
              <a:latin typeface="Calibri"/>
              <a:cs typeface="Calibri"/>
            </a:endParaRPr>
          </a:p>
          <a:p>
            <a:pPr marL="156891" indent="-146245">
              <a:spcBef>
                <a:spcPts val="1377"/>
              </a:spcBef>
              <a:buChar char="•"/>
              <a:tabLst>
                <a:tab pos="157451" algn="l"/>
              </a:tabLst>
            </a:pPr>
            <a:r>
              <a:rPr sz="2294" spc="-4" dirty="0">
                <a:latin typeface="Calibri"/>
                <a:cs typeface="Calibri"/>
              </a:rPr>
              <a:t>Ex: </a:t>
            </a:r>
            <a:r>
              <a:rPr sz="2294" spc="-13" dirty="0">
                <a:latin typeface="Calibri"/>
                <a:cs typeface="Calibri"/>
              </a:rPr>
              <a:t>traíra,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onça,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abelhas,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estrela-do-mar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416" y="4424979"/>
            <a:ext cx="2817159" cy="1600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0255" y="4385981"/>
            <a:ext cx="2922046" cy="1645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5259" y="2582731"/>
            <a:ext cx="2515945" cy="16607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4410" y="2582731"/>
            <a:ext cx="2220109" cy="16607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0506" y="660026"/>
            <a:ext cx="5795122" cy="2344707"/>
          </a:xfrm>
          <a:prstGeom prst="rect">
            <a:avLst/>
          </a:prstGeom>
        </p:spPr>
        <p:txBody>
          <a:bodyPr vert="horz" wrap="square" lIns="0" tIns="186018" rIns="0" bIns="0" rtlCol="0">
            <a:spAutoFit/>
          </a:bodyPr>
          <a:lstStyle/>
          <a:p>
            <a:pPr marL="11206">
              <a:spcBef>
                <a:spcPts val="1465"/>
              </a:spcBef>
            </a:pPr>
            <a:r>
              <a:rPr lang="en-US" sz="2824" spc="-9" dirty="0" err="1">
                <a:latin typeface="+mj-lt"/>
              </a:rPr>
              <a:t>Espécie</a:t>
            </a:r>
            <a:r>
              <a:rPr lang="en-US" sz="2824" spc="-9" dirty="0">
                <a:latin typeface="+mj-lt"/>
              </a:rPr>
              <a:t> </a:t>
            </a:r>
            <a:r>
              <a:rPr lang="en-US" sz="2824" spc="-9" dirty="0" err="1">
                <a:latin typeface="+mj-lt"/>
              </a:rPr>
              <a:t>guarda-chuva</a:t>
            </a:r>
            <a:r>
              <a:rPr lang="en-US" sz="2824" spc="-9" dirty="0">
                <a:latin typeface="+mj-lt"/>
              </a:rPr>
              <a:t>:</a:t>
            </a:r>
          </a:p>
          <a:p>
            <a:pPr marL="222449" indent="-211802">
              <a:spcBef>
                <a:spcPts val="1377"/>
              </a:spcBef>
              <a:buChar char="•"/>
              <a:tabLst>
                <a:tab pos="223008" algn="l"/>
              </a:tabLst>
            </a:pPr>
            <a:r>
              <a:rPr sz="2294" spc="-9" dirty="0" err="1">
                <a:latin typeface="Calibri"/>
                <a:cs typeface="Calibri"/>
              </a:rPr>
              <a:t>necessitam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de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amplas</a:t>
            </a:r>
            <a:r>
              <a:rPr sz="2294" spc="-9" dirty="0">
                <a:latin typeface="Calibri"/>
                <a:cs typeface="Calibri"/>
              </a:rPr>
              <a:t> áreas</a:t>
            </a:r>
            <a:endParaRPr sz="2294" dirty="0">
              <a:latin typeface="Calibri"/>
              <a:cs typeface="Calibri"/>
            </a:endParaRPr>
          </a:p>
          <a:p>
            <a:pPr marL="224690" indent="-211802">
              <a:spcBef>
                <a:spcPts val="1619"/>
              </a:spcBef>
              <a:buChar char="•"/>
              <a:tabLst>
                <a:tab pos="225250" algn="l"/>
              </a:tabLst>
            </a:pPr>
            <a:r>
              <a:rPr sz="2294" spc="-4" dirty="0">
                <a:latin typeface="Calibri"/>
                <a:cs typeface="Calibri"/>
              </a:rPr>
              <a:t>sua</a:t>
            </a:r>
            <a:r>
              <a:rPr sz="2294" spc="-13" dirty="0">
                <a:latin typeface="Calibri"/>
                <a:cs typeface="Calibri"/>
              </a:rPr>
              <a:t> proteção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13" dirty="0">
                <a:latin typeface="Calibri"/>
                <a:cs typeface="Calibri"/>
              </a:rPr>
              <a:t>protege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várias</a:t>
            </a:r>
            <a:r>
              <a:rPr sz="229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outras</a:t>
            </a:r>
            <a:r>
              <a:rPr sz="2294" spc="-13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espécies</a:t>
            </a:r>
          </a:p>
          <a:p>
            <a:pPr>
              <a:spcBef>
                <a:spcPts val="49"/>
              </a:spcBef>
              <a:buClr>
                <a:srgbClr val="FFFFFF"/>
              </a:buClr>
              <a:buFont typeface="Calibri"/>
              <a:buChar char="•"/>
            </a:pPr>
            <a:endParaRPr sz="1809" dirty="0">
              <a:latin typeface="Calibri"/>
              <a:cs typeface="Calibri"/>
            </a:endParaRPr>
          </a:p>
          <a:p>
            <a:pPr marL="271757" lvl="1" indent="-211242">
              <a:buChar char="•"/>
              <a:tabLst>
                <a:tab pos="272317" algn="l"/>
              </a:tabLst>
            </a:pPr>
            <a:r>
              <a:rPr sz="2294" spc="-9" dirty="0">
                <a:latin typeface="Calibri"/>
                <a:cs typeface="Calibri"/>
              </a:rPr>
              <a:t>Exemplo:</a:t>
            </a:r>
            <a:r>
              <a:rPr sz="2294" spc="-13" dirty="0">
                <a:latin typeface="Calibri"/>
                <a:cs typeface="Calibri"/>
              </a:rPr>
              <a:t> dourado,</a:t>
            </a:r>
            <a:r>
              <a:rPr sz="2294" dirty="0">
                <a:latin typeface="Calibri"/>
                <a:cs typeface="Calibri"/>
              </a:rPr>
              <a:t> </a:t>
            </a:r>
            <a:r>
              <a:rPr sz="2294" spc="-13" dirty="0">
                <a:latin typeface="Calibri"/>
                <a:cs typeface="Calibri"/>
              </a:rPr>
              <a:t>pintado,</a:t>
            </a:r>
            <a:r>
              <a:rPr sz="2294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tartaruga-marinha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9252" y="4955241"/>
            <a:ext cx="3966882" cy="11524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8892" y="3239396"/>
            <a:ext cx="3630706" cy="1339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6611" y="3590364"/>
            <a:ext cx="2634279" cy="19753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5337" y="435020"/>
            <a:ext cx="4944035" cy="2193971"/>
          </a:xfrm>
          <a:prstGeom prst="rect">
            <a:avLst/>
          </a:prstGeom>
        </p:spPr>
        <p:txBody>
          <a:bodyPr vert="horz" wrap="square" lIns="0" tIns="185457" rIns="0" bIns="0" rtlCol="0">
            <a:spAutoFit/>
          </a:bodyPr>
          <a:lstStyle/>
          <a:p>
            <a:pPr marL="11206">
              <a:spcBef>
                <a:spcPts val="1460"/>
              </a:spcBef>
            </a:pPr>
            <a:r>
              <a:rPr lang="en-US" sz="2824" spc="-9" dirty="0" err="1">
                <a:latin typeface="+mj-lt"/>
              </a:rPr>
              <a:t>Espécie</a:t>
            </a:r>
            <a:r>
              <a:rPr lang="en-US" sz="2824" spc="-9" dirty="0">
                <a:latin typeface="+mj-lt"/>
              </a:rPr>
              <a:t> </a:t>
            </a:r>
            <a:r>
              <a:rPr lang="en-US" sz="2824" spc="-9" dirty="0" err="1">
                <a:latin typeface="+mj-lt"/>
              </a:rPr>
              <a:t>bandeira</a:t>
            </a:r>
            <a:r>
              <a:rPr lang="en-US" sz="2824" spc="-9" dirty="0">
                <a:latin typeface="+mj-lt"/>
              </a:rPr>
              <a:t>:</a:t>
            </a:r>
          </a:p>
          <a:p>
            <a:pPr marL="222449" indent="-211802">
              <a:spcBef>
                <a:spcPts val="1377"/>
              </a:spcBef>
              <a:buChar char="•"/>
              <a:tabLst>
                <a:tab pos="223008" algn="l"/>
              </a:tabLst>
            </a:pPr>
            <a:r>
              <a:rPr sz="2294" dirty="0">
                <a:latin typeface="Calibri"/>
                <a:cs typeface="Calibri"/>
              </a:rPr>
              <a:t>é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carismática </a:t>
            </a:r>
            <a:r>
              <a:rPr sz="2294" dirty="0">
                <a:latin typeface="Calibri"/>
                <a:cs typeface="Calibri"/>
              </a:rPr>
              <a:t>e</a:t>
            </a:r>
            <a:r>
              <a:rPr sz="2294" spc="-18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popular</a:t>
            </a:r>
            <a:endParaRPr sz="2294" dirty="0">
              <a:latin typeface="Calibri"/>
              <a:cs typeface="Calibri"/>
            </a:endParaRPr>
          </a:p>
          <a:p>
            <a:pPr marL="222449" indent="-211802">
              <a:spcBef>
                <a:spcPts val="869"/>
              </a:spcBef>
              <a:buChar char="•"/>
              <a:tabLst>
                <a:tab pos="223008" algn="l"/>
              </a:tabLst>
            </a:pPr>
            <a:r>
              <a:rPr sz="2294" spc="-4" dirty="0">
                <a:latin typeface="Calibri"/>
                <a:cs typeface="Calibri"/>
              </a:rPr>
              <a:t>serve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como</a:t>
            </a:r>
            <a:r>
              <a:rPr sz="2294" spc="4" dirty="0">
                <a:latin typeface="Calibri"/>
                <a:cs typeface="Calibri"/>
              </a:rPr>
              <a:t> </a:t>
            </a:r>
            <a:r>
              <a:rPr sz="2294" spc="-4" dirty="0">
                <a:latin typeface="Calibri"/>
                <a:cs typeface="Calibri"/>
              </a:rPr>
              <a:t>símbolo</a:t>
            </a:r>
            <a:r>
              <a:rPr sz="2294" dirty="0">
                <a:latin typeface="Calibri"/>
                <a:cs typeface="Calibri"/>
              </a:rPr>
              <a:t> </a:t>
            </a:r>
            <a:r>
              <a:rPr sz="2294" spc="-13" dirty="0">
                <a:latin typeface="Calibri"/>
                <a:cs typeface="Calibri"/>
              </a:rPr>
              <a:t>para </a:t>
            </a:r>
            <a:r>
              <a:rPr sz="2294" dirty="0">
                <a:latin typeface="Calibri"/>
                <a:cs typeface="Calibri"/>
              </a:rPr>
              <a:t>a </a:t>
            </a:r>
            <a:r>
              <a:rPr sz="2294" spc="-9" dirty="0">
                <a:latin typeface="Calibri"/>
                <a:cs typeface="Calibri"/>
              </a:rPr>
              <a:t>conservação</a:t>
            </a:r>
            <a:endParaRPr sz="2294" dirty="0">
              <a:latin typeface="Calibri"/>
              <a:cs typeface="Calibri"/>
            </a:endParaRPr>
          </a:p>
          <a:p>
            <a:pPr marL="222449" indent="-211802">
              <a:spcBef>
                <a:spcPts val="1694"/>
              </a:spcBef>
              <a:buChar char="•"/>
              <a:tabLst>
                <a:tab pos="223008" algn="l"/>
              </a:tabLst>
            </a:pPr>
            <a:r>
              <a:rPr sz="2294" spc="-9" dirty="0">
                <a:latin typeface="Calibri"/>
                <a:cs typeface="Calibri"/>
              </a:rPr>
              <a:t>Exemplo:</a:t>
            </a:r>
            <a:r>
              <a:rPr sz="2294" spc="-22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mico-leão-dourado, </a:t>
            </a:r>
            <a:r>
              <a:rPr sz="2294" spc="-4" dirty="0">
                <a:latin typeface="Calibri"/>
                <a:cs typeface="Calibri"/>
              </a:rPr>
              <a:t>panda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03" y="2891117"/>
            <a:ext cx="4211618" cy="3047104"/>
          </a:xfrm>
          <a:prstGeom prst="rect">
            <a:avLst/>
          </a:prstGeom>
        </p:spPr>
      </p:pic>
      <p:pic>
        <p:nvPicPr>
          <p:cNvPr id="1026" name="Picture 2" descr="फ़ोटो के बारे में कोई जानकारी नहीं दी गई है.">
            <a:extLst>
              <a:ext uri="{FF2B5EF4-FFF2-40B4-BE49-F238E27FC236}">
                <a16:creationId xmlns:a16="http://schemas.microsoft.com/office/drawing/2014/main" id="{4BB49290-D1CD-30EA-E804-B0EB7BE3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815" y="2891117"/>
            <a:ext cx="3507105" cy="350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47191-6147-5B86-5D06-46A52B6F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6AAE87-9F0E-A505-F3A6-10EC74F7F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/>
              <a:t>Habitat - </a:t>
            </a:r>
            <a:r>
              <a:rPr lang="pt-BR" sz="2000" spc="-5" dirty="0">
                <a:solidFill>
                  <a:srgbClr val="FF0000"/>
                </a:solidFill>
                <a:latin typeface="Calibri"/>
                <a:cs typeface="Calibri"/>
              </a:rPr>
              <a:t>Qualquer</a:t>
            </a:r>
            <a:r>
              <a:rPr lang="pt-BR" sz="20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5" dirty="0">
                <a:solidFill>
                  <a:srgbClr val="FF0000"/>
                </a:solidFill>
                <a:latin typeface="Calibri"/>
                <a:cs typeface="Calibri"/>
              </a:rPr>
              <a:t>parte</a:t>
            </a:r>
            <a:r>
              <a:rPr lang="pt-BR"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5" dirty="0">
                <a:solidFill>
                  <a:srgbClr val="FF0000"/>
                </a:solidFill>
                <a:latin typeface="Calibri"/>
                <a:cs typeface="Calibri"/>
              </a:rPr>
              <a:t>da</a:t>
            </a:r>
            <a:r>
              <a:rPr lang="pt-BR"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25" dirty="0">
                <a:solidFill>
                  <a:srgbClr val="FF0000"/>
                </a:solidFill>
                <a:latin typeface="Calibri"/>
                <a:cs typeface="Calibri"/>
              </a:rPr>
              <a:t>biosfera</a:t>
            </a:r>
            <a:r>
              <a:rPr lang="pt-BR"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0" dirty="0">
                <a:solidFill>
                  <a:srgbClr val="FF0000"/>
                </a:solidFill>
                <a:latin typeface="Calibri"/>
                <a:cs typeface="Calibri"/>
              </a:rPr>
              <a:t>onde</a:t>
            </a:r>
            <a:r>
              <a:rPr lang="pt-BR"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0" dirty="0">
                <a:solidFill>
                  <a:srgbClr val="FF0000"/>
                </a:solidFill>
                <a:latin typeface="Calibri"/>
                <a:cs typeface="Calibri"/>
              </a:rPr>
              <a:t>uma</a:t>
            </a:r>
            <a:r>
              <a:rPr lang="pt-BR"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5" dirty="0">
                <a:solidFill>
                  <a:srgbClr val="FF0000"/>
                </a:solidFill>
                <a:latin typeface="Calibri"/>
                <a:cs typeface="Calibri"/>
              </a:rPr>
              <a:t>espécie</a:t>
            </a:r>
            <a:r>
              <a:rPr lang="pt-BR"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0" dirty="0">
                <a:solidFill>
                  <a:srgbClr val="FF0000"/>
                </a:solidFill>
                <a:latin typeface="Calibri"/>
                <a:cs typeface="Calibri"/>
              </a:rPr>
              <a:t>possa </a:t>
            </a:r>
            <a:r>
              <a:rPr lang="pt-BR" sz="2000" spc="-6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0" dirty="0">
                <a:solidFill>
                  <a:srgbClr val="FF0000"/>
                </a:solidFill>
                <a:latin typeface="Calibri"/>
                <a:cs typeface="Calibri"/>
              </a:rPr>
              <a:t>viver</a:t>
            </a:r>
            <a:r>
              <a:rPr lang="pt-BR"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5" dirty="0">
                <a:solidFill>
                  <a:srgbClr val="FF0000"/>
                </a:solidFill>
                <a:latin typeface="Calibri"/>
                <a:cs typeface="Calibri"/>
              </a:rPr>
              <a:t>temporária</a:t>
            </a:r>
            <a:r>
              <a:rPr lang="pt-BR"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5" dirty="0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r>
              <a:rPr lang="pt-BR" sz="2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spc="-15" dirty="0">
                <a:solidFill>
                  <a:srgbClr val="FF0000"/>
                </a:solidFill>
                <a:latin typeface="Calibri"/>
                <a:cs typeface="Calibri"/>
              </a:rPr>
              <a:t>permanentemente</a:t>
            </a:r>
            <a:endParaRPr lang="pt-BR" sz="2000" dirty="0">
              <a:solidFill>
                <a:srgbClr val="FF0000"/>
              </a:solidFill>
              <a:latin typeface="Calibri"/>
              <a:cs typeface="Calibri"/>
            </a:endParaRPr>
          </a:p>
          <a:p>
            <a:r>
              <a:rPr lang="pt-BR" sz="2000" dirty="0"/>
              <a:t>Nicho Ecológico – </a:t>
            </a:r>
          </a:p>
          <a:p>
            <a:pPr marL="354965" marR="5080" indent="-342900"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pt-BR" sz="2000" spc="-10" dirty="0">
                <a:latin typeface="Calibri"/>
                <a:cs typeface="Calibri"/>
              </a:rPr>
              <a:t>Conjunto </a:t>
            </a:r>
            <a:r>
              <a:rPr lang="pt-BR" sz="2000" spc="-5" dirty="0">
                <a:latin typeface="Calibri"/>
                <a:cs typeface="Calibri"/>
              </a:rPr>
              <a:t>de </a:t>
            </a:r>
            <a:r>
              <a:rPr lang="pt-BR" sz="2000" spc="-10" dirty="0">
                <a:latin typeface="Calibri"/>
                <a:cs typeface="Calibri"/>
              </a:rPr>
              <a:t>condições </a:t>
            </a:r>
            <a:r>
              <a:rPr lang="pt-BR" sz="2000" dirty="0">
                <a:latin typeface="Calibri"/>
                <a:cs typeface="Calibri"/>
              </a:rPr>
              <a:t>em </a:t>
            </a:r>
            <a:r>
              <a:rPr lang="pt-BR" sz="2000" spc="-5" dirty="0">
                <a:latin typeface="Calibri"/>
                <a:cs typeface="Calibri"/>
              </a:rPr>
              <a:t>que </a:t>
            </a:r>
            <a:r>
              <a:rPr lang="pt-BR" sz="2000" dirty="0">
                <a:latin typeface="Calibri"/>
                <a:cs typeface="Calibri"/>
              </a:rPr>
              <a:t>o indivíduo </a:t>
            </a:r>
            <a:r>
              <a:rPr lang="pt-BR" sz="2000" spc="-5" dirty="0">
                <a:latin typeface="Calibri"/>
                <a:cs typeface="Calibri"/>
              </a:rPr>
              <a:t>vive </a:t>
            </a:r>
            <a:r>
              <a:rPr lang="pt-BR" sz="2000" dirty="0">
                <a:latin typeface="Calibri"/>
                <a:cs typeface="Calibri"/>
              </a:rPr>
              <a:t>e </a:t>
            </a:r>
            <a:r>
              <a:rPr lang="pt-BR" sz="2000" spc="-5" dirty="0">
                <a:latin typeface="Calibri"/>
                <a:cs typeface="Calibri"/>
              </a:rPr>
              <a:t>se </a:t>
            </a:r>
            <a:r>
              <a:rPr lang="pt-BR" sz="2000" spc="-57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reproduz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– </a:t>
            </a:r>
            <a:r>
              <a:rPr lang="pt-BR" sz="2000" spc="-5" dirty="0">
                <a:latin typeface="Calibri"/>
                <a:cs typeface="Calibri"/>
              </a:rPr>
              <a:t>“</a:t>
            </a:r>
            <a:r>
              <a:rPr lang="pt-BR" sz="2000" i="1" spc="-5" dirty="0">
                <a:latin typeface="Calibri"/>
                <a:cs typeface="Calibri"/>
              </a:rPr>
              <a:t>modo</a:t>
            </a:r>
            <a:r>
              <a:rPr lang="pt-BR" sz="2000" i="1" dirty="0">
                <a:latin typeface="Calibri"/>
                <a:cs typeface="Calibri"/>
              </a:rPr>
              <a:t> de</a:t>
            </a:r>
            <a:r>
              <a:rPr lang="pt-BR" sz="2000" i="1" spc="-20" dirty="0">
                <a:latin typeface="Calibri"/>
                <a:cs typeface="Calibri"/>
              </a:rPr>
              <a:t> </a:t>
            </a:r>
            <a:r>
              <a:rPr lang="pt-BR" sz="2000" i="1" dirty="0">
                <a:latin typeface="Calibri"/>
                <a:cs typeface="Calibri"/>
              </a:rPr>
              <a:t>vida”</a:t>
            </a:r>
            <a:endParaRPr lang="pt-BR" sz="2000" dirty="0">
              <a:latin typeface="Calibri"/>
              <a:cs typeface="Calibri"/>
            </a:endParaRPr>
          </a:p>
          <a:p>
            <a:pPr marL="354965" indent="-342900"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pt-BR" sz="2000" spc="-5" dirty="0">
                <a:latin typeface="Calibri"/>
                <a:cs typeface="Calibri"/>
              </a:rPr>
              <a:t>Ex.:</a:t>
            </a:r>
            <a:endParaRPr lang="pt-BR" sz="2000" dirty="0">
              <a:latin typeface="Calibri"/>
              <a:cs typeface="Calibri"/>
            </a:endParaRPr>
          </a:p>
          <a:p>
            <a:pPr marL="755650" lvl="1" indent="-287020"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spc="-40" dirty="0">
                <a:latin typeface="Calibri"/>
                <a:cs typeface="Calibri"/>
              </a:rPr>
              <a:t>Tática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spc="-5" dirty="0">
                <a:latin typeface="Calibri"/>
                <a:cs typeface="Calibri"/>
              </a:rPr>
              <a:t>de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spc="-15" dirty="0" err="1">
                <a:latin typeface="Calibri"/>
                <a:cs typeface="Calibri"/>
              </a:rPr>
              <a:t>forrageamento</a:t>
            </a:r>
            <a:r>
              <a:rPr lang="pt-BR" sz="2000" spc="-3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-15" dirty="0">
                <a:latin typeface="Calibri"/>
                <a:cs typeface="Calibri"/>
              </a:rPr>
              <a:t> dieta</a:t>
            </a:r>
            <a:endParaRPr lang="pt-BR" sz="2000" dirty="0">
              <a:latin typeface="Calibri"/>
              <a:cs typeface="Calibri"/>
            </a:endParaRPr>
          </a:p>
          <a:p>
            <a:pPr marL="755650" lvl="1" indent="-287020"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dirty="0">
                <a:latin typeface="Calibri"/>
                <a:cs typeface="Calibri"/>
              </a:rPr>
              <a:t>Necessidade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spc="-5" dirty="0">
                <a:latin typeface="Calibri"/>
                <a:cs typeface="Calibri"/>
              </a:rPr>
              <a:t>de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spc="-5" dirty="0">
                <a:latin typeface="Calibri"/>
                <a:cs typeface="Calibri"/>
              </a:rPr>
              <a:t>luz</a:t>
            </a:r>
            <a:r>
              <a:rPr lang="pt-BR" sz="2000" spc="-20" dirty="0">
                <a:latin typeface="Calibri"/>
                <a:cs typeface="Calibri"/>
              </a:rPr>
              <a:t> </a:t>
            </a:r>
            <a:r>
              <a:rPr lang="pt-BR" sz="2000" spc="-5" dirty="0">
                <a:latin typeface="Calibri"/>
                <a:cs typeface="Calibri"/>
              </a:rPr>
              <a:t>solar</a:t>
            </a:r>
            <a:r>
              <a:rPr lang="pt-BR" sz="2000" spc="-1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-2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água</a:t>
            </a:r>
          </a:p>
          <a:p>
            <a:pPr marL="755650" lvl="1" indent="-287020"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spc="-40" dirty="0">
                <a:latin typeface="Calibri"/>
                <a:cs typeface="Calibri"/>
              </a:rPr>
              <a:t>Tática</a:t>
            </a:r>
            <a:r>
              <a:rPr lang="pt-BR" sz="2000" spc="-35" dirty="0">
                <a:latin typeface="Calibri"/>
                <a:cs typeface="Calibri"/>
              </a:rPr>
              <a:t> </a:t>
            </a:r>
            <a:r>
              <a:rPr lang="pt-BR" sz="2000" spc="-15" dirty="0">
                <a:latin typeface="Calibri"/>
                <a:cs typeface="Calibri"/>
              </a:rPr>
              <a:t>reprodutiva</a:t>
            </a:r>
            <a:endParaRPr lang="pt-BR" sz="2000" dirty="0">
              <a:latin typeface="Calibri"/>
              <a:cs typeface="Calibri"/>
            </a:endParaRPr>
          </a:p>
          <a:p>
            <a:pPr marL="755650" lvl="1" indent="-287020"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spc="-15" dirty="0">
                <a:latin typeface="Calibri"/>
                <a:cs typeface="Calibri"/>
              </a:rPr>
              <a:t>Organização </a:t>
            </a:r>
            <a:r>
              <a:rPr lang="pt-BR" sz="2000" spc="-5" dirty="0">
                <a:latin typeface="Calibri"/>
                <a:cs typeface="Calibri"/>
              </a:rPr>
              <a:t>social</a:t>
            </a:r>
            <a:endParaRPr lang="pt-BR" sz="2000" dirty="0">
              <a:latin typeface="Calibri"/>
              <a:cs typeface="Calibri"/>
            </a:endParaRPr>
          </a:p>
          <a:p>
            <a:pPr marL="755650" lvl="1" indent="-287020"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spc="-15" dirty="0">
                <a:latin typeface="Calibri"/>
                <a:cs typeface="Calibri"/>
              </a:rPr>
              <a:t>Defesa</a:t>
            </a:r>
            <a:r>
              <a:rPr lang="pt-BR" sz="2000" spc="-40" dirty="0">
                <a:latin typeface="Calibri"/>
                <a:cs typeface="Calibri"/>
              </a:rPr>
              <a:t> </a:t>
            </a:r>
            <a:r>
              <a:rPr lang="pt-BR" sz="2000" spc="-20" dirty="0">
                <a:latin typeface="Calibri"/>
                <a:cs typeface="Calibri"/>
              </a:rPr>
              <a:t>contra </a:t>
            </a:r>
            <a:r>
              <a:rPr lang="pt-BR" sz="2000" dirty="0">
                <a:latin typeface="Calibri"/>
                <a:cs typeface="Calibri"/>
              </a:rPr>
              <a:t>a</a:t>
            </a:r>
            <a:r>
              <a:rPr lang="pt-BR" sz="2000" spc="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predação</a:t>
            </a:r>
            <a:endParaRPr lang="pt-BR" sz="2000" dirty="0">
              <a:latin typeface="Calibri"/>
              <a:cs typeface="Calibri"/>
            </a:endParaRPr>
          </a:p>
          <a:p>
            <a:pPr marL="755650" lvl="1" indent="-287020"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lang="pt-BR" sz="2000" spc="-10" dirty="0">
                <a:latin typeface="Calibri"/>
                <a:cs typeface="Calibri"/>
              </a:rPr>
              <a:t>Morfologia,</a:t>
            </a:r>
            <a:r>
              <a:rPr lang="pt-BR" sz="2000" spc="30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adaptações </a:t>
            </a:r>
            <a:r>
              <a:rPr lang="pt-BR" sz="2000" spc="-5" dirty="0">
                <a:latin typeface="Calibri"/>
                <a:cs typeface="Calibri"/>
              </a:rPr>
              <a:t>sensoriais,</a:t>
            </a:r>
            <a:r>
              <a:rPr lang="pt-BR" sz="2000" spc="-20" dirty="0">
                <a:latin typeface="Calibri"/>
                <a:cs typeface="Calibri"/>
              </a:rPr>
              <a:t> </a:t>
            </a:r>
            <a:r>
              <a:rPr lang="pt-BR" sz="2000" spc="-5" dirty="0">
                <a:latin typeface="Calibri"/>
                <a:cs typeface="Calibri"/>
              </a:rPr>
              <a:t>fisiologia</a:t>
            </a:r>
            <a:endParaRPr lang="pt-BR" sz="2000" dirty="0">
              <a:latin typeface="Calibri"/>
              <a:cs typeface="Calibri"/>
            </a:endParaRPr>
          </a:p>
          <a:p>
            <a:pPr lvl="1"/>
            <a:endParaRPr lang="pt-BR" sz="20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0252" y="2918461"/>
            <a:ext cx="4753356" cy="311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4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F68A-2858-1A75-6A92-52CBA5D2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do Nicho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522FDF-F887-7956-ED35-DBC8CB6E2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572885"/>
            <a:ext cx="10058400" cy="2606040"/>
          </a:xfrm>
        </p:spPr>
        <p:txBody>
          <a:bodyPr>
            <a:noAutofit/>
          </a:bodyPr>
          <a:lstStyle/>
          <a:p>
            <a:pPr marL="11206" marR="4483" algn="just">
              <a:spcBef>
                <a:spcPts val="93"/>
              </a:spcBef>
            </a:pPr>
            <a:r>
              <a:rPr lang="pt-BR" sz="2400" b="1" i="1" spc="-4" dirty="0">
                <a:solidFill>
                  <a:srgbClr val="FFFF00"/>
                </a:solidFill>
                <a:highlight>
                  <a:srgbClr val="FF0000"/>
                </a:highlight>
                <a:latin typeface="Calibri"/>
                <a:cs typeface="Calibri"/>
              </a:rPr>
              <a:t>Espécies </a:t>
            </a:r>
            <a:r>
              <a:rPr lang="pt-BR" sz="2400" b="1" i="1" spc="-9" dirty="0">
                <a:solidFill>
                  <a:srgbClr val="FFFF00"/>
                </a:solidFill>
                <a:highlight>
                  <a:srgbClr val="FF0000"/>
                </a:highlight>
                <a:latin typeface="Calibri"/>
                <a:cs typeface="Calibri"/>
              </a:rPr>
              <a:t>generalistas </a:t>
            </a:r>
            <a:r>
              <a:rPr lang="pt-BR" sz="2400" spc="-9" dirty="0">
                <a:latin typeface="Calibri"/>
                <a:cs typeface="Calibri"/>
              </a:rPr>
              <a:t>têm </a:t>
            </a:r>
            <a:r>
              <a:rPr lang="pt-BR" sz="2400" spc="-4" dirty="0">
                <a:latin typeface="Calibri"/>
                <a:cs typeface="Calibri"/>
              </a:rPr>
              <a:t>nichos amplos </a:t>
            </a:r>
            <a:r>
              <a:rPr lang="pt-BR" sz="2400" dirty="0">
                <a:latin typeface="Calibri"/>
                <a:cs typeface="Calibri"/>
              </a:rPr>
              <a:t>– podem </a:t>
            </a:r>
            <a:r>
              <a:rPr lang="pt-BR" sz="2400" spc="-4" dirty="0">
                <a:latin typeface="Calibri"/>
                <a:cs typeface="Calibri"/>
              </a:rPr>
              <a:t>viver </a:t>
            </a:r>
            <a:r>
              <a:rPr lang="pt-BR" sz="2400" dirty="0">
                <a:latin typeface="Calibri"/>
                <a:cs typeface="Calibri"/>
              </a:rPr>
              <a:t>em </a:t>
            </a:r>
            <a:r>
              <a:rPr lang="pt-BR" sz="2400" spc="-9" dirty="0">
                <a:latin typeface="Calibri"/>
                <a:cs typeface="Calibri"/>
              </a:rPr>
              <a:t>diversos </a:t>
            </a:r>
            <a:r>
              <a:rPr lang="pt-BR" sz="2400" spc="-446" dirty="0">
                <a:latin typeface="Calibri"/>
                <a:cs typeface="Calibri"/>
              </a:rPr>
              <a:t> </a:t>
            </a:r>
            <a:r>
              <a:rPr lang="pt-BR" sz="2400" spc="-13" dirty="0">
                <a:latin typeface="Calibri"/>
                <a:cs typeface="Calibri"/>
              </a:rPr>
              <a:t>lugares, </a:t>
            </a:r>
            <a:r>
              <a:rPr lang="pt-BR" sz="2400" spc="-9" dirty="0">
                <a:latin typeface="Calibri"/>
                <a:cs typeface="Calibri"/>
              </a:rPr>
              <a:t>comer diversos </a:t>
            </a:r>
            <a:r>
              <a:rPr lang="pt-BR" sz="2400" spc="-4" dirty="0">
                <a:latin typeface="Calibri"/>
                <a:cs typeface="Calibri"/>
              </a:rPr>
              <a:t>alimentos </a:t>
            </a:r>
            <a:r>
              <a:rPr lang="pt-BR" sz="2400" dirty="0">
                <a:latin typeface="Calibri"/>
                <a:cs typeface="Calibri"/>
              </a:rPr>
              <a:t>e </a:t>
            </a:r>
            <a:r>
              <a:rPr lang="pt-BR" sz="2400" spc="-13" dirty="0">
                <a:latin typeface="Calibri"/>
                <a:cs typeface="Calibri"/>
              </a:rPr>
              <a:t>tolerar </a:t>
            </a:r>
            <a:r>
              <a:rPr lang="pt-BR" sz="2400" dirty="0">
                <a:latin typeface="Calibri"/>
                <a:cs typeface="Calibri"/>
              </a:rPr>
              <a:t>às </a:t>
            </a:r>
            <a:r>
              <a:rPr lang="pt-BR" sz="2400" spc="-9" dirty="0">
                <a:latin typeface="Calibri"/>
                <a:cs typeface="Calibri"/>
              </a:rPr>
              <a:t>condições </a:t>
            </a:r>
            <a:r>
              <a:rPr lang="pt-BR" sz="2400" spc="-4" dirty="0">
                <a:latin typeface="Calibri"/>
                <a:cs typeface="Calibri"/>
              </a:rPr>
              <a:t>ambientais. </a:t>
            </a:r>
            <a:r>
              <a:rPr lang="pt-BR" sz="2400" spc="-446" dirty="0">
                <a:latin typeface="Calibri"/>
                <a:cs typeface="Calibri"/>
              </a:rPr>
              <a:t> </a:t>
            </a:r>
            <a:r>
              <a:rPr lang="pt-BR" sz="2400" spc="-4" dirty="0" err="1">
                <a:latin typeface="Calibri"/>
                <a:cs typeface="Calibri"/>
              </a:rPr>
              <a:t>Ex</a:t>
            </a:r>
            <a:r>
              <a:rPr lang="pt-BR" sz="2400" spc="-4" dirty="0">
                <a:latin typeface="Calibri"/>
                <a:cs typeface="Calibri"/>
              </a:rPr>
              <a:t>:</a:t>
            </a:r>
            <a:r>
              <a:rPr lang="pt-BR" sz="2400" spc="-9" dirty="0">
                <a:latin typeface="Calibri"/>
                <a:cs typeface="Calibri"/>
              </a:rPr>
              <a:t> </a:t>
            </a:r>
            <a:r>
              <a:rPr lang="pt-BR" sz="2400" spc="-4" dirty="0">
                <a:latin typeface="Calibri"/>
                <a:cs typeface="Calibri"/>
              </a:rPr>
              <a:t>moscas,</a:t>
            </a:r>
            <a:r>
              <a:rPr lang="pt-BR" sz="2400" spc="4" dirty="0">
                <a:latin typeface="Calibri"/>
                <a:cs typeface="Calibri"/>
              </a:rPr>
              <a:t> </a:t>
            </a:r>
            <a:r>
              <a:rPr lang="pt-BR" sz="2400" spc="-13" dirty="0">
                <a:latin typeface="Calibri"/>
                <a:cs typeface="Calibri"/>
              </a:rPr>
              <a:t>baratas,</a:t>
            </a:r>
            <a:r>
              <a:rPr lang="pt-BR" sz="2400" dirty="0">
                <a:latin typeface="Calibri"/>
                <a:cs typeface="Calibri"/>
              </a:rPr>
              <a:t> </a:t>
            </a:r>
            <a:r>
              <a:rPr lang="pt-BR" sz="2400" spc="-26" dirty="0">
                <a:latin typeface="Calibri"/>
                <a:cs typeface="Calibri"/>
              </a:rPr>
              <a:t>rato,</a:t>
            </a:r>
            <a:r>
              <a:rPr lang="pt-BR" sz="2400" spc="9" dirty="0">
                <a:latin typeface="Calibri"/>
                <a:cs typeface="Calibri"/>
              </a:rPr>
              <a:t> </a:t>
            </a:r>
            <a:r>
              <a:rPr lang="pt-BR" sz="2400" spc="-13" dirty="0">
                <a:latin typeface="Calibri"/>
                <a:cs typeface="Calibri"/>
              </a:rPr>
              <a:t>formiga,</a:t>
            </a:r>
            <a:r>
              <a:rPr lang="pt-BR" sz="2400" dirty="0">
                <a:latin typeface="Calibri"/>
                <a:cs typeface="Calibri"/>
              </a:rPr>
              <a:t> </a:t>
            </a:r>
            <a:r>
              <a:rPr lang="pt-BR" sz="2400" spc="-4" dirty="0">
                <a:latin typeface="Calibri"/>
                <a:cs typeface="Calibri"/>
              </a:rPr>
              <a:t>homem</a:t>
            </a:r>
            <a:endParaRPr lang="pt-BR" sz="2400" dirty="0">
              <a:latin typeface="Calibri"/>
              <a:cs typeface="Calibri"/>
            </a:endParaRPr>
          </a:p>
          <a:p>
            <a:pPr>
              <a:spcBef>
                <a:spcPts val="44"/>
              </a:spcBef>
            </a:pPr>
            <a:endParaRPr lang="pt-BR" sz="2400" dirty="0">
              <a:latin typeface="Calibri"/>
              <a:cs typeface="Calibri"/>
            </a:endParaRPr>
          </a:p>
          <a:p>
            <a:pPr marL="11206" marR="102539"/>
            <a:r>
              <a:rPr lang="pt-BR" sz="2400" b="1" i="1" spc="-4" dirty="0">
                <a:solidFill>
                  <a:srgbClr val="FFFF00"/>
                </a:solidFill>
                <a:highlight>
                  <a:srgbClr val="FF0000"/>
                </a:highlight>
                <a:latin typeface="Calibri"/>
                <a:cs typeface="Calibri"/>
              </a:rPr>
              <a:t>Espécies</a:t>
            </a:r>
            <a:r>
              <a:rPr lang="pt-BR" sz="2400" b="1" i="1" dirty="0">
                <a:solidFill>
                  <a:srgbClr val="FFFF00"/>
                </a:solidFill>
                <a:highlight>
                  <a:srgbClr val="FF0000"/>
                </a:highlight>
                <a:latin typeface="Calibri"/>
                <a:cs typeface="Calibri"/>
              </a:rPr>
              <a:t> </a:t>
            </a:r>
            <a:r>
              <a:rPr lang="pt-BR" sz="2400" b="1" i="1" spc="-4" dirty="0">
                <a:solidFill>
                  <a:srgbClr val="FFFF00"/>
                </a:solidFill>
                <a:highlight>
                  <a:srgbClr val="FF0000"/>
                </a:highlight>
                <a:latin typeface="Calibri"/>
                <a:cs typeface="Calibri"/>
              </a:rPr>
              <a:t>especialistas</a:t>
            </a:r>
            <a:r>
              <a:rPr lang="pt-BR" sz="2400" b="1" i="1" spc="-9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lang="pt-BR" sz="2400" spc="-4" dirty="0">
                <a:latin typeface="Calibri"/>
                <a:cs typeface="Calibri"/>
              </a:rPr>
              <a:t>possuem</a:t>
            </a:r>
            <a:r>
              <a:rPr lang="pt-BR" sz="2400" dirty="0">
                <a:latin typeface="Calibri"/>
                <a:cs typeface="Calibri"/>
              </a:rPr>
              <a:t> </a:t>
            </a:r>
            <a:r>
              <a:rPr lang="pt-BR" sz="2400" spc="-4" dirty="0">
                <a:latin typeface="Calibri"/>
                <a:cs typeface="Calibri"/>
              </a:rPr>
              <a:t>nichos </a:t>
            </a:r>
            <a:r>
              <a:rPr lang="pt-BR" sz="2400" spc="-9" dirty="0">
                <a:latin typeface="Calibri"/>
                <a:cs typeface="Calibri"/>
              </a:rPr>
              <a:t>estreitos</a:t>
            </a:r>
            <a:r>
              <a:rPr lang="pt-BR" sz="2400" spc="31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– </a:t>
            </a:r>
            <a:r>
              <a:rPr lang="pt-BR" sz="2400" spc="-4" dirty="0">
                <a:latin typeface="Calibri"/>
                <a:cs typeface="Calibri"/>
              </a:rPr>
              <a:t>vivem</a:t>
            </a:r>
            <a:r>
              <a:rPr lang="pt-BR" sz="2400" spc="4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um</a:t>
            </a:r>
            <a:r>
              <a:rPr lang="pt-BR" sz="2400" spc="-4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tipo</a:t>
            </a:r>
            <a:r>
              <a:rPr lang="pt-BR" sz="2400" spc="4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 </a:t>
            </a:r>
            <a:r>
              <a:rPr lang="pt-BR" sz="2400" spc="-446" dirty="0">
                <a:latin typeface="Calibri"/>
                <a:cs typeface="Calibri"/>
              </a:rPr>
              <a:t> </a:t>
            </a:r>
            <a:r>
              <a:rPr lang="pt-BR" sz="2400" spc="-9" dirty="0">
                <a:latin typeface="Calibri"/>
                <a:cs typeface="Calibri"/>
              </a:rPr>
              <a:t>habitat,</a:t>
            </a:r>
            <a:r>
              <a:rPr lang="pt-BR" sz="2400" spc="-4" dirty="0">
                <a:latin typeface="Calibri"/>
                <a:cs typeface="Calibri"/>
              </a:rPr>
              <a:t> alimentos </a:t>
            </a:r>
            <a:r>
              <a:rPr lang="pt-BR" sz="2400" spc="-9" dirty="0">
                <a:latin typeface="Calibri"/>
                <a:cs typeface="Calibri"/>
              </a:rPr>
              <a:t>restritos</a:t>
            </a:r>
            <a:r>
              <a:rPr lang="pt-BR" sz="2400" spc="-4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</a:t>
            </a:r>
            <a:r>
              <a:rPr lang="pt-BR" sz="2400" spc="13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menor </a:t>
            </a:r>
            <a:r>
              <a:rPr lang="pt-BR" sz="2400" spc="-9" dirty="0">
                <a:latin typeface="Calibri"/>
                <a:cs typeface="Calibri"/>
              </a:rPr>
              <a:t>tolerância</a:t>
            </a:r>
            <a:r>
              <a:rPr lang="pt-BR" sz="2400" dirty="0">
                <a:latin typeface="Calibri"/>
                <a:cs typeface="Calibri"/>
              </a:rPr>
              <a:t> às </a:t>
            </a:r>
            <a:r>
              <a:rPr lang="pt-BR" sz="2400" spc="-9" dirty="0">
                <a:latin typeface="Calibri"/>
                <a:cs typeface="Calibri"/>
              </a:rPr>
              <a:t>condições </a:t>
            </a:r>
            <a:r>
              <a:rPr lang="pt-BR" sz="2400" spc="-4" dirty="0">
                <a:latin typeface="Calibri"/>
                <a:cs typeface="Calibri"/>
              </a:rPr>
              <a:t> ambientais.</a:t>
            </a:r>
            <a:r>
              <a:rPr lang="pt-BR" sz="2400" spc="-9" dirty="0">
                <a:latin typeface="Calibri"/>
                <a:cs typeface="Calibri"/>
              </a:rPr>
              <a:t> </a:t>
            </a:r>
            <a:r>
              <a:rPr lang="pt-BR" sz="2400" spc="-4" dirty="0" err="1">
                <a:latin typeface="Calibri"/>
                <a:cs typeface="Calibri"/>
              </a:rPr>
              <a:t>Ex</a:t>
            </a:r>
            <a:r>
              <a:rPr lang="pt-BR" sz="2400" spc="-4" dirty="0">
                <a:latin typeface="Calibri"/>
                <a:cs typeface="Calibri"/>
              </a:rPr>
              <a:t>:</a:t>
            </a:r>
            <a:r>
              <a:rPr lang="pt-BR" sz="2400" dirty="0">
                <a:latin typeface="Calibri"/>
                <a:cs typeface="Calibri"/>
              </a:rPr>
              <a:t> </a:t>
            </a:r>
            <a:r>
              <a:rPr lang="pt-BR" sz="2400" spc="-9" dirty="0">
                <a:latin typeface="Calibri"/>
                <a:cs typeface="Calibri"/>
              </a:rPr>
              <a:t>onça-pintada,</a:t>
            </a:r>
            <a:r>
              <a:rPr lang="pt-BR" sz="2400" spc="4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panda,</a:t>
            </a:r>
            <a:r>
              <a:rPr lang="pt-BR" sz="2400" spc="4" dirty="0">
                <a:latin typeface="Calibri"/>
                <a:cs typeface="Calibri"/>
              </a:rPr>
              <a:t> </a:t>
            </a:r>
            <a:r>
              <a:rPr lang="pt-BR" sz="2400" spc="-9" dirty="0">
                <a:latin typeface="Calibri"/>
                <a:cs typeface="Calibri"/>
              </a:rPr>
              <a:t>jacutingas,</a:t>
            </a:r>
            <a:r>
              <a:rPr lang="pt-BR" sz="2400" spc="13" dirty="0">
                <a:latin typeface="Calibri"/>
                <a:cs typeface="Calibri"/>
              </a:rPr>
              <a:t> </a:t>
            </a:r>
            <a:r>
              <a:rPr lang="pt-BR" sz="2400" spc="-9" dirty="0">
                <a:latin typeface="Calibri"/>
                <a:cs typeface="Calibri"/>
              </a:rPr>
              <a:t>gavião-pombo</a:t>
            </a:r>
            <a:endParaRPr lang="pt-BR" sz="2400" dirty="0">
              <a:latin typeface="Calibri"/>
              <a:cs typeface="Calibri"/>
            </a:endParaRPr>
          </a:p>
          <a:p>
            <a:endParaRPr lang="pt-BR" sz="2400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1877" y="1748118"/>
            <a:ext cx="6808245" cy="15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8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313F1-3B66-3244-56DB-16CD921A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do Nicho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9466" y="1839383"/>
            <a:ext cx="6808245" cy="1534309"/>
          </a:xfrm>
          <a:prstGeom prst="rect">
            <a:avLst/>
          </a:prstGeom>
        </p:spPr>
      </p:pic>
      <p:grpSp>
        <p:nvGrpSpPr>
          <p:cNvPr id="5" name="object 4"/>
          <p:cNvGrpSpPr/>
          <p:nvPr/>
        </p:nvGrpSpPr>
        <p:grpSpPr>
          <a:xfrm>
            <a:off x="1658975" y="3642808"/>
            <a:ext cx="3761254" cy="2752725"/>
            <a:chOff x="778763" y="3665220"/>
            <a:chExt cx="4262755" cy="3119755"/>
          </a:xfrm>
        </p:grpSpPr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4908804"/>
              <a:ext cx="2811780" cy="1876044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2591" y="3665220"/>
              <a:ext cx="1828800" cy="2494788"/>
            </a:xfrm>
            <a:prstGeom prst="rect">
              <a:avLst/>
            </a:prstGeom>
          </p:spPr>
        </p:pic>
      </p:grpSp>
      <p:grpSp>
        <p:nvGrpSpPr>
          <p:cNvPr id="8" name="object 7"/>
          <p:cNvGrpSpPr/>
          <p:nvPr/>
        </p:nvGrpSpPr>
        <p:grpSpPr>
          <a:xfrm>
            <a:off x="7296821" y="3674633"/>
            <a:ext cx="2950509" cy="2720788"/>
            <a:chOff x="6024371" y="3808476"/>
            <a:chExt cx="3343910" cy="3083560"/>
          </a:xfrm>
        </p:grpSpPr>
        <p:pic>
          <p:nvPicPr>
            <p:cNvPr id="9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4371" y="3808476"/>
              <a:ext cx="2042160" cy="1740408"/>
            </a:xfrm>
            <a:prstGeom prst="rect">
              <a:avLst/>
            </a:prstGeom>
          </p:spPr>
        </p:pic>
        <p:pic>
          <p:nvPicPr>
            <p:cNvPr id="10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65035" y="5428488"/>
              <a:ext cx="2602992" cy="146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073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Ilha de Páscoa</a:t>
            </a:r>
            <a:r>
              <a:rPr lang="pt-BR" sz="2000" dirty="0"/>
              <a:t> (Rapa </a:t>
            </a:r>
            <a:r>
              <a:rPr lang="pt-BR" sz="2000" dirty="0" err="1"/>
              <a:t>Nui</a:t>
            </a:r>
            <a:r>
              <a:rPr lang="pt-BR" sz="2000" dirty="0"/>
              <a:t>): desenvolvimento X sustentabilidade</a:t>
            </a:r>
          </a:p>
          <a:p>
            <a:endParaRPr lang="pt-BR" sz="2000" dirty="0"/>
          </a:p>
        </p:txBody>
      </p:sp>
      <p:pic>
        <p:nvPicPr>
          <p:cNvPr id="4" name="Picture 2" descr="http://www.bridetobride.com.br/wp-content/uploads/2014/06/Map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426" y="3343931"/>
            <a:ext cx="7512006" cy="278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encrypted-tbn1.gstatic.com/images?q=tbn:ANd9GcTGoa58uvYxYZCN-RsCTjIafVz62yq8Gt0ShHjIjn3K0womZtTP2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23516"/>
            <a:ext cx="4172548" cy="217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942975" y="5343525"/>
            <a:ext cx="210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3700 km do Chile</a:t>
            </a:r>
          </a:p>
          <a:p>
            <a:r>
              <a:rPr lang="pt-BR" dirty="0"/>
              <a:t>163,6 Km</a:t>
            </a:r>
            <a:r>
              <a:rPr lang="pt-BR" baseline="30000" dirty="0"/>
              <a:t>2</a:t>
            </a:r>
            <a:r>
              <a:rPr lang="pt-B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202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4" name="Espaço Reservado para Conteúdo 3"/>
          <p:cNvSpPr txBox="1">
            <a:spLocks noGrp="1"/>
          </p:cNvSpPr>
          <p:nvPr>
            <p:ph idx="1"/>
          </p:nvPr>
        </p:nvSpPr>
        <p:spPr>
          <a:xfrm>
            <a:off x="1066800" y="2103120"/>
            <a:ext cx="10058400" cy="513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pt-BR" sz="2600" dirty="0"/>
              <a:t>Colonização pelos polinésios há cerca de 2900 anos</a:t>
            </a:r>
          </a:p>
          <a:p>
            <a:pPr marL="0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dirty="0"/>
              <a:t>Florestas densas, grande diversidade</a:t>
            </a:r>
          </a:p>
          <a:p>
            <a:pPr marL="0" lvl="0" indent="0">
              <a:buNone/>
            </a:pPr>
            <a:r>
              <a:rPr lang="pt-BR" sz="2600" dirty="0">
                <a:sym typeface="Wingdings"/>
              </a:rPr>
              <a:t>	</a:t>
            </a:r>
            <a:r>
              <a:rPr lang="pt-BR" sz="4000" dirty="0">
                <a:sym typeface="Wingdings"/>
              </a:rPr>
              <a:t></a:t>
            </a:r>
            <a:r>
              <a:rPr lang="pt-BR" sz="2600" dirty="0"/>
              <a:t>As palmeiras foram destinadas a abrigo, canoas, ferramentas...</a:t>
            </a:r>
          </a:p>
          <a:p>
            <a:pPr marL="1969770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dirty="0"/>
              <a:t>As árvores </a:t>
            </a:r>
            <a:r>
              <a:rPr lang="pt-BR" sz="2600" dirty="0" err="1"/>
              <a:t>hauhau</a:t>
            </a:r>
            <a:r>
              <a:rPr lang="pt-BR" sz="2600" dirty="0"/>
              <a:t> serviam para lenha, para cozinhar e aquecer durante o inverno</a:t>
            </a:r>
          </a:p>
          <a:p>
            <a:pPr marL="3312795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dirty="0">
                <a:sym typeface="Wingdings"/>
              </a:rPr>
              <a:t> </a:t>
            </a:r>
            <a:r>
              <a:rPr lang="pt-BR" sz="2600" dirty="0"/>
              <a:t>As florestas foram derrubadas para dar lugar as plantações</a:t>
            </a:r>
          </a:p>
          <a:p>
            <a:endParaRPr lang="pt-BR" sz="2600" dirty="0"/>
          </a:p>
        </p:txBody>
      </p:sp>
      <p:pic>
        <p:nvPicPr>
          <p:cNvPr id="3074" name="Picture 2" descr="Muito além dos Moais: o que aconteceu com as árvores e com a escrita da Ilha  de Páscoa? | o etnobotân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099" y="163445"/>
            <a:ext cx="3287713" cy="370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34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3.bp.blogspot.com/_kp6e6i-hpJU/S_16AsVxAqI/AAAAAAAAAg8/_IHAGZnGvIc/s1600/Moais+da+Ilha+da+P%C3%A1scoa.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423" y="4054407"/>
            <a:ext cx="3672408" cy="244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pic>
        <p:nvPicPr>
          <p:cNvPr id="7" name="Picture 4" descr="http://s2.glbimg.com/S3JI7pSogWu5Viz4LKQlBLkdTvGO2ysNtMc9lIA4MoEWUAQA6XADD-864N2UKtjS/s.glbimg.com/jo/g1/f/original/2012/10/23/pascoa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91" y="4431465"/>
            <a:ext cx="2758852" cy="206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4"/>
          <p:cNvSpPr txBox="1">
            <a:spLocks noGrp="1"/>
          </p:cNvSpPr>
          <p:nvPr>
            <p:ph idx="1"/>
          </p:nvPr>
        </p:nvSpPr>
        <p:spPr>
          <a:xfrm>
            <a:off x="1144291" y="1791935"/>
            <a:ext cx="10058400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pt-BR" sz="2600" dirty="0"/>
              <a:t>Em 1400, a população atingiu 15 mil habitantes</a:t>
            </a:r>
          </a:p>
          <a:p>
            <a:pPr marL="0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i="1" dirty="0">
                <a:solidFill>
                  <a:srgbClr val="FF0000"/>
                </a:solidFill>
              </a:rPr>
              <a:t>o consumo dos recursos foi maior do que a renovação</a:t>
            </a:r>
          </a:p>
          <a:p>
            <a:pPr marL="0" lvl="0" indent="0">
              <a:buNone/>
            </a:pPr>
            <a:r>
              <a:rPr lang="pt-BR" sz="2600" dirty="0">
                <a:sym typeface="Wingdings"/>
              </a:rPr>
              <a:t>	</a:t>
            </a:r>
            <a:r>
              <a:rPr lang="pt-BR" sz="4000" dirty="0">
                <a:sym typeface="Wingdings"/>
              </a:rPr>
              <a:t> </a:t>
            </a:r>
            <a:r>
              <a:rPr lang="pt-BR" sz="2600" dirty="0">
                <a:sym typeface="Wingdings"/>
              </a:rPr>
              <a:t>para manter o crescimento os líderes invocaram os deuses e construíram 300 enormes imagens em pedra (Moais)</a:t>
            </a:r>
            <a:endParaRPr lang="pt-BR" sz="4000" dirty="0">
              <a:sym typeface="Wingdings"/>
            </a:endParaRPr>
          </a:p>
          <a:p>
            <a:pPr marL="0" lvl="0" indent="0">
              <a:buNone/>
            </a:pPr>
            <a:r>
              <a:rPr lang="pt-BR" sz="4000" dirty="0">
                <a:sym typeface="Wingdings"/>
              </a:rPr>
              <a:t>		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308480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4" descr="http://msalx.mundoestranho.abril.com.br/2015/12/01/1625/Ecos0/ilha-de-pascoa-crescimento.jpeg?144899606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301" y="335911"/>
            <a:ext cx="8208912" cy="604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1767301" y="544653"/>
            <a:ext cx="5544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600" b="1" dirty="0"/>
              <a:t>Para a construção das imagens eles cortavam as maiores árvores para servir de plataforma e rolar as pedras nos troncos </a:t>
            </a:r>
            <a:endParaRPr lang="pt-BR" sz="4000" b="1" dirty="0">
              <a:sym typeface="Wingdings"/>
            </a:endParaRPr>
          </a:p>
          <a:p>
            <a:pPr marL="1076325" lvl="0" indent="-1076325"/>
            <a:r>
              <a:rPr lang="pt-BR" sz="4000" dirty="0">
                <a:solidFill>
                  <a:schemeClr val="bg1"/>
                </a:solidFill>
                <a:sym typeface="Wingdings"/>
              </a:rPr>
              <a:t>		</a:t>
            </a:r>
            <a:endParaRPr lang="pt-BR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338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5" name="Espaço Reservado para Conteúdo 4"/>
          <p:cNvSpPr txBox="1">
            <a:spLocks noGrp="1"/>
          </p:cNvSpPr>
          <p:nvPr>
            <p:ph idx="1"/>
          </p:nvPr>
        </p:nvSpPr>
        <p:spPr>
          <a:xfrm>
            <a:off x="1066800" y="2103120"/>
            <a:ext cx="10058400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pt-BR" sz="2600" dirty="0"/>
              <a:t>Com isso, eles esgotaram rapidamente as florestas</a:t>
            </a:r>
          </a:p>
          <a:p>
            <a:pPr marL="260033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dirty="0"/>
              <a:t>sem as árvores, eles não tinham mais lenha, não podiam mais construir as canoas para pescar, não podiam sair da ilha...</a:t>
            </a:r>
          </a:p>
          <a:p>
            <a:pPr marL="0" lvl="0" indent="0">
              <a:buNone/>
            </a:pPr>
            <a:r>
              <a:rPr lang="pt-BR" sz="2600" dirty="0">
                <a:sym typeface="Wingdings"/>
              </a:rPr>
              <a:t>	</a:t>
            </a:r>
            <a:r>
              <a:rPr lang="pt-BR" sz="4000" dirty="0">
                <a:sym typeface="Wingdings"/>
              </a:rPr>
              <a:t> </a:t>
            </a:r>
            <a:r>
              <a:rPr lang="pt-BR" sz="2600" dirty="0">
                <a:sym typeface="Wingdings"/>
              </a:rPr>
              <a:t>os solos expostos sofreram erosão e a produção das colheitas diminui</a:t>
            </a:r>
            <a:endParaRPr lang="pt-BR" sz="4000" dirty="0">
              <a:sym typeface="Wingdings"/>
            </a:endParaRPr>
          </a:p>
          <a:p>
            <a:pPr marL="1704658" lvl="0" indent="0">
              <a:buNone/>
            </a:pPr>
            <a:r>
              <a:rPr lang="pt-BR" sz="4000" dirty="0">
                <a:sym typeface="Wingdings"/>
              </a:rPr>
              <a:t></a:t>
            </a:r>
            <a:r>
              <a:rPr lang="pt-BR" sz="2600" dirty="0">
                <a:sym typeface="Wingdings"/>
              </a:rPr>
              <a:t>os habitantes comeram os pássaros e animais da ilha... 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21141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66800" y="1781631"/>
            <a:ext cx="10058400" cy="3931920"/>
          </a:xfrm>
        </p:spPr>
        <p:txBody>
          <a:bodyPr/>
          <a:lstStyle/>
          <a:p>
            <a:r>
              <a:rPr lang="pt-BR" dirty="0"/>
              <a:t>Quando os exploradores holandeses chegaram à ilha, no dia de Páscoa de 1722, eles acharam cerca de 2000 habitantes</a:t>
            </a:r>
          </a:p>
          <a:p>
            <a:r>
              <a:rPr lang="pt-BR" dirty="0"/>
              <a:t>É um exemplo de sustentabilidade?</a:t>
            </a:r>
          </a:p>
        </p:txBody>
      </p:sp>
      <p:pic>
        <p:nvPicPr>
          <p:cNvPr id="10" name="Picture 2" descr="http://www.mundointrigante.com.br/wp-content/uploads/2016/02/ilha-de-pascoa-cima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565" y="2839945"/>
            <a:ext cx="7214567" cy="366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reprova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90" y="1296895"/>
            <a:ext cx="5700115" cy="427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3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549317" y="4342269"/>
            <a:ext cx="84969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600" b="1" i="1" dirty="0"/>
              <a:t>A Terra é uma ilha isolada no universo</a:t>
            </a:r>
          </a:p>
          <a:p>
            <a:pPr lvl="0" algn="ctr"/>
            <a:endParaRPr lang="pt-BR" sz="2600" b="1" i="1" dirty="0"/>
          </a:p>
          <a:p>
            <a:pPr lvl="0" algn="ctr"/>
            <a:r>
              <a:rPr lang="pt-BR" sz="2600" dirty="0"/>
              <a:t>O futuro da Terra depende da </a:t>
            </a:r>
            <a:r>
              <a:rPr lang="pt-BR" sz="2600" b="1" i="1" dirty="0">
                <a:solidFill>
                  <a:srgbClr val="FFC000"/>
                </a:solidFill>
              </a:rPr>
              <a:t>sustentabilidade</a:t>
            </a:r>
            <a:r>
              <a:rPr lang="pt-BR" sz="2600" dirty="0"/>
              <a:t> - suprir as necessidades do presente sem afetar as gerações futuras</a:t>
            </a:r>
          </a:p>
        </p:txBody>
      </p:sp>
      <p:pic>
        <p:nvPicPr>
          <p:cNvPr id="5" name="Picture 6" descr="http://picview.info/download/20150319/earth-planet-stars-universe-outer-space-1600x12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752" y="1573659"/>
            <a:ext cx="3146799" cy="236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https://encrypted-tbn1.gstatic.com/images?q=tbn:ANd9GcSWjl2Pw7Qd3nEdeAg59JNJfsXH55DAQFVZgwZKdnDrN8Eow8sFV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583" y="1990657"/>
            <a:ext cx="3810000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00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F512F-D7E3-4F98-8337-A97D07A6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0E72D7-A6CE-4C81-8518-51F45CE39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238352" cy="3931920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9600" dirty="0"/>
              <a:t>REVISÃO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262B8C-C6C7-F5F8-5629-F8BA5B0C0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659" y="2214556"/>
            <a:ext cx="3673541" cy="382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3300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abão">
  <a:themeElements>
    <a:clrScheme name="Sabão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bão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bã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3013</TotalTime>
  <Words>914</Words>
  <Application>Microsoft Office PowerPoint</Application>
  <PresentationFormat>Widescreen</PresentationFormat>
  <Paragraphs>139</Paragraphs>
  <Slides>29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29</vt:i4>
      </vt:variant>
    </vt:vector>
  </HeadingPairs>
  <TitlesOfParts>
    <vt:vector size="40" baseType="lpstr">
      <vt:lpstr>Arial</vt:lpstr>
      <vt:lpstr>Arial MT</vt:lpstr>
      <vt:lpstr>Calibri</vt:lpstr>
      <vt:lpstr>Calibri Light</vt:lpstr>
      <vt:lpstr>Century Gothic</vt:lpstr>
      <vt:lpstr>Garamond</vt:lpstr>
      <vt:lpstr>Verdana</vt:lpstr>
      <vt:lpstr>Wingdings</vt:lpstr>
      <vt:lpstr>Wingdings 2</vt:lpstr>
      <vt:lpstr>HDOfficeLightV0</vt:lpstr>
      <vt:lpstr>Sabão</vt:lpstr>
      <vt:lpstr>Ciências Do ambiente</vt:lpstr>
      <vt:lpstr>Plano de Ensino e de Trabalho</vt:lpstr>
      <vt:lpstr>Avaliações</vt:lpstr>
      <vt:lpstr>Apresentação do PowerPoint</vt:lpstr>
      <vt:lpstr>Diagnóstica</vt:lpstr>
      <vt:lpstr>Introdução</vt:lpstr>
      <vt:lpstr>Introdução</vt:lpstr>
      <vt:lpstr>Ecologia</vt:lpstr>
      <vt:lpstr>Funções das espécies</vt:lpstr>
      <vt:lpstr>Como as espécies se tornam invasoras?</vt:lpstr>
      <vt:lpstr>Exemplos brasileiros</vt:lpstr>
      <vt:lpstr>Espécies indicadoras em comunidades:</vt:lpstr>
      <vt:lpstr>Dorymyrmex     ( + abundante) </vt:lpstr>
      <vt:lpstr>Apresentação do PowerPoint</vt:lpstr>
      <vt:lpstr>Exemplo do uso de espécie indicadora: besouros em florestas tropicais</vt:lpstr>
      <vt:lpstr>Espécies-chave:</vt:lpstr>
      <vt:lpstr>Apresentação do PowerPoint</vt:lpstr>
      <vt:lpstr>Apresentação do PowerPoint</vt:lpstr>
      <vt:lpstr>Definições importantes</vt:lpstr>
      <vt:lpstr>Largura do Nicho</vt:lpstr>
      <vt:lpstr>Largura do Nicho</vt:lpstr>
      <vt:lpstr>Estudo de caso</vt:lpstr>
      <vt:lpstr>Estudo de caso</vt:lpstr>
      <vt:lpstr>Estudo de caso</vt:lpstr>
      <vt:lpstr>Apresentação do PowerPoint</vt:lpstr>
      <vt:lpstr>Estudo de caso</vt:lpstr>
      <vt:lpstr>Estudo de caso</vt:lpstr>
      <vt:lpstr>Comparação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Ciências Do ambiente</dc:title>
  <dc:creator>Halison Correia Golias</dc:creator>
  <cp:lastModifiedBy>H</cp:lastModifiedBy>
  <cp:revision>56</cp:revision>
  <dcterms:created xsi:type="dcterms:W3CDTF">2019-08-13T11:25:51Z</dcterms:created>
  <dcterms:modified xsi:type="dcterms:W3CDTF">2025-03-18T12:10:24Z</dcterms:modified>
</cp:coreProperties>
</file>