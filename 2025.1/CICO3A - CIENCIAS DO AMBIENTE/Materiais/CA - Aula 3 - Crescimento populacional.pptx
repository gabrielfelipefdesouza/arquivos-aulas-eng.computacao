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1"/>
  </p:notesMasterIdLst>
  <p:sldIdLst>
    <p:sldId id="257" r:id="rId2"/>
    <p:sldId id="320" r:id="rId3"/>
    <p:sldId id="259" r:id="rId4"/>
    <p:sldId id="260" r:id="rId5"/>
    <p:sldId id="313" r:id="rId6"/>
    <p:sldId id="318" r:id="rId7"/>
    <p:sldId id="319" r:id="rId8"/>
    <p:sldId id="317" r:id="rId9"/>
    <p:sldId id="314" r:id="rId10"/>
    <p:sldId id="316" r:id="rId11"/>
    <p:sldId id="315" r:id="rId12"/>
    <p:sldId id="263" r:id="rId13"/>
    <p:sldId id="321" r:id="rId14"/>
    <p:sldId id="322" r:id="rId15"/>
    <p:sldId id="286" r:id="rId16"/>
    <p:sldId id="264" r:id="rId17"/>
    <p:sldId id="265" r:id="rId18"/>
    <p:sldId id="267" r:id="rId19"/>
    <p:sldId id="312" r:id="rId20"/>
    <p:sldId id="271" r:id="rId21"/>
    <p:sldId id="272" r:id="rId22"/>
    <p:sldId id="279" r:id="rId23"/>
    <p:sldId id="273" r:id="rId24"/>
    <p:sldId id="280" r:id="rId25"/>
    <p:sldId id="275" r:id="rId26"/>
    <p:sldId id="323" r:id="rId27"/>
    <p:sldId id="324" r:id="rId28"/>
    <p:sldId id="281" r:id="rId29"/>
    <p:sldId id="277" r:id="rId30"/>
    <p:sldId id="326" r:id="rId31"/>
    <p:sldId id="294" r:id="rId32"/>
    <p:sldId id="328" r:id="rId33"/>
    <p:sldId id="285" r:id="rId34"/>
    <p:sldId id="288" r:id="rId35"/>
    <p:sldId id="289" r:id="rId36"/>
    <p:sldId id="290" r:id="rId37"/>
    <p:sldId id="291" r:id="rId38"/>
    <p:sldId id="295" r:id="rId39"/>
    <p:sldId id="293" r:id="rId40"/>
    <p:sldId id="297" r:id="rId41"/>
    <p:sldId id="298" r:id="rId42"/>
    <p:sldId id="299" r:id="rId43"/>
    <p:sldId id="300" r:id="rId44"/>
    <p:sldId id="307" r:id="rId45"/>
    <p:sldId id="308" r:id="rId46"/>
    <p:sldId id="309" r:id="rId47"/>
    <p:sldId id="310" r:id="rId48"/>
    <p:sldId id="306" r:id="rId49"/>
    <p:sldId id="327" r:id="rId5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21" autoAdjust="0"/>
    <p:restoredTop sz="80915" autoAdjust="0"/>
  </p:normalViewPr>
  <p:slideViewPr>
    <p:cSldViewPr>
      <p:cViewPr varScale="1">
        <p:scale>
          <a:sx n="70" d="100"/>
          <a:sy n="70" d="100"/>
        </p:scale>
        <p:origin x="171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A50D11-CEDA-4C24-AC90-C52400141E78}" type="doc">
      <dgm:prSet loTypeId="urn:microsoft.com/office/officeart/2005/8/layout/hierarchy2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7E34EED5-7A0E-42E6-968B-4507425A62A0}">
      <dgm:prSet phldrT="[Texto]" custT="1"/>
      <dgm:spPr/>
      <dgm:t>
        <a:bodyPr/>
        <a:lstStyle/>
        <a:p>
          <a:r>
            <a:rPr lang="pt-BR" sz="2400" dirty="0"/>
            <a:t>Crescimento populacional humano</a:t>
          </a:r>
        </a:p>
      </dgm:t>
    </dgm:pt>
    <dgm:pt modelId="{ED0D94FB-B2BA-44AF-B4F4-3651864E928A}" type="parTrans" cxnId="{B7E479C6-E62A-4F59-AC65-939C82D23E76}">
      <dgm:prSet/>
      <dgm:spPr/>
      <dgm:t>
        <a:bodyPr/>
        <a:lstStyle/>
        <a:p>
          <a:endParaRPr lang="pt-BR"/>
        </a:p>
      </dgm:t>
    </dgm:pt>
    <dgm:pt modelId="{381374B2-F2A2-4D86-A12D-9A9D5D1DF9B4}" type="sibTrans" cxnId="{B7E479C6-E62A-4F59-AC65-939C82D23E76}">
      <dgm:prSet/>
      <dgm:spPr/>
      <dgm:t>
        <a:bodyPr/>
        <a:lstStyle/>
        <a:p>
          <a:endParaRPr lang="pt-BR"/>
        </a:p>
      </dgm:t>
    </dgm:pt>
    <dgm:pt modelId="{ACD4875D-ADC1-4383-93A4-6286884F44E5}">
      <dgm:prSet phldrT="[Texto]"/>
      <dgm:spPr/>
      <dgm:t>
        <a:bodyPr/>
        <a:lstStyle/>
        <a:p>
          <a:r>
            <a:rPr lang="pt-BR" dirty="0"/>
            <a:t>Os humanos se expandiram em quase todas as zonas climáticas e hábitats do planeta</a:t>
          </a:r>
        </a:p>
      </dgm:t>
    </dgm:pt>
    <dgm:pt modelId="{68958236-B2D0-487F-AC18-667181BA4D99}" type="parTrans" cxnId="{06989886-EBEA-4284-A09E-5238FCADBA8C}">
      <dgm:prSet/>
      <dgm:spPr/>
      <dgm:t>
        <a:bodyPr/>
        <a:lstStyle/>
        <a:p>
          <a:endParaRPr lang="pt-BR"/>
        </a:p>
      </dgm:t>
    </dgm:pt>
    <dgm:pt modelId="{CB74497F-0373-44E0-8D5F-CCCEBD76E7D1}" type="sibTrans" cxnId="{06989886-EBEA-4284-A09E-5238FCADBA8C}">
      <dgm:prSet/>
      <dgm:spPr/>
      <dgm:t>
        <a:bodyPr/>
        <a:lstStyle/>
        <a:p>
          <a:endParaRPr lang="pt-BR"/>
        </a:p>
      </dgm:t>
    </dgm:pt>
    <dgm:pt modelId="{F7A75FF1-B357-49D8-B73F-E8FFE29F16EE}">
      <dgm:prSet phldrT="[Texto]"/>
      <dgm:spPr/>
      <dgm:t>
        <a:bodyPr/>
        <a:lstStyle/>
        <a:p>
          <a:r>
            <a:rPr lang="pt-BR" dirty="0"/>
            <a:t>O desenvolvimento da agricultura permitiu que mais pessoas fossem alimentadas por unidade de terra</a:t>
          </a:r>
        </a:p>
      </dgm:t>
    </dgm:pt>
    <dgm:pt modelId="{39AD033C-5B59-4FC3-ACFD-AB94055F2ED2}" type="parTrans" cxnId="{662E4A78-29E4-4943-8B37-586D48109F1B}">
      <dgm:prSet/>
      <dgm:spPr/>
      <dgm:t>
        <a:bodyPr/>
        <a:lstStyle/>
        <a:p>
          <a:endParaRPr lang="pt-BR"/>
        </a:p>
      </dgm:t>
    </dgm:pt>
    <dgm:pt modelId="{59BBCF1B-9CE4-4244-B8A4-56437226BFED}" type="sibTrans" cxnId="{662E4A78-29E4-4943-8B37-586D48109F1B}">
      <dgm:prSet/>
      <dgm:spPr/>
      <dgm:t>
        <a:bodyPr/>
        <a:lstStyle/>
        <a:p>
          <a:endParaRPr lang="pt-BR"/>
        </a:p>
      </dgm:t>
    </dgm:pt>
    <dgm:pt modelId="{BF6F508F-FECF-4FCB-9EFC-18814FFC771F}">
      <dgm:prSet phldrT="[Texto]"/>
      <dgm:spPr/>
      <dgm:t>
        <a:bodyPr/>
        <a:lstStyle/>
        <a:p>
          <a:r>
            <a:rPr lang="pt-BR" dirty="0"/>
            <a:t>As taxas de mortalidade caíram drasticamente pelas boas condições sanitárias e avanços da medicina</a:t>
          </a:r>
        </a:p>
      </dgm:t>
    </dgm:pt>
    <dgm:pt modelId="{F8F79A69-9894-4FC6-9DAA-95F508AB391C}" type="parTrans" cxnId="{BDC2D489-FC12-4FF7-B414-1BCF56883154}">
      <dgm:prSet/>
      <dgm:spPr/>
      <dgm:t>
        <a:bodyPr/>
        <a:lstStyle/>
        <a:p>
          <a:endParaRPr lang="pt-BR"/>
        </a:p>
      </dgm:t>
    </dgm:pt>
    <dgm:pt modelId="{712F1FA4-7504-4DD0-9C31-708940AC244F}" type="sibTrans" cxnId="{BDC2D489-FC12-4FF7-B414-1BCF56883154}">
      <dgm:prSet/>
      <dgm:spPr/>
      <dgm:t>
        <a:bodyPr/>
        <a:lstStyle/>
        <a:p>
          <a:endParaRPr lang="pt-BR"/>
        </a:p>
      </dgm:t>
    </dgm:pt>
    <dgm:pt modelId="{CDF0973E-2988-406A-9C20-E12578CF431B}" type="pres">
      <dgm:prSet presAssocID="{97A50D11-CEDA-4C24-AC90-C52400141E7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17AA00B-6997-4BDB-B0F6-64402BA06107}" type="pres">
      <dgm:prSet presAssocID="{7E34EED5-7A0E-42E6-968B-4507425A62A0}" presName="root1" presStyleCnt="0"/>
      <dgm:spPr/>
    </dgm:pt>
    <dgm:pt modelId="{6319CF54-5C01-4771-AB53-A0862B3D99D7}" type="pres">
      <dgm:prSet presAssocID="{7E34EED5-7A0E-42E6-968B-4507425A62A0}" presName="LevelOneTextNode" presStyleLbl="node0" presStyleIdx="0" presStyleCnt="1" custScaleX="72126" custLinFactNeighborX="-11586" custLinFactNeighborY="-2037">
        <dgm:presLayoutVars>
          <dgm:chPref val="3"/>
        </dgm:presLayoutVars>
      </dgm:prSet>
      <dgm:spPr/>
    </dgm:pt>
    <dgm:pt modelId="{44E39C5A-07DD-4C3C-AAE3-9D9BEF0E935B}" type="pres">
      <dgm:prSet presAssocID="{7E34EED5-7A0E-42E6-968B-4507425A62A0}" presName="level2hierChild" presStyleCnt="0"/>
      <dgm:spPr/>
    </dgm:pt>
    <dgm:pt modelId="{B267150B-7B01-4027-9713-EC6A3DF5A748}" type="pres">
      <dgm:prSet presAssocID="{68958236-B2D0-487F-AC18-667181BA4D99}" presName="conn2-1" presStyleLbl="parChTrans1D2" presStyleIdx="0" presStyleCnt="3"/>
      <dgm:spPr/>
    </dgm:pt>
    <dgm:pt modelId="{150FFB6F-D78E-4445-BD85-FAF42CD90D3E}" type="pres">
      <dgm:prSet presAssocID="{68958236-B2D0-487F-AC18-667181BA4D99}" presName="connTx" presStyleLbl="parChTrans1D2" presStyleIdx="0" presStyleCnt="3"/>
      <dgm:spPr/>
    </dgm:pt>
    <dgm:pt modelId="{984C0ED3-D000-493B-9E76-232D86C0A86E}" type="pres">
      <dgm:prSet presAssocID="{ACD4875D-ADC1-4383-93A4-6286884F44E5}" presName="root2" presStyleCnt="0"/>
      <dgm:spPr/>
    </dgm:pt>
    <dgm:pt modelId="{E323B7E0-9368-4664-8DB2-1678B73E7D86}" type="pres">
      <dgm:prSet presAssocID="{ACD4875D-ADC1-4383-93A4-6286884F44E5}" presName="LevelTwoTextNode" presStyleLbl="node2" presStyleIdx="0" presStyleCnt="3">
        <dgm:presLayoutVars>
          <dgm:chPref val="3"/>
        </dgm:presLayoutVars>
      </dgm:prSet>
      <dgm:spPr/>
    </dgm:pt>
    <dgm:pt modelId="{7FC4B712-3A26-4151-B6B6-2D3067EC8429}" type="pres">
      <dgm:prSet presAssocID="{ACD4875D-ADC1-4383-93A4-6286884F44E5}" presName="level3hierChild" presStyleCnt="0"/>
      <dgm:spPr/>
    </dgm:pt>
    <dgm:pt modelId="{FC6B1C22-49CC-4B81-B387-A674848408BA}" type="pres">
      <dgm:prSet presAssocID="{39AD033C-5B59-4FC3-ACFD-AB94055F2ED2}" presName="conn2-1" presStyleLbl="parChTrans1D2" presStyleIdx="1" presStyleCnt="3"/>
      <dgm:spPr/>
    </dgm:pt>
    <dgm:pt modelId="{9B9D97D7-BB19-4BB9-B50B-69ED25825CC9}" type="pres">
      <dgm:prSet presAssocID="{39AD033C-5B59-4FC3-ACFD-AB94055F2ED2}" presName="connTx" presStyleLbl="parChTrans1D2" presStyleIdx="1" presStyleCnt="3"/>
      <dgm:spPr/>
    </dgm:pt>
    <dgm:pt modelId="{40906413-BD79-41F3-A7BF-B8ECC4CB7DD7}" type="pres">
      <dgm:prSet presAssocID="{F7A75FF1-B357-49D8-B73F-E8FFE29F16EE}" presName="root2" presStyleCnt="0"/>
      <dgm:spPr/>
    </dgm:pt>
    <dgm:pt modelId="{BDA5BA73-D37B-4806-AA3A-DA1C1F4F3D63}" type="pres">
      <dgm:prSet presAssocID="{F7A75FF1-B357-49D8-B73F-E8FFE29F16EE}" presName="LevelTwoTextNode" presStyleLbl="node2" presStyleIdx="1" presStyleCnt="3">
        <dgm:presLayoutVars>
          <dgm:chPref val="3"/>
        </dgm:presLayoutVars>
      </dgm:prSet>
      <dgm:spPr/>
    </dgm:pt>
    <dgm:pt modelId="{DD28AE99-9962-4C13-AE0E-4DF9A6DA24A7}" type="pres">
      <dgm:prSet presAssocID="{F7A75FF1-B357-49D8-B73F-E8FFE29F16EE}" presName="level3hierChild" presStyleCnt="0"/>
      <dgm:spPr/>
    </dgm:pt>
    <dgm:pt modelId="{14B54FA5-6F2C-47C3-9A52-911F478A4963}" type="pres">
      <dgm:prSet presAssocID="{F8F79A69-9894-4FC6-9DAA-95F508AB391C}" presName="conn2-1" presStyleLbl="parChTrans1D2" presStyleIdx="2" presStyleCnt="3"/>
      <dgm:spPr/>
    </dgm:pt>
    <dgm:pt modelId="{EDD13520-D1DC-405A-84A8-41B8A087CBE1}" type="pres">
      <dgm:prSet presAssocID="{F8F79A69-9894-4FC6-9DAA-95F508AB391C}" presName="connTx" presStyleLbl="parChTrans1D2" presStyleIdx="2" presStyleCnt="3"/>
      <dgm:spPr/>
    </dgm:pt>
    <dgm:pt modelId="{3F5945C1-8D43-42EF-9BD8-1CF7A27216C9}" type="pres">
      <dgm:prSet presAssocID="{BF6F508F-FECF-4FCB-9EFC-18814FFC771F}" presName="root2" presStyleCnt="0"/>
      <dgm:spPr/>
    </dgm:pt>
    <dgm:pt modelId="{C1610DB9-3189-417A-A84F-349315C49269}" type="pres">
      <dgm:prSet presAssocID="{BF6F508F-FECF-4FCB-9EFC-18814FFC771F}" presName="LevelTwoTextNode" presStyleLbl="node2" presStyleIdx="2" presStyleCnt="3">
        <dgm:presLayoutVars>
          <dgm:chPref val="3"/>
        </dgm:presLayoutVars>
      </dgm:prSet>
      <dgm:spPr/>
    </dgm:pt>
    <dgm:pt modelId="{45F0F35B-088A-4920-B047-A028C1A77F51}" type="pres">
      <dgm:prSet presAssocID="{BF6F508F-FECF-4FCB-9EFC-18814FFC771F}" presName="level3hierChild" presStyleCnt="0"/>
      <dgm:spPr/>
    </dgm:pt>
  </dgm:ptLst>
  <dgm:cxnLst>
    <dgm:cxn modelId="{ABB82111-0B78-44DF-88FD-E7EAB2E85419}" type="presOf" srcId="{F8F79A69-9894-4FC6-9DAA-95F508AB391C}" destId="{EDD13520-D1DC-405A-84A8-41B8A087CBE1}" srcOrd="1" destOrd="0" presId="urn:microsoft.com/office/officeart/2005/8/layout/hierarchy2"/>
    <dgm:cxn modelId="{BE0C9834-1E41-4E03-9A9D-C2EFCBBB1129}" type="presOf" srcId="{7E34EED5-7A0E-42E6-968B-4507425A62A0}" destId="{6319CF54-5C01-4771-AB53-A0862B3D99D7}" srcOrd="0" destOrd="0" presId="urn:microsoft.com/office/officeart/2005/8/layout/hierarchy2"/>
    <dgm:cxn modelId="{32AAD05D-6571-4486-8991-58BE1ED2D301}" type="presOf" srcId="{F7A75FF1-B357-49D8-B73F-E8FFE29F16EE}" destId="{BDA5BA73-D37B-4806-AA3A-DA1C1F4F3D63}" srcOrd="0" destOrd="0" presId="urn:microsoft.com/office/officeart/2005/8/layout/hierarchy2"/>
    <dgm:cxn modelId="{26EA264C-A37B-4B0D-BCFA-E7FD6244B4DB}" type="presOf" srcId="{F8F79A69-9894-4FC6-9DAA-95F508AB391C}" destId="{14B54FA5-6F2C-47C3-9A52-911F478A4963}" srcOrd="0" destOrd="0" presId="urn:microsoft.com/office/officeart/2005/8/layout/hierarchy2"/>
    <dgm:cxn modelId="{F8ED1850-24DD-4326-B185-50C8B3F422CA}" type="presOf" srcId="{68958236-B2D0-487F-AC18-667181BA4D99}" destId="{B267150B-7B01-4027-9713-EC6A3DF5A748}" srcOrd="0" destOrd="0" presId="urn:microsoft.com/office/officeart/2005/8/layout/hierarchy2"/>
    <dgm:cxn modelId="{0BC8AB77-3379-4A89-8531-496D5C38C73D}" type="presOf" srcId="{39AD033C-5B59-4FC3-ACFD-AB94055F2ED2}" destId="{FC6B1C22-49CC-4B81-B387-A674848408BA}" srcOrd="0" destOrd="0" presId="urn:microsoft.com/office/officeart/2005/8/layout/hierarchy2"/>
    <dgm:cxn modelId="{662E4A78-29E4-4943-8B37-586D48109F1B}" srcId="{7E34EED5-7A0E-42E6-968B-4507425A62A0}" destId="{F7A75FF1-B357-49D8-B73F-E8FFE29F16EE}" srcOrd="1" destOrd="0" parTransId="{39AD033C-5B59-4FC3-ACFD-AB94055F2ED2}" sibTransId="{59BBCF1B-9CE4-4244-B8A4-56437226BFED}"/>
    <dgm:cxn modelId="{05B70B83-4A41-49E2-A160-F21C053DDC5E}" type="presOf" srcId="{68958236-B2D0-487F-AC18-667181BA4D99}" destId="{150FFB6F-D78E-4445-BD85-FAF42CD90D3E}" srcOrd="1" destOrd="0" presId="urn:microsoft.com/office/officeart/2005/8/layout/hierarchy2"/>
    <dgm:cxn modelId="{06989886-EBEA-4284-A09E-5238FCADBA8C}" srcId="{7E34EED5-7A0E-42E6-968B-4507425A62A0}" destId="{ACD4875D-ADC1-4383-93A4-6286884F44E5}" srcOrd="0" destOrd="0" parTransId="{68958236-B2D0-487F-AC18-667181BA4D99}" sibTransId="{CB74497F-0373-44E0-8D5F-CCCEBD76E7D1}"/>
    <dgm:cxn modelId="{BDC2D489-FC12-4FF7-B414-1BCF56883154}" srcId="{7E34EED5-7A0E-42E6-968B-4507425A62A0}" destId="{BF6F508F-FECF-4FCB-9EFC-18814FFC771F}" srcOrd="2" destOrd="0" parTransId="{F8F79A69-9894-4FC6-9DAA-95F508AB391C}" sibTransId="{712F1FA4-7504-4DD0-9C31-708940AC244F}"/>
    <dgm:cxn modelId="{6AF8FE90-9C5E-46A7-B56C-5FF1F1B68C12}" type="presOf" srcId="{BF6F508F-FECF-4FCB-9EFC-18814FFC771F}" destId="{C1610DB9-3189-417A-A84F-349315C49269}" srcOrd="0" destOrd="0" presId="urn:microsoft.com/office/officeart/2005/8/layout/hierarchy2"/>
    <dgm:cxn modelId="{A6E87995-B78C-491B-9F0F-362DC0270544}" type="presOf" srcId="{39AD033C-5B59-4FC3-ACFD-AB94055F2ED2}" destId="{9B9D97D7-BB19-4BB9-B50B-69ED25825CC9}" srcOrd="1" destOrd="0" presId="urn:microsoft.com/office/officeart/2005/8/layout/hierarchy2"/>
    <dgm:cxn modelId="{71E7D8AD-5928-4349-A0E9-95325B1AC643}" type="presOf" srcId="{ACD4875D-ADC1-4383-93A4-6286884F44E5}" destId="{E323B7E0-9368-4664-8DB2-1678B73E7D86}" srcOrd="0" destOrd="0" presId="urn:microsoft.com/office/officeart/2005/8/layout/hierarchy2"/>
    <dgm:cxn modelId="{1B4CE5BB-8888-4023-A3B2-B0C2D5B6DA29}" type="presOf" srcId="{97A50D11-CEDA-4C24-AC90-C52400141E78}" destId="{CDF0973E-2988-406A-9C20-E12578CF431B}" srcOrd="0" destOrd="0" presId="urn:microsoft.com/office/officeart/2005/8/layout/hierarchy2"/>
    <dgm:cxn modelId="{B7E479C6-E62A-4F59-AC65-939C82D23E76}" srcId="{97A50D11-CEDA-4C24-AC90-C52400141E78}" destId="{7E34EED5-7A0E-42E6-968B-4507425A62A0}" srcOrd="0" destOrd="0" parTransId="{ED0D94FB-B2BA-44AF-B4F4-3651864E928A}" sibTransId="{381374B2-F2A2-4D86-A12D-9A9D5D1DF9B4}"/>
    <dgm:cxn modelId="{3C719DDC-BE51-4329-8040-4CE70AE1D54B}" type="presParOf" srcId="{CDF0973E-2988-406A-9C20-E12578CF431B}" destId="{D17AA00B-6997-4BDB-B0F6-64402BA06107}" srcOrd="0" destOrd="0" presId="urn:microsoft.com/office/officeart/2005/8/layout/hierarchy2"/>
    <dgm:cxn modelId="{7889829B-D227-4118-B961-F9DB330D4C28}" type="presParOf" srcId="{D17AA00B-6997-4BDB-B0F6-64402BA06107}" destId="{6319CF54-5C01-4771-AB53-A0862B3D99D7}" srcOrd="0" destOrd="0" presId="urn:microsoft.com/office/officeart/2005/8/layout/hierarchy2"/>
    <dgm:cxn modelId="{04A3154E-1B48-4248-B26B-2C5872A2559F}" type="presParOf" srcId="{D17AA00B-6997-4BDB-B0F6-64402BA06107}" destId="{44E39C5A-07DD-4C3C-AAE3-9D9BEF0E935B}" srcOrd="1" destOrd="0" presId="urn:microsoft.com/office/officeart/2005/8/layout/hierarchy2"/>
    <dgm:cxn modelId="{FC0F9C9A-2E8A-48A7-8671-B9A297A33AFA}" type="presParOf" srcId="{44E39C5A-07DD-4C3C-AAE3-9D9BEF0E935B}" destId="{B267150B-7B01-4027-9713-EC6A3DF5A748}" srcOrd="0" destOrd="0" presId="urn:microsoft.com/office/officeart/2005/8/layout/hierarchy2"/>
    <dgm:cxn modelId="{A9FF8A0F-D986-498E-A75A-8ECF383E05A3}" type="presParOf" srcId="{B267150B-7B01-4027-9713-EC6A3DF5A748}" destId="{150FFB6F-D78E-4445-BD85-FAF42CD90D3E}" srcOrd="0" destOrd="0" presId="urn:microsoft.com/office/officeart/2005/8/layout/hierarchy2"/>
    <dgm:cxn modelId="{4ACB6E7A-9ED9-48C0-B8D0-D96BC8A2357A}" type="presParOf" srcId="{44E39C5A-07DD-4C3C-AAE3-9D9BEF0E935B}" destId="{984C0ED3-D000-493B-9E76-232D86C0A86E}" srcOrd="1" destOrd="0" presId="urn:microsoft.com/office/officeart/2005/8/layout/hierarchy2"/>
    <dgm:cxn modelId="{D3F1622E-E73F-4D0C-A1A4-D73EBCEBA615}" type="presParOf" srcId="{984C0ED3-D000-493B-9E76-232D86C0A86E}" destId="{E323B7E0-9368-4664-8DB2-1678B73E7D86}" srcOrd="0" destOrd="0" presId="urn:microsoft.com/office/officeart/2005/8/layout/hierarchy2"/>
    <dgm:cxn modelId="{67CF02E2-E9AD-444B-9835-2B82D71332E8}" type="presParOf" srcId="{984C0ED3-D000-493B-9E76-232D86C0A86E}" destId="{7FC4B712-3A26-4151-B6B6-2D3067EC8429}" srcOrd="1" destOrd="0" presId="urn:microsoft.com/office/officeart/2005/8/layout/hierarchy2"/>
    <dgm:cxn modelId="{54DB7190-6588-472A-8ED1-DEC1BD295918}" type="presParOf" srcId="{44E39C5A-07DD-4C3C-AAE3-9D9BEF0E935B}" destId="{FC6B1C22-49CC-4B81-B387-A674848408BA}" srcOrd="2" destOrd="0" presId="urn:microsoft.com/office/officeart/2005/8/layout/hierarchy2"/>
    <dgm:cxn modelId="{E8B5AEAF-D0D9-47E5-91BB-76F1CBD0A3AD}" type="presParOf" srcId="{FC6B1C22-49CC-4B81-B387-A674848408BA}" destId="{9B9D97D7-BB19-4BB9-B50B-69ED25825CC9}" srcOrd="0" destOrd="0" presId="urn:microsoft.com/office/officeart/2005/8/layout/hierarchy2"/>
    <dgm:cxn modelId="{17EF6627-C5F4-4A17-BA9C-D509A0946D2C}" type="presParOf" srcId="{44E39C5A-07DD-4C3C-AAE3-9D9BEF0E935B}" destId="{40906413-BD79-41F3-A7BF-B8ECC4CB7DD7}" srcOrd="3" destOrd="0" presId="urn:microsoft.com/office/officeart/2005/8/layout/hierarchy2"/>
    <dgm:cxn modelId="{4864A52D-82E1-4E78-9DE4-0148E29B8D36}" type="presParOf" srcId="{40906413-BD79-41F3-A7BF-B8ECC4CB7DD7}" destId="{BDA5BA73-D37B-4806-AA3A-DA1C1F4F3D63}" srcOrd="0" destOrd="0" presId="urn:microsoft.com/office/officeart/2005/8/layout/hierarchy2"/>
    <dgm:cxn modelId="{8A1C528D-F4AF-462A-AEE0-476775143418}" type="presParOf" srcId="{40906413-BD79-41F3-A7BF-B8ECC4CB7DD7}" destId="{DD28AE99-9962-4C13-AE0E-4DF9A6DA24A7}" srcOrd="1" destOrd="0" presId="urn:microsoft.com/office/officeart/2005/8/layout/hierarchy2"/>
    <dgm:cxn modelId="{1C878201-0707-4A3D-B289-0B31B6C2AE10}" type="presParOf" srcId="{44E39C5A-07DD-4C3C-AAE3-9D9BEF0E935B}" destId="{14B54FA5-6F2C-47C3-9A52-911F478A4963}" srcOrd="4" destOrd="0" presId="urn:microsoft.com/office/officeart/2005/8/layout/hierarchy2"/>
    <dgm:cxn modelId="{1DD51E58-AC55-4DA4-847E-D151D8002ACB}" type="presParOf" srcId="{14B54FA5-6F2C-47C3-9A52-911F478A4963}" destId="{EDD13520-D1DC-405A-84A8-41B8A087CBE1}" srcOrd="0" destOrd="0" presId="urn:microsoft.com/office/officeart/2005/8/layout/hierarchy2"/>
    <dgm:cxn modelId="{2D2D0777-3E47-4FD1-83C1-19A8D8A942EC}" type="presParOf" srcId="{44E39C5A-07DD-4C3C-AAE3-9D9BEF0E935B}" destId="{3F5945C1-8D43-42EF-9BD8-1CF7A27216C9}" srcOrd="5" destOrd="0" presId="urn:microsoft.com/office/officeart/2005/8/layout/hierarchy2"/>
    <dgm:cxn modelId="{998F3EE3-F125-4C19-B806-BFDD4AAD963C}" type="presParOf" srcId="{3F5945C1-8D43-42EF-9BD8-1CF7A27216C9}" destId="{C1610DB9-3189-417A-A84F-349315C49269}" srcOrd="0" destOrd="0" presId="urn:microsoft.com/office/officeart/2005/8/layout/hierarchy2"/>
    <dgm:cxn modelId="{6A48405B-8BF4-48EF-BFF6-0F07584EB801}" type="presParOf" srcId="{3F5945C1-8D43-42EF-9BD8-1CF7A27216C9}" destId="{45F0F35B-088A-4920-B047-A028C1A77F5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A1B72E-EAC3-4349-830B-B926835A87C4}" type="doc">
      <dgm:prSet loTypeId="urn:microsoft.com/office/officeart/2005/8/layout/radial5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6904C2FB-94CF-4F77-B121-47BEFF02DACC}">
      <dgm:prSet phldrT="[Texto]" custT="1"/>
      <dgm:spPr/>
      <dgm:t>
        <a:bodyPr/>
        <a:lstStyle/>
        <a:p>
          <a:r>
            <a:rPr lang="pt-BR" sz="3000" dirty="0"/>
            <a:t>População</a:t>
          </a:r>
        </a:p>
      </dgm:t>
    </dgm:pt>
    <dgm:pt modelId="{05768D4D-9974-481D-9841-9399BCFC3241}" type="parTrans" cxnId="{CBB870A7-46AA-4B4C-8549-A6D950EF681C}">
      <dgm:prSet/>
      <dgm:spPr/>
      <dgm:t>
        <a:bodyPr/>
        <a:lstStyle/>
        <a:p>
          <a:endParaRPr lang="pt-BR" sz="3000"/>
        </a:p>
      </dgm:t>
    </dgm:pt>
    <dgm:pt modelId="{44EE0015-F829-44F8-9B66-0032D3C332EE}" type="sibTrans" cxnId="{CBB870A7-46AA-4B4C-8549-A6D950EF681C}">
      <dgm:prSet/>
      <dgm:spPr/>
      <dgm:t>
        <a:bodyPr/>
        <a:lstStyle/>
        <a:p>
          <a:endParaRPr lang="pt-BR" sz="3000"/>
        </a:p>
      </dgm:t>
    </dgm:pt>
    <dgm:pt modelId="{A2B2563E-0324-41D5-A5B7-90FF43DDD39B}">
      <dgm:prSet phldrT="[Texto]" custT="1"/>
      <dgm:spPr/>
      <dgm:t>
        <a:bodyPr/>
        <a:lstStyle/>
        <a:p>
          <a:r>
            <a:rPr lang="pt-BR" sz="3000" dirty="0"/>
            <a:t>Natalidade </a:t>
          </a:r>
        </a:p>
      </dgm:t>
    </dgm:pt>
    <dgm:pt modelId="{96FA9F8D-F418-4A7E-80FC-D92369BC6CC5}" type="parTrans" cxnId="{74784909-CFC8-4F53-A8EB-C8AFCA43BD6F}">
      <dgm:prSet custT="1"/>
      <dgm:spPr/>
      <dgm:t>
        <a:bodyPr/>
        <a:lstStyle/>
        <a:p>
          <a:endParaRPr lang="pt-BR" sz="3000"/>
        </a:p>
      </dgm:t>
    </dgm:pt>
    <dgm:pt modelId="{91FB9BD6-B6CE-427B-9E24-DF276E9CB9F6}" type="sibTrans" cxnId="{74784909-CFC8-4F53-A8EB-C8AFCA43BD6F}">
      <dgm:prSet/>
      <dgm:spPr/>
      <dgm:t>
        <a:bodyPr/>
        <a:lstStyle/>
        <a:p>
          <a:endParaRPr lang="pt-BR" sz="3000"/>
        </a:p>
      </dgm:t>
    </dgm:pt>
    <dgm:pt modelId="{EE122C58-D98E-479F-A648-0FC63AF8843A}">
      <dgm:prSet phldrT="[Texto]" custT="1"/>
      <dgm:spPr/>
      <dgm:t>
        <a:bodyPr/>
        <a:lstStyle/>
        <a:p>
          <a:r>
            <a:rPr lang="pt-BR" sz="3000" dirty="0"/>
            <a:t>Imigração</a:t>
          </a:r>
        </a:p>
      </dgm:t>
    </dgm:pt>
    <dgm:pt modelId="{27E64062-4225-4C1D-988D-624B02744248}" type="parTrans" cxnId="{BB79F832-0AB7-40EC-A611-EDF37C2522F5}">
      <dgm:prSet custT="1"/>
      <dgm:spPr/>
      <dgm:t>
        <a:bodyPr/>
        <a:lstStyle/>
        <a:p>
          <a:endParaRPr lang="pt-BR" sz="3000"/>
        </a:p>
      </dgm:t>
    </dgm:pt>
    <dgm:pt modelId="{16D48C1A-EDAD-4491-84CB-C4EB394E8A85}" type="sibTrans" cxnId="{BB79F832-0AB7-40EC-A611-EDF37C2522F5}">
      <dgm:prSet/>
      <dgm:spPr/>
      <dgm:t>
        <a:bodyPr/>
        <a:lstStyle/>
        <a:p>
          <a:endParaRPr lang="pt-BR" sz="3000"/>
        </a:p>
      </dgm:t>
    </dgm:pt>
    <dgm:pt modelId="{8370E7AD-99CF-47A7-A7D8-64D1B495812A}">
      <dgm:prSet phldrT="[Texto]" custT="1"/>
      <dgm:spPr/>
      <dgm:t>
        <a:bodyPr/>
        <a:lstStyle/>
        <a:p>
          <a:r>
            <a:rPr lang="pt-BR" sz="3000" dirty="0"/>
            <a:t>Mortalidade</a:t>
          </a:r>
        </a:p>
      </dgm:t>
    </dgm:pt>
    <dgm:pt modelId="{3CDE2971-6CE2-4CF8-BBF7-08C231E6A597}" type="parTrans" cxnId="{241D462A-2AB4-47F3-9BAD-47B4405F7715}">
      <dgm:prSet custT="1"/>
      <dgm:spPr/>
      <dgm:t>
        <a:bodyPr/>
        <a:lstStyle/>
        <a:p>
          <a:endParaRPr lang="pt-BR" sz="3000"/>
        </a:p>
      </dgm:t>
    </dgm:pt>
    <dgm:pt modelId="{A12359D0-B411-4149-B864-EEBE6844BCDA}" type="sibTrans" cxnId="{241D462A-2AB4-47F3-9BAD-47B4405F7715}">
      <dgm:prSet/>
      <dgm:spPr/>
      <dgm:t>
        <a:bodyPr/>
        <a:lstStyle/>
        <a:p>
          <a:endParaRPr lang="pt-BR" sz="3000"/>
        </a:p>
      </dgm:t>
    </dgm:pt>
    <dgm:pt modelId="{A54EC38F-C128-4276-9E3C-4271CA36B70F}">
      <dgm:prSet phldrT="[Texto]" custT="1"/>
      <dgm:spPr/>
      <dgm:t>
        <a:bodyPr/>
        <a:lstStyle/>
        <a:p>
          <a:r>
            <a:rPr lang="pt-BR" sz="3000" dirty="0"/>
            <a:t>Emigração</a:t>
          </a:r>
        </a:p>
      </dgm:t>
    </dgm:pt>
    <dgm:pt modelId="{22FDFD9D-8E44-4671-A1BE-B6AA258D1685}" type="parTrans" cxnId="{7EAFCF12-DC35-4791-B2A8-5D666903D6EA}">
      <dgm:prSet custT="1"/>
      <dgm:spPr/>
      <dgm:t>
        <a:bodyPr/>
        <a:lstStyle/>
        <a:p>
          <a:endParaRPr lang="pt-BR" sz="3000"/>
        </a:p>
      </dgm:t>
    </dgm:pt>
    <dgm:pt modelId="{BB24FB26-EC26-4506-BD75-EBFE233742E4}" type="sibTrans" cxnId="{7EAFCF12-DC35-4791-B2A8-5D666903D6EA}">
      <dgm:prSet/>
      <dgm:spPr/>
      <dgm:t>
        <a:bodyPr/>
        <a:lstStyle/>
        <a:p>
          <a:endParaRPr lang="pt-BR" sz="3000"/>
        </a:p>
      </dgm:t>
    </dgm:pt>
    <dgm:pt modelId="{B373E8B1-65BA-40DA-8683-05DBF77ECD64}" type="pres">
      <dgm:prSet presAssocID="{20A1B72E-EAC3-4349-830B-B926835A87C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E9441AC-1716-4586-BE33-79D7A22385ED}" type="pres">
      <dgm:prSet presAssocID="{6904C2FB-94CF-4F77-B121-47BEFF02DACC}" presName="centerShape" presStyleLbl="node0" presStyleIdx="0" presStyleCnt="1" custScaleX="243764" custScaleY="89314" custLinFactNeighborX="5706"/>
      <dgm:spPr/>
    </dgm:pt>
    <dgm:pt modelId="{6F5C63B2-A0A1-41F5-8F4F-F0F96E55F2C3}" type="pres">
      <dgm:prSet presAssocID="{96FA9F8D-F418-4A7E-80FC-D92369BC6CC5}" presName="parTrans" presStyleLbl="sibTrans2D1" presStyleIdx="0" presStyleCnt="4"/>
      <dgm:spPr/>
    </dgm:pt>
    <dgm:pt modelId="{42C372BF-DCDD-465F-BBC0-66F4E95C557F}" type="pres">
      <dgm:prSet presAssocID="{96FA9F8D-F418-4A7E-80FC-D92369BC6CC5}" presName="connectorText" presStyleLbl="sibTrans2D1" presStyleIdx="0" presStyleCnt="4"/>
      <dgm:spPr/>
    </dgm:pt>
    <dgm:pt modelId="{C793986E-93C3-4115-8AA3-BB58DEAD60C9}" type="pres">
      <dgm:prSet presAssocID="{A2B2563E-0324-41D5-A5B7-90FF43DDD39B}" presName="node" presStyleLbl="node1" presStyleIdx="0" presStyleCnt="4" custScaleX="217519" custScaleY="89314" custRadScaleRad="100335" custRadScaleInc="10396">
        <dgm:presLayoutVars>
          <dgm:bulletEnabled val="1"/>
        </dgm:presLayoutVars>
      </dgm:prSet>
      <dgm:spPr/>
    </dgm:pt>
    <dgm:pt modelId="{16621BEA-AB19-4E5A-A625-6766624182B0}" type="pres">
      <dgm:prSet presAssocID="{27E64062-4225-4C1D-988D-624B02744248}" presName="parTrans" presStyleLbl="sibTrans2D1" presStyleIdx="1" presStyleCnt="4"/>
      <dgm:spPr/>
    </dgm:pt>
    <dgm:pt modelId="{0C000630-87BF-4DFA-92E2-ED68EBD40A6F}" type="pres">
      <dgm:prSet presAssocID="{27E64062-4225-4C1D-988D-624B02744248}" presName="connectorText" presStyleLbl="sibTrans2D1" presStyleIdx="1" presStyleCnt="4"/>
      <dgm:spPr/>
    </dgm:pt>
    <dgm:pt modelId="{4BACEE52-0CED-4A2B-9F48-C57F6579CD17}" type="pres">
      <dgm:prSet presAssocID="{EE122C58-D98E-479F-A648-0FC63AF8843A}" presName="node" presStyleLbl="node1" presStyleIdx="1" presStyleCnt="4" custScaleX="197039" custScaleY="89314" custRadScaleRad="187399" custRadScaleInc="-2780">
        <dgm:presLayoutVars>
          <dgm:bulletEnabled val="1"/>
        </dgm:presLayoutVars>
      </dgm:prSet>
      <dgm:spPr/>
    </dgm:pt>
    <dgm:pt modelId="{0194CA05-43D9-4764-B60B-96A8CD1B06BD}" type="pres">
      <dgm:prSet presAssocID="{3CDE2971-6CE2-4CF8-BBF7-08C231E6A597}" presName="parTrans" presStyleLbl="sibTrans2D1" presStyleIdx="2" presStyleCnt="4"/>
      <dgm:spPr/>
    </dgm:pt>
    <dgm:pt modelId="{3135A09F-594D-4A91-A0ED-F8D111990955}" type="pres">
      <dgm:prSet presAssocID="{3CDE2971-6CE2-4CF8-BBF7-08C231E6A597}" presName="connectorText" presStyleLbl="sibTrans2D1" presStyleIdx="2" presStyleCnt="4"/>
      <dgm:spPr/>
    </dgm:pt>
    <dgm:pt modelId="{74A85B0A-2781-40EF-AD3B-5A4D78F5775B}" type="pres">
      <dgm:prSet presAssocID="{8370E7AD-99CF-47A7-A7D8-64D1B495812A}" presName="node" presStyleLbl="node1" presStyleIdx="2" presStyleCnt="4" custScaleX="240416" custScaleY="89314" custRadScaleRad="100751" custRadScaleInc="-15551">
        <dgm:presLayoutVars>
          <dgm:bulletEnabled val="1"/>
        </dgm:presLayoutVars>
      </dgm:prSet>
      <dgm:spPr/>
    </dgm:pt>
    <dgm:pt modelId="{B0C7987F-650E-4BE0-81E2-1FF583563056}" type="pres">
      <dgm:prSet presAssocID="{22FDFD9D-8E44-4671-A1BE-B6AA258D1685}" presName="parTrans" presStyleLbl="sibTrans2D1" presStyleIdx="3" presStyleCnt="4"/>
      <dgm:spPr/>
    </dgm:pt>
    <dgm:pt modelId="{4F24F35E-88BC-40C3-8C3E-BC86F17D39D2}" type="pres">
      <dgm:prSet presAssocID="{22FDFD9D-8E44-4671-A1BE-B6AA258D1685}" presName="connectorText" presStyleLbl="sibTrans2D1" presStyleIdx="3" presStyleCnt="4"/>
      <dgm:spPr/>
    </dgm:pt>
    <dgm:pt modelId="{6299B144-734E-436D-BAA1-CE1C0F71E256}" type="pres">
      <dgm:prSet presAssocID="{A54EC38F-C128-4276-9E3C-4271CA36B70F}" presName="node" presStyleLbl="node1" presStyleIdx="3" presStyleCnt="4" custScaleX="248477" custScaleY="89314" custRadScaleRad="162804">
        <dgm:presLayoutVars>
          <dgm:bulletEnabled val="1"/>
        </dgm:presLayoutVars>
      </dgm:prSet>
      <dgm:spPr/>
    </dgm:pt>
  </dgm:ptLst>
  <dgm:cxnLst>
    <dgm:cxn modelId="{EF8AE706-E7AA-44AF-BC95-1BD50C108ED8}" type="presOf" srcId="{27E64062-4225-4C1D-988D-624B02744248}" destId="{0C000630-87BF-4DFA-92E2-ED68EBD40A6F}" srcOrd="1" destOrd="0" presId="urn:microsoft.com/office/officeart/2005/8/layout/radial5"/>
    <dgm:cxn modelId="{74784909-CFC8-4F53-A8EB-C8AFCA43BD6F}" srcId="{6904C2FB-94CF-4F77-B121-47BEFF02DACC}" destId="{A2B2563E-0324-41D5-A5B7-90FF43DDD39B}" srcOrd="0" destOrd="0" parTransId="{96FA9F8D-F418-4A7E-80FC-D92369BC6CC5}" sibTransId="{91FB9BD6-B6CE-427B-9E24-DF276E9CB9F6}"/>
    <dgm:cxn modelId="{7EAFCF12-DC35-4791-B2A8-5D666903D6EA}" srcId="{6904C2FB-94CF-4F77-B121-47BEFF02DACC}" destId="{A54EC38F-C128-4276-9E3C-4271CA36B70F}" srcOrd="3" destOrd="0" parTransId="{22FDFD9D-8E44-4671-A1BE-B6AA258D1685}" sibTransId="{BB24FB26-EC26-4506-BD75-EBFE233742E4}"/>
    <dgm:cxn modelId="{1BB4DD26-DE5F-4832-8269-E757C0FC5474}" type="presOf" srcId="{20A1B72E-EAC3-4349-830B-B926835A87C4}" destId="{B373E8B1-65BA-40DA-8683-05DBF77ECD64}" srcOrd="0" destOrd="0" presId="urn:microsoft.com/office/officeart/2005/8/layout/radial5"/>
    <dgm:cxn modelId="{BA363327-E009-4FA8-A42B-3A3083CF6C74}" type="presOf" srcId="{3CDE2971-6CE2-4CF8-BBF7-08C231E6A597}" destId="{0194CA05-43D9-4764-B60B-96A8CD1B06BD}" srcOrd="0" destOrd="0" presId="urn:microsoft.com/office/officeart/2005/8/layout/radial5"/>
    <dgm:cxn modelId="{241D462A-2AB4-47F3-9BAD-47B4405F7715}" srcId="{6904C2FB-94CF-4F77-B121-47BEFF02DACC}" destId="{8370E7AD-99CF-47A7-A7D8-64D1B495812A}" srcOrd="2" destOrd="0" parTransId="{3CDE2971-6CE2-4CF8-BBF7-08C231E6A597}" sibTransId="{A12359D0-B411-4149-B864-EEBE6844BCDA}"/>
    <dgm:cxn modelId="{BB79F832-0AB7-40EC-A611-EDF37C2522F5}" srcId="{6904C2FB-94CF-4F77-B121-47BEFF02DACC}" destId="{EE122C58-D98E-479F-A648-0FC63AF8843A}" srcOrd="1" destOrd="0" parTransId="{27E64062-4225-4C1D-988D-624B02744248}" sibTransId="{16D48C1A-EDAD-4491-84CB-C4EB394E8A85}"/>
    <dgm:cxn modelId="{E229F936-5385-4F07-A04A-87182EFA2C49}" type="presOf" srcId="{8370E7AD-99CF-47A7-A7D8-64D1B495812A}" destId="{74A85B0A-2781-40EF-AD3B-5A4D78F5775B}" srcOrd="0" destOrd="0" presId="urn:microsoft.com/office/officeart/2005/8/layout/radial5"/>
    <dgm:cxn modelId="{4857C743-06B9-4339-AB3A-DEEA1FF579BA}" type="presOf" srcId="{96FA9F8D-F418-4A7E-80FC-D92369BC6CC5}" destId="{42C372BF-DCDD-465F-BBC0-66F4E95C557F}" srcOrd="1" destOrd="0" presId="urn:microsoft.com/office/officeart/2005/8/layout/radial5"/>
    <dgm:cxn modelId="{5AEF146B-76FE-4AD9-966B-C320F52EBEEA}" type="presOf" srcId="{27E64062-4225-4C1D-988D-624B02744248}" destId="{16621BEA-AB19-4E5A-A625-6766624182B0}" srcOrd="0" destOrd="0" presId="urn:microsoft.com/office/officeart/2005/8/layout/radial5"/>
    <dgm:cxn modelId="{C13EDF53-C292-48F1-B2B9-3B93CAD4F8BA}" type="presOf" srcId="{22FDFD9D-8E44-4671-A1BE-B6AA258D1685}" destId="{4F24F35E-88BC-40C3-8C3E-BC86F17D39D2}" srcOrd="1" destOrd="0" presId="urn:microsoft.com/office/officeart/2005/8/layout/radial5"/>
    <dgm:cxn modelId="{64607654-0729-4A16-AE12-A12DB34BE6B6}" type="presOf" srcId="{A2B2563E-0324-41D5-A5B7-90FF43DDD39B}" destId="{C793986E-93C3-4115-8AA3-BB58DEAD60C9}" srcOrd="0" destOrd="0" presId="urn:microsoft.com/office/officeart/2005/8/layout/radial5"/>
    <dgm:cxn modelId="{1FFD4B95-A878-4F1B-9BBD-96104A5CD20D}" type="presOf" srcId="{6904C2FB-94CF-4F77-B121-47BEFF02DACC}" destId="{2E9441AC-1716-4586-BE33-79D7A22385ED}" srcOrd="0" destOrd="0" presId="urn:microsoft.com/office/officeart/2005/8/layout/radial5"/>
    <dgm:cxn modelId="{CBB870A7-46AA-4B4C-8549-A6D950EF681C}" srcId="{20A1B72E-EAC3-4349-830B-B926835A87C4}" destId="{6904C2FB-94CF-4F77-B121-47BEFF02DACC}" srcOrd="0" destOrd="0" parTransId="{05768D4D-9974-481D-9841-9399BCFC3241}" sibTransId="{44EE0015-F829-44F8-9B66-0032D3C332EE}"/>
    <dgm:cxn modelId="{C0AE99A9-49A8-4C2F-91CC-D876B9CEADFC}" type="presOf" srcId="{3CDE2971-6CE2-4CF8-BBF7-08C231E6A597}" destId="{3135A09F-594D-4A91-A0ED-F8D111990955}" srcOrd="1" destOrd="0" presId="urn:microsoft.com/office/officeart/2005/8/layout/radial5"/>
    <dgm:cxn modelId="{D16FF3C3-679D-4A33-BDD0-110B81038CB6}" type="presOf" srcId="{A54EC38F-C128-4276-9E3C-4271CA36B70F}" destId="{6299B144-734E-436D-BAA1-CE1C0F71E256}" srcOrd="0" destOrd="0" presId="urn:microsoft.com/office/officeart/2005/8/layout/radial5"/>
    <dgm:cxn modelId="{567C70C4-069A-4D90-971F-07D914AF181D}" type="presOf" srcId="{EE122C58-D98E-479F-A648-0FC63AF8843A}" destId="{4BACEE52-0CED-4A2B-9F48-C57F6579CD17}" srcOrd="0" destOrd="0" presId="urn:microsoft.com/office/officeart/2005/8/layout/radial5"/>
    <dgm:cxn modelId="{A74B99E8-AD79-4715-A8C5-2AAFF61E6D68}" type="presOf" srcId="{22FDFD9D-8E44-4671-A1BE-B6AA258D1685}" destId="{B0C7987F-650E-4BE0-81E2-1FF583563056}" srcOrd="0" destOrd="0" presId="urn:microsoft.com/office/officeart/2005/8/layout/radial5"/>
    <dgm:cxn modelId="{0AE98AF7-CF48-4C85-BCE5-7511645B5FCF}" type="presOf" srcId="{96FA9F8D-F418-4A7E-80FC-D92369BC6CC5}" destId="{6F5C63B2-A0A1-41F5-8F4F-F0F96E55F2C3}" srcOrd="0" destOrd="0" presId="urn:microsoft.com/office/officeart/2005/8/layout/radial5"/>
    <dgm:cxn modelId="{6E1CB4CF-AAE1-4A95-9CD0-06E63C26BC98}" type="presParOf" srcId="{B373E8B1-65BA-40DA-8683-05DBF77ECD64}" destId="{2E9441AC-1716-4586-BE33-79D7A22385ED}" srcOrd="0" destOrd="0" presId="urn:microsoft.com/office/officeart/2005/8/layout/radial5"/>
    <dgm:cxn modelId="{E216194A-345A-48E3-A6E4-2E164D103E7F}" type="presParOf" srcId="{B373E8B1-65BA-40DA-8683-05DBF77ECD64}" destId="{6F5C63B2-A0A1-41F5-8F4F-F0F96E55F2C3}" srcOrd="1" destOrd="0" presId="urn:microsoft.com/office/officeart/2005/8/layout/radial5"/>
    <dgm:cxn modelId="{C25257D2-D033-4E47-B20C-2412ADB2429A}" type="presParOf" srcId="{6F5C63B2-A0A1-41F5-8F4F-F0F96E55F2C3}" destId="{42C372BF-DCDD-465F-BBC0-66F4E95C557F}" srcOrd="0" destOrd="0" presId="urn:microsoft.com/office/officeart/2005/8/layout/radial5"/>
    <dgm:cxn modelId="{B93559FF-F794-488E-B7F2-2A5407C72DEE}" type="presParOf" srcId="{B373E8B1-65BA-40DA-8683-05DBF77ECD64}" destId="{C793986E-93C3-4115-8AA3-BB58DEAD60C9}" srcOrd="2" destOrd="0" presId="urn:microsoft.com/office/officeart/2005/8/layout/radial5"/>
    <dgm:cxn modelId="{9A6E2FD8-8F5E-4159-A387-2FC2300A9EB1}" type="presParOf" srcId="{B373E8B1-65BA-40DA-8683-05DBF77ECD64}" destId="{16621BEA-AB19-4E5A-A625-6766624182B0}" srcOrd="3" destOrd="0" presId="urn:microsoft.com/office/officeart/2005/8/layout/radial5"/>
    <dgm:cxn modelId="{E03AEC2A-CCAA-4018-814E-FA103AE97653}" type="presParOf" srcId="{16621BEA-AB19-4E5A-A625-6766624182B0}" destId="{0C000630-87BF-4DFA-92E2-ED68EBD40A6F}" srcOrd="0" destOrd="0" presId="urn:microsoft.com/office/officeart/2005/8/layout/radial5"/>
    <dgm:cxn modelId="{7F7312AD-9663-4874-9344-8B97986791C6}" type="presParOf" srcId="{B373E8B1-65BA-40DA-8683-05DBF77ECD64}" destId="{4BACEE52-0CED-4A2B-9F48-C57F6579CD17}" srcOrd="4" destOrd="0" presId="urn:microsoft.com/office/officeart/2005/8/layout/radial5"/>
    <dgm:cxn modelId="{EC28606A-388E-463B-A32E-A296D4A3E37B}" type="presParOf" srcId="{B373E8B1-65BA-40DA-8683-05DBF77ECD64}" destId="{0194CA05-43D9-4764-B60B-96A8CD1B06BD}" srcOrd="5" destOrd="0" presId="urn:microsoft.com/office/officeart/2005/8/layout/radial5"/>
    <dgm:cxn modelId="{C2165DB6-C814-47BF-9C4F-9BE1F746AC30}" type="presParOf" srcId="{0194CA05-43D9-4764-B60B-96A8CD1B06BD}" destId="{3135A09F-594D-4A91-A0ED-F8D111990955}" srcOrd="0" destOrd="0" presId="urn:microsoft.com/office/officeart/2005/8/layout/radial5"/>
    <dgm:cxn modelId="{CD6CF945-E51E-437E-B2B6-FBEBDF4A2921}" type="presParOf" srcId="{B373E8B1-65BA-40DA-8683-05DBF77ECD64}" destId="{74A85B0A-2781-40EF-AD3B-5A4D78F5775B}" srcOrd="6" destOrd="0" presId="urn:microsoft.com/office/officeart/2005/8/layout/radial5"/>
    <dgm:cxn modelId="{C2AB6369-683F-413F-86EB-8A81B0CE179D}" type="presParOf" srcId="{B373E8B1-65BA-40DA-8683-05DBF77ECD64}" destId="{B0C7987F-650E-4BE0-81E2-1FF583563056}" srcOrd="7" destOrd="0" presId="urn:microsoft.com/office/officeart/2005/8/layout/radial5"/>
    <dgm:cxn modelId="{E44ECBA2-D424-49AD-B60D-7902EB254D4D}" type="presParOf" srcId="{B0C7987F-650E-4BE0-81E2-1FF583563056}" destId="{4F24F35E-88BC-40C3-8C3E-BC86F17D39D2}" srcOrd="0" destOrd="0" presId="urn:microsoft.com/office/officeart/2005/8/layout/radial5"/>
    <dgm:cxn modelId="{5AE620FF-02B4-4429-96EE-44D86E7EC913}" type="presParOf" srcId="{B373E8B1-65BA-40DA-8683-05DBF77ECD64}" destId="{6299B144-734E-436D-BAA1-CE1C0F71E256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8685A5-C605-4184-A563-F3AD49B5A852}" type="doc">
      <dgm:prSet loTypeId="urn:microsoft.com/office/officeart/2008/layout/RadialCluster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6F08D2E4-EBA7-49E6-9ABA-EA8BEC4DFFED}">
      <dgm:prSet phldrT="[Texto]"/>
      <dgm:spPr/>
      <dgm:t>
        <a:bodyPr/>
        <a:lstStyle/>
        <a:p>
          <a:r>
            <a:rPr lang="pt-BR" b="1"/>
            <a:t>Como diminuir o crescimento populacional?</a:t>
          </a:r>
          <a:endParaRPr lang="pt-BR" dirty="0"/>
        </a:p>
      </dgm:t>
    </dgm:pt>
    <dgm:pt modelId="{CFC9BC8A-58AE-4FB1-85CB-6483C43FA1FA}" type="parTrans" cxnId="{EED50A5D-5AC6-4F4B-93CB-2FE105B436A1}">
      <dgm:prSet/>
      <dgm:spPr/>
      <dgm:t>
        <a:bodyPr/>
        <a:lstStyle/>
        <a:p>
          <a:endParaRPr lang="pt-BR"/>
        </a:p>
      </dgm:t>
    </dgm:pt>
    <dgm:pt modelId="{6120647D-5341-450F-AB36-A680A531A379}" type="sibTrans" cxnId="{EED50A5D-5AC6-4F4B-93CB-2FE105B436A1}">
      <dgm:prSet/>
      <dgm:spPr/>
      <dgm:t>
        <a:bodyPr/>
        <a:lstStyle/>
        <a:p>
          <a:endParaRPr lang="pt-BR"/>
        </a:p>
      </dgm:t>
    </dgm:pt>
    <dgm:pt modelId="{7125BFBB-F1F5-46FF-AE06-EE139C871C70}">
      <dgm:prSet phldrT="[Texto]" custT="1"/>
      <dgm:spPr/>
      <dgm:t>
        <a:bodyPr/>
        <a:lstStyle/>
        <a:p>
          <a:r>
            <a:rPr lang="pt-BR" sz="2400" dirty="0"/>
            <a:t>Reduzir a pobreza com desenvolvimento econômico e educação primária</a:t>
          </a:r>
        </a:p>
      </dgm:t>
    </dgm:pt>
    <dgm:pt modelId="{DAFD8C4D-4C12-44EB-9EFF-20EB75141479}" type="parTrans" cxnId="{CC4C3356-8355-48B1-9955-30016DADBEA2}">
      <dgm:prSet/>
      <dgm:spPr/>
      <dgm:t>
        <a:bodyPr/>
        <a:lstStyle/>
        <a:p>
          <a:endParaRPr lang="pt-BR"/>
        </a:p>
      </dgm:t>
    </dgm:pt>
    <dgm:pt modelId="{B1836A7E-CFC6-4850-8F98-AFE954B484AC}" type="sibTrans" cxnId="{CC4C3356-8355-48B1-9955-30016DADBEA2}">
      <dgm:prSet/>
      <dgm:spPr/>
      <dgm:t>
        <a:bodyPr/>
        <a:lstStyle/>
        <a:p>
          <a:endParaRPr lang="pt-BR"/>
        </a:p>
      </dgm:t>
    </dgm:pt>
    <dgm:pt modelId="{A133EB82-B64D-44AB-AE04-F5FD3BFA768A}">
      <dgm:prSet phldrT="[Texto]" custT="1"/>
      <dgm:spPr/>
      <dgm:t>
        <a:bodyPr/>
        <a:lstStyle/>
        <a:p>
          <a:r>
            <a:rPr lang="pt-BR" sz="2400" dirty="0"/>
            <a:t>Incentivar o planejamento familiar e a saúde reprodutiva</a:t>
          </a:r>
        </a:p>
      </dgm:t>
    </dgm:pt>
    <dgm:pt modelId="{3784FCBB-B7B3-45CD-AE17-B746F05467D6}" type="parTrans" cxnId="{EEE1B016-2B0E-484C-97EB-36EFD7E1CFEA}">
      <dgm:prSet/>
      <dgm:spPr/>
      <dgm:t>
        <a:bodyPr/>
        <a:lstStyle/>
        <a:p>
          <a:endParaRPr lang="pt-BR"/>
        </a:p>
      </dgm:t>
    </dgm:pt>
    <dgm:pt modelId="{C354761E-B891-49BF-941E-3DB1D9399F37}" type="sibTrans" cxnId="{EEE1B016-2B0E-484C-97EB-36EFD7E1CFEA}">
      <dgm:prSet/>
      <dgm:spPr/>
      <dgm:t>
        <a:bodyPr/>
        <a:lstStyle/>
        <a:p>
          <a:endParaRPr lang="pt-BR"/>
        </a:p>
      </dgm:t>
    </dgm:pt>
    <dgm:pt modelId="{3C58D518-9322-4C0E-BD49-F33B6899461E}">
      <dgm:prSet phldrT="[Texto]" custT="1"/>
      <dgm:spPr/>
      <dgm:t>
        <a:bodyPr/>
        <a:lstStyle/>
        <a:p>
          <a:r>
            <a:rPr lang="pt-BR" sz="2400" dirty="0"/>
            <a:t>Melhorar a capacitação das mulheres</a:t>
          </a:r>
        </a:p>
      </dgm:t>
    </dgm:pt>
    <dgm:pt modelId="{9D03B937-9B18-49A4-A6E7-550097D7A7D7}" type="parTrans" cxnId="{00906111-276A-4D08-BD86-C495F5F34D7A}">
      <dgm:prSet/>
      <dgm:spPr/>
      <dgm:t>
        <a:bodyPr/>
        <a:lstStyle/>
        <a:p>
          <a:endParaRPr lang="pt-BR"/>
        </a:p>
      </dgm:t>
    </dgm:pt>
    <dgm:pt modelId="{6336521E-16ED-4BC1-9E87-F6F2752BCE9B}" type="sibTrans" cxnId="{00906111-276A-4D08-BD86-C495F5F34D7A}">
      <dgm:prSet/>
      <dgm:spPr/>
      <dgm:t>
        <a:bodyPr/>
        <a:lstStyle/>
        <a:p>
          <a:endParaRPr lang="pt-BR"/>
        </a:p>
      </dgm:t>
    </dgm:pt>
    <dgm:pt modelId="{4A2776E3-362B-49B0-B93D-65C82EF3ECA2}" type="pres">
      <dgm:prSet presAssocID="{FF8685A5-C605-4184-A563-F3AD49B5A85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B687396-0E4A-48C3-83DF-9FFCBCA63036}" type="pres">
      <dgm:prSet presAssocID="{6F08D2E4-EBA7-49E6-9ABA-EA8BEC4DFFED}" presName="singleCycle" presStyleCnt="0"/>
      <dgm:spPr/>
    </dgm:pt>
    <dgm:pt modelId="{A80F752F-16AE-46D0-B904-815C874D7708}" type="pres">
      <dgm:prSet presAssocID="{6F08D2E4-EBA7-49E6-9ABA-EA8BEC4DFFED}" presName="singleCenter" presStyleLbl="node1" presStyleIdx="0" presStyleCnt="4" custScaleX="171929" custScaleY="107689" custLinFactNeighborX="-868" custLinFactNeighborY="-8537">
        <dgm:presLayoutVars>
          <dgm:chMax val="7"/>
          <dgm:chPref val="7"/>
        </dgm:presLayoutVars>
      </dgm:prSet>
      <dgm:spPr/>
    </dgm:pt>
    <dgm:pt modelId="{44545247-7618-4255-B9B6-5226CACD7624}" type="pres">
      <dgm:prSet presAssocID="{DAFD8C4D-4C12-44EB-9EFF-20EB75141479}" presName="Name56" presStyleLbl="parChTrans1D2" presStyleIdx="0" presStyleCnt="3"/>
      <dgm:spPr/>
    </dgm:pt>
    <dgm:pt modelId="{6839BE3F-2E8B-4D1F-8258-1F911DD515FE}" type="pres">
      <dgm:prSet presAssocID="{7125BFBB-F1F5-46FF-AE06-EE139C871C70}" presName="text0" presStyleLbl="node1" presStyleIdx="1" presStyleCnt="4" custScaleX="356121">
        <dgm:presLayoutVars>
          <dgm:bulletEnabled val="1"/>
        </dgm:presLayoutVars>
      </dgm:prSet>
      <dgm:spPr/>
    </dgm:pt>
    <dgm:pt modelId="{4B7BFF30-B4C5-4FC4-875F-D5F922AD6B9D}" type="pres">
      <dgm:prSet presAssocID="{3784FCBB-B7B3-45CD-AE17-B746F05467D6}" presName="Name56" presStyleLbl="parChTrans1D2" presStyleIdx="1" presStyleCnt="3"/>
      <dgm:spPr/>
    </dgm:pt>
    <dgm:pt modelId="{3C5C59A9-6D99-48DD-A358-1751F9D6DFAF}" type="pres">
      <dgm:prSet presAssocID="{A133EB82-B64D-44AB-AE04-F5FD3BFA768A}" presName="text0" presStyleLbl="node1" presStyleIdx="2" presStyleCnt="4" custScaleX="264980" custRadScaleRad="116085" custRadScaleInc="-752">
        <dgm:presLayoutVars>
          <dgm:bulletEnabled val="1"/>
        </dgm:presLayoutVars>
      </dgm:prSet>
      <dgm:spPr/>
    </dgm:pt>
    <dgm:pt modelId="{DD4D90C4-0D46-43B9-8C61-DCEA579339F1}" type="pres">
      <dgm:prSet presAssocID="{9D03B937-9B18-49A4-A6E7-550097D7A7D7}" presName="Name56" presStyleLbl="parChTrans1D2" presStyleIdx="2" presStyleCnt="3"/>
      <dgm:spPr/>
    </dgm:pt>
    <dgm:pt modelId="{4A7B3540-37B9-4146-BE33-AE1AC217CE84}" type="pres">
      <dgm:prSet presAssocID="{3C58D518-9322-4C0E-BD49-F33B6899461E}" presName="text0" presStyleLbl="node1" presStyleIdx="3" presStyleCnt="4" custScaleX="278998" custRadScaleRad="116695" custRadScaleInc="1035">
        <dgm:presLayoutVars>
          <dgm:bulletEnabled val="1"/>
        </dgm:presLayoutVars>
      </dgm:prSet>
      <dgm:spPr/>
    </dgm:pt>
  </dgm:ptLst>
  <dgm:cxnLst>
    <dgm:cxn modelId="{00906111-276A-4D08-BD86-C495F5F34D7A}" srcId="{6F08D2E4-EBA7-49E6-9ABA-EA8BEC4DFFED}" destId="{3C58D518-9322-4C0E-BD49-F33B6899461E}" srcOrd="2" destOrd="0" parTransId="{9D03B937-9B18-49A4-A6E7-550097D7A7D7}" sibTransId="{6336521E-16ED-4BC1-9E87-F6F2752BCE9B}"/>
    <dgm:cxn modelId="{CC059916-59E3-4DBF-BEE6-81CB483BB29E}" type="presOf" srcId="{9D03B937-9B18-49A4-A6E7-550097D7A7D7}" destId="{DD4D90C4-0D46-43B9-8C61-DCEA579339F1}" srcOrd="0" destOrd="0" presId="urn:microsoft.com/office/officeart/2008/layout/RadialCluster"/>
    <dgm:cxn modelId="{EEE1B016-2B0E-484C-97EB-36EFD7E1CFEA}" srcId="{6F08D2E4-EBA7-49E6-9ABA-EA8BEC4DFFED}" destId="{A133EB82-B64D-44AB-AE04-F5FD3BFA768A}" srcOrd="1" destOrd="0" parTransId="{3784FCBB-B7B3-45CD-AE17-B746F05467D6}" sibTransId="{C354761E-B891-49BF-941E-3DB1D9399F37}"/>
    <dgm:cxn modelId="{2F45223C-11DE-4EED-8152-A3EEFCCD1558}" type="presOf" srcId="{7125BFBB-F1F5-46FF-AE06-EE139C871C70}" destId="{6839BE3F-2E8B-4D1F-8258-1F911DD515FE}" srcOrd="0" destOrd="0" presId="urn:microsoft.com/office/officeart/2008/layout/RadialCluster"/>
    <dgm:cxn modelId="{EED50A5D-5AC6-4F4B-93CB-2FE105B436A1}" srcId="{FF8685A5-C605-4184-A563-F3AD49B5A852}" destId="{6F08D2E4-EBA7-49E6-9ABA-EA8BEC4DFFED}" srcOrd="0" destOrd="0" parTransId="{CFC9BC8A-58AE-4FB1-85CB-6483C43FA1FA}" sibTransId="{6120647D-5341-450F-AB36-A680A531A379}"/>
    <dgm:cxn modelId="{5929A342-3E2B-4985-AA49-4DCE18892CDC}" type="presOf" srcId="{3C58D518-9322-4C0E-BD49-F33B6899461E}" destId="{4A7B3540-37B9-4146-BE33-AE1AC217CE84}" srcOrd="0" destOrd="0" presId="urn:microsoft.com/office/officeart/2008/layout/RadialCluster"/>
    <dgm:cxn modelId="{4BE0786F-FD75-407C-9756-B349DF64C059}" type="presOf" srcId="{DAFD8C4D-4C12-44EB-9EFF-20EB75141479}" destId="{44545247-7618-4255-B9B6-5226CACD7624}" srcOrd="0" destOrd="0" presId="urn:microsoft.com/office/officeart/2008/layout/RadialCluster"/>
    <dgm:cxn modelId="{CC4C3356-8355-48B1-9955-30016DADBEA2}" srcId="{6F08D2E4-EBA7-49E6-9ABA-EA8BEC4DFFED}" destId="{7125BFBB-F1F5-46FF-AE06-EE139C871C70}" srcOrd="0" destOrd="0" parTransId="{DAFD8C4D-4C12-44EB-9EFF-20EB75141479}" sibTransId="{B1836A7E-CFC6-4850-8F98-AFE954B484AC}"/>
    <dgm:cxn modelId="{051DFEEB-69D3-4165-BFB0-DFD8A5A64DA9}" type="presOf" srcId="{3784FCBB-B7B3-45CD-AE17-B746F05467D6}" destId="{4B7BFF30-B4C5-4FC4-875F-D5F922AD6B9D}" srcOrd="0" destOrd="0" presId="urn:microsoft.com/office/officeart/2008/layout/RadialCluster"/>
    <dgm:cxn modelId="{4276DEEC-0AEC-458F-97C2-2113C7467923}" type="presOf" srcId="{FF8685A5-C605-4184-A563-F3AD49B5A852}" destId="{4A2776E3-362B-49B0-B93D-65C82EF3ECA2}" srcOrd="0" destOrd="0" presId="urn:microsoft.com/office/officeart/2008/layout/RadialCluster"/>
    <dgm:cxn modelId="{E3B594EF-3B0A-4015-BA4A-BD21BD56A1D5}" type="presOf" srcId="{6F08D2E4-EBA7-49E6-9ABA-EA8BEC4DFFED}" destId="{A80F752F-16AE-46D0-B904-815C874D7708}" srcOrd="0" destOrd="0" presId="urn:microsoft.com/office/officeart/2008/layout/RadialCluster"/>
    <dgm:cxn modelId="{CFC8F8FA-6C43-461E-8986-C259E17E4FF3}" type="presOf" srcId="{A133EB82-B64D-44AB-AE04-F5FD3BFA768A}" destId="{3C5C59A9-6D99-48DD-A358-1751F9D6DFAF}" srcOrd="0" destOrd="0" presId="urn:microsoft.com/office/officeart/2008/layout/RadialCluster"/>
    <dgm:cxn modelId="{3FF096F3-3146-4784-AA68-9957D8D9B611}" type="presParOf" srcId="{4A2776E3-362B-49B0-B93D-65C82EF3ECA2}" destId="{CB687396-0E4A-48C3-83DF-9FFCBCA63036}" srcOrd="0" destOrd="0" presId="urn:microsoft.com/office/officeart/2008/layout/RadialCluster"/>
    <dgm:cxn modelId="{EA61660C-747F-47A0-8998-596F4E17A329}" type="presParOf" srcId="{CB687396-0E4A-48C3-83DF-9FFCBCA63036}" destId="{A80F752F-16AE-46D0-B904-815C874D7708}" srcOrd="0" destOrd="0" presId="urn:microsoft.com/office/officeart/2008/layout/RadialCluster"/>
    <dgm:cxn modelId="{78B99925-D8B8-4391-A8C1-944DA16F2150}" type="presParOf" srcId="{CB687396-0E4A-48C3-83DF-9FFCBCA63036}" destId="{44545247-7618-4255-B9B6-5226CACD7624}" srcOrd="1" destOrd="0" presId="urn:microsoft.com/office/officeart/2008/layout/RadialCluster"/>
    <dgm:cxn modelId="{05EC449B-1BA8-4D19-AB11-56F4CBDBBBB9}" type="presParOf" srcId="{CB687396-0E4A-48C3-83DF-9FFCBCA63036}" destId="{6839BE3F-2E8B-4D1F-8258-1F911DD515FE}" srcOrd="2" destOrd="0" presId="urn:microsoft.com/office/officeart/2008/layout/RadialCluster"/>
    <dgm:cxn modelId="{F307DD9B-23DB-4537-837C-080D8AC0C91A}" type="presParOf" srcId="{CB687396-0E4A-48C3-83DF-9FFCBCA63036}" destId="{4B7BFF30-B4C5-4FC4-875F-D5F922AD6B9D}" srcOrd="3" destOrd="0" presId="urn:microsoft.com/office/officeart/2008/layout/RadialCluster"/>
    <dgm:cxn modelId="{1A463CA7-3858-4B20-B0FF-50C73081653F}" type="presParOf" srcId="{CB687396-0E4A-48C3-83DF-9FFCBCA63036}" destId="{3C5C59A9-6D99-48DD-A358-1751F9D6DFAF}" srcOrd="4" destOrd="0" presId="urn:microsoft.com/office/officeart/2008/layout/RadialCluster"/>
    <dgm:cxn modelId="{4876C8D8-C38B-4C7E-B216-8E1E9072E1AA}" type="presParOf" srcId="{CB687396-0E4A-48C3-83DF-9FFCBCA63036}" destId="{DD4D90C4-0D46-43B9-8C61-DCEA579339F1}" srcOrd="5" destOrd="0" presId="urn:microsoft.com/office/officeart/2008/layout/RadialCluster"/>
    <dgm:cxn modelId="{B55E6C0D-229A-40B7-BAE6-1AE8E45ED3D1}" type="presParOf" srcId="{CB687396-0E4A-48C3-83DF-9FFCBCA63036}" destId="{4A7B3540-37B9-4146-BE33-AE1AC217CE84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329D54-27C2-4407-91BD-73B78F11D156}" type="doc">
      <dgm:prSet loTypeId="urn:microsoft.com/office/officeart/2008/layout/RadialCluster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BR"/>
        </a:p>
      </dgm:t>
    </dgm:pt>
    <dgm:pt modelId="{FCEC9646-4092-4DDD-BFCF-BF2EC018B5F8}">
      <dgm:prSet phldrT="[Texto]" custT="1"/>
      <dgm:spPr/>
      <dgm:t>
        <a:bodyPr/>
        <a:lstStyle/>
        <a:p>
          <a:r>
            <a:rPr lang="pt-BR" sz="2600" b="1" dirty="0"/>
            <a:t>Degradação do capital natural</a:t>
          </a:r>
        </a:p>
      </dgm:t>
    </dgm:pt>
    <dgm:pt modelId="{5EFE6D8C-E203-4A5E-8565-37A9C4A1EBB6}" type="parTrans" cxnId="{181A9F35-3298-4A0B-BCFA-D635DCC66609}">
      <dgm:prSet/>
      <dgm:spPr/>
      <dgm:t>
        <a:bodyPr/>
        <a:lstStyle/>
        <a:p>
          <a:endParaRPr lang="pt-BR" sz="2600"/>
        </a:p>
      </dgm:t>
    </dgm:pt>
    <dgm:pt modelId="{43EF6F5A-C679-4634-BD36-029E5CE4C19C}" type="sibTrans" cxnId="{181A9F35-3298-4A0B-BCFA-D635DCC66609}">
      <dgm:prSet/>
      <dgm:spPr/>
      <dgm:t>
        <a:bodyPr/>
        <a:lstStyle/>
        <a:p>
          <a:endParaRPr lang="pt-BR" sz="2600"/>
        </a:p>
      </dgm:t>
    </dgm:pt>
    <dgm:pt modelId="{9B685EE9-BDE7-4BAD-B7E0-8F56AF0B8552}">
      <dgm:prSet phldrT="[Texto]" custT="1"/>
      <dgm:spPr/>
      <dgm:t>
        <a:bodyPr/>
        <a:lstStyle/>
        <a:p>
          <a:r>
            <a:rPr lang="pt-BR" sz="2200" dirty="0"/>
            <a:t>Redução da biodiversidade</a:t>
          </a:r>
        </a:p>
      </dgm:t>
    </dgm:pt>
    <dgm:pt modelId="{571702B2-77A9-49C6-894C-2B54C2416591}" type="parTrans" cxnId="{EE58183D-B81F-4DCC-94C5-DFE48FA0EDD6}">
      <dgm:prSet/>
      <dgm:spPr/>
      <dgm:t>
        <a:bodyPr/>
        <a:lstStyle/>
        <a:p>
          <a:endParaRPr lang="pt-BR" sz="2600"/>
        </a:p>
      </dgm:t>
    </dgm:pt>
    <dgm:pt modelId="{8EC4D98F-6B98-424B-89B1-5BE37107FDFE}" type="sibTrans" cxnId="{EE58183D-B81F-4DCC-94C5-DFE48FA0EDD6}">
      <dgm:prSet/>
      <dgm:spPr/>
      <dgm:t>
        <a:bodyPr/>
        <a:lstStyle/>
        <a:p>
          <a:endParaRPr lang="pt-BR" sz="2600"/>
        </a:p>
      </dgm:t>
    </dgm:pt>
    <dgm:pt modelId="{EFB212C4-87EA-44A9-AA46-383E7CF19B1A}">
      <dgm:prSet phldrT="[Texto]" custT="1"/>
      <dgm:spPr/>
      <dgm:t>
        <a:bodyPr/>
        <a:lstStyle/>
        <a:p>
          <a:r>
            <a:rPr lang="pt-BR" sz="2200" dirty="0"/>
            <a:t>Interrupção dos ciclos químicos naturais e de energia</a:t>
          </a:r>
        </a:p>
      </dgm:t>
    </dgm:pt>
    <dgm:pt modelId="{949CA83C-54B1-4AF9-9102-3C02ACE6EE1B}" type="parTrans" cxnId="{8F7FB20E-0AB8-4513-A9CA-FA0CC18ED82A}">
      <dgm:prSet/>
      <dgm:spPr/>
      <dgm:t>
        <a:bodyPr/>
        <a:lstStyle/>
        <a:p>
          <a:endParaRPr lang="pt-BR" sz="2600"/>
        </a:p>
      </dgm:t>
    </dgm:pt>
    <dgm:pt modelId="{23C8919E-3520-4A4B-9CF1-6CDB60EBD3F9}" type="sibTrans" cxnId="{8F7FB20E-0AB8-4513-A9CA-FA0CC18ED82A}">
      <dgm:prSet/>
      <dgm:spPr/>
      <dgm:t>
        <a:bodyPr/>
        <a:lstStyle/>
        <a:p>
          <a:endParaRPr lang="pt-BR" sz="2600"/>
        </a:p>
      </dgm:t>
    </dgm:pt>
    <dgm:pt modelId="{BDF1AA90-FF4F-440C-A532-BE0362D2BA1D}">
      <dgm:prSet phldrT="[Texto]" custT="1"/>
      <dgm:spPr/>
      <dgm:t>
        <a:bodyPr/>
        <a:lstStyle/>
        <a:p>
          <a:r>
            <a:rPr lang="pt-BR" sz="2200" dirty="0"/>
            <a:t>Poluição </a:t>
          </a:r>
        </a:p>
      </dgm:t>
    </dgm:pt>
    <dgm:pt modelId="{F347224D-AF9E-4A8F-B75D-C22667169C55}" type="parTrans" cxnId="{D3280CF9-FA33-4765-A85A-07E4D114361D}">
      <dgm:prSet/>
      <dgm:spPr/>
      <dgm:t>
        <a:bodyPr/>
        <a:lstStyle/>
        <a:p>
          <a:endParaRPr lang="pt-BR" sz="2600"/>
        </a:p>
      </dgm:t>
    </dgm:pt>
    <dgm:pt modelId="{3FF87974-9083-40DC-BC2B-C651FF6FF2AC}" type="sibTrans" cxnId="{D3280CF9-FA33-4765-A85A-07E4D114361D}">
      <dgm:prSet/>
      <dgm:spPr/>
      <dgm:t>
        <a:bodyPr/>
        <a:lstStyle/>
        <a:p>
          <a:endParaRPr lang="pt-BR" sz="2600"/>
        </a:p>
      </dgm:t>
    </dgm:pt>
    <dgm:pt modelId="{4B2143F1-FFC5-4024-A767-A7560E499153}">
      <dgm:prSet phldrT="[Texto]" custT="1"/>
      <dgm:spPr/>
      <dgm:t>
        <a:bodyPr/>
        <a:lstStyle/>
        <a:p>
          <a:r>
            <a:rPr lang="pt-BR" sz="2200" dirty="0"/>
            <a:t>Aumento da resistência genética de espécies que causam doenças</a:t>
          </a:r>
        </a:p>
      </dgm:t>
    </dgm:pt>
    <dgm:pt modelId="{1F1D49D9-E6C2-4AC2-9788-D89C537663A8}" type="parTrans" cxnId="{4B073B6F-5042-47CE-A819-3BF756473C0D}">
      <dgm:prSet/>
      <dgm:spPr/>
      <dgm:t>
        <a:bodyPr/>
        <a:lstStyle/>
        <a:p>
          <a:endParaRPr lang="pt-BR" sz="2600"/>
        </a:p>
      </dgm:t>
    </dgm:pt>
    <dgm:pt modelId="{7C2799B1-1747-4B35-8B8C-9BEEF36C6330}" type="sibTrans" cxnId="{4B073B6F-5042-47CE-A819-3BF756473C0D}">
      <dgm:prSet/>
      <dgm:spPr/>
      <dgm:t>
        <a:bodyPr/>
        <a:lstStyle/>
        <a:p>
          <a:endParaRPr lang="pt-BR" sz="2600"/>
        </a:p>
      </dgm:t>
    </dgm:pt>
    <dgm:pt modelId="{99AA9377-D24D-4678-B5C1-DA15E63E244D}">
      <dgm:prSet phldrT="[Texto]" custT="1"/>
      <dgm:spPr/>
      <dgm:t>
        <a:bodyPr/>
        <a:lstStyle/>
        <a:p>
          <a:r>
            <a:rPr lang="pt-BR" sz="2200" dirty="0"/>
            <a:t>Eliminação de predadores naturais </a:t>
          </a:r>
        </a:p>
      </dgm:t>
    </dgm:pt>
    <dgm:pt modelId="{AF6834A8-0CC1-4FC7-914B-857BEA1CE190}" type="parTrans" cxnId="{5558873B-E921-4A80-A08C-31A6ADFF4EEF}">
      <dgm:prSet/>
      <dgm:spPr/>
      <dgm:t>
        <a:bodyPr/>
        <a:lstStyle/>
        <a:p>
          <a:endParaRPr lang="pt-BR"/>
        </a:p>
      </dgm:t>
    </dgm:pt>
    <dgm:pt modelId="{8F58A1F0-94A3-41E3-A45F-5D23962E18F4}" type="sibTrans" cxnId="{5558873B-E921-4A80-A08C-31A6ADFF4EEF}">
      <dgm:prSet/>
      <dgm:spPr/>
      <dgm:t>
        <a:bodyPr/>
        <a:lstStyle/>
        <a:p>
          <a:endParaRPr lang="pt-BR"/>
        </a:p>
      </dgm:t>
    </dgm:pt>
    <dgm:pt modelId="{FFA72BB3-1BD3-44D6-B72F-8488D71D4A42}">
      <dgm:prSet phldrT="[Texto]" custT="1"/>
      <dgm:spPr/>
      <dgm:t>
        <a:bodyPr/>
        <a:lstStyle/>
        <a:p>
          <a:r>
            <a:rPr lang="pt-BR" sz="2200" dirty="0"/>
            <a:t>Introdução de espécies exóticas em ambientes naturais</a:t>
          </a:r>
        </a:p>
      </dgm:t>
    </dgm:pt>
    <dgm:pt modelId="{DC08D55C-A5D4-4384-A161-56016290C9FA}" type="parTrans" cxnId="{4470F3E5-38D9-4C49-BBBF-926844D5BAF2}">
      <dgm:prSet/>
      <dgm:spPr/>
      <dgm:t>
        <a:bodyPr/>
        <a:lstStyle/>
        <a:p>
          <a:endParaRPr lang="pt-BR"/>
        </a:p>
      </dgm:t>
    </dgm:pt>
    <dgm:pt modelId="{6CA13A1F-BFBF-4160-81DC-2822D6807E16}" type="sibTrans" cxnId="{4470F3E5-38D9-4C49-BBBF-926844D5BAF2}">
      <dgm:prSet/>
      <dgm:spPr/>
      <dgm:t>
        <a:bodyPr/>
        <a:lstStyle/>
        <a:p>
          <a:endParaRPr lang="pt-BR"/>
        </a:p>
      </dgm:t>
    </dgm:pt>
    <dgm:pt modelId="{D7068AD0-BA9C-4104-B8F1-41B3951EF303}">
      <dgm:prSet phldrT="[Texto]" custT="1"/>
      <dgm:spPr/>
      <dgm:t>
        <a:bodyPr/>
        <a:lstStyle/>
        <a:p>
          <a:r>
            <a:rPr lang="pt-BR" sz="2200" dirty="0"/>
            <a:t>Utilização excessiva dos recursos naturais </a:t>
          </a:r>
        </a:p>
      </dgm:t>
    </dgm:pt>
    <dgm:pt modelId="{7D43D413-2C36-4052-ACF7-FB770EAF3922}" type="parTrans" cxnId="{070FD17F-D46B-41BE-B048-6C5E6742861E}">
      <dgm:prSet/>
      <dgm:spPr/>
      <dgm:t>
        <a:bodyPr/>
        <a:lstStyle/>
        <a:p>
          <a:endParaRPr lang="pt-BR"/>
        </a:p>
      </dgm:t>
    </dgm:pt>
    <dgm:pt modelId="{35BD74CD-E97E-43C3-85DD-EB2B13F4B697}" type="sibTrans" cxnId="{070FD17F-D46B-41BE-B048-6C5E6742861E}">
      <dgm:prSet/>
      <dgm:spPr/>
      <dgm:t>
        <a:bodyPr/>
        <a:lstStyle/>
        <a:p>
          <a:endParaRPr lang="pt-BR"/>
        </a:p>
      </dgm:t>
    </dgm:pt>
    <dgm:pt modelId="{FC73CEEA-6CAE-4758-B491-5B2433CA4E5B}" type="pres">
      <dgm:prSet presAssocID="{84329D54-27C2-4407-91BD-73B78F11D15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B73B94C-7715-4436-B2DE-7A947CFBD271}" type="pres">
      <dgm:prSet presAssocID="{FCEC9646-4092-4DDD-BFCF-BF2EC018B5F8}" presName="singleCycle" presStyleCnt="0"/>
      <dgm:spPr/>
    </dgm:pt>
    <dgm:pt modelId="{3304E8BB-2144-44BF-A81F-17CC7417D7EE}" type="pres">
      <dgm:prSet presAssocID="{FCEC9646-4092-4DDD-BFCF-BF2EC018B5F8}" presName="singleCenter" presStyleLbl="node1" presStyleIdx="0" presStyleCnt="8" custScaleX="181695" custScaleY="77329">
        <dgm:presLayoutVars>
          <dgm:chMax val="7"/>
          <dgm:chPref val="7"/>
        </dgm:presLayoutVars>
      </dgm:prSet>
      <dgm:spPr/>
    </dgm:pt>
    <dgm:pt modelId="{45701DDB-B89C-401D-94B6-AFEB44C30292}" type="pres">
      <dgm:prSet presAssocID="{571702B2-77A9-49C6-894C-2B54C2416591}" presName="Name56" presStyleLbl="parChTrans1D2" presStyleIdx="0" presStyleCnt="7"/>
      <dgm:spPr/>
    </dgm:pt>
    <dgm:pt modelId="{7328DA86-AC93-409A-8700-9235505B428B}" type="pres">
      <dgm:prSet presAssocID="{9B685EE9-BDE7-4BAD-B7E0-8F56AF0B8552}" presName="text0" presStyleLbl="node1" presStyleIdx="1" presStyleCnt="8" custScaleX="187568" custRadScaleRad="104882" custRadScaleInc="43252">
        <dgm:presLayoutVars>
          <dgm:bulletEnabled val="1"/>
        </dgm:presLayoutVars>
      </dgm:prSet>
      <dgm:spPr/>
    </dgm:pt>
    <dgm:pt modelId="{BFDE1862-EF54-4656-AE97-3E6C5F8734D0}" type="pres">
      <dgm:prSet presAssocID="{949CA83C-54B1-4AF9-9102-3C02ACE6EE1B}" presName="Name56" presStyleLbl="parChTrans1D2" presStyleIdx="1" presStyleCnt="7"/>
      <dgm:spPr/>
    </dgm:pt>
    <dgm:pt modelId="{90AEDB76-ACE1-4B43-B45B-07B836ABB848}" type="pres">
      <dgm:prSet presAssocID="{EFB212C4-87EA-44A9-AA46-383E7CF19B1A}" presName="text0" presStyleLbl="node1" presStyleIdx="2" presStyleCnt="8" custScaleX="231710" custScaleY="128676" custRadScaleRad="158376" custRadScaleInc="51794">
        <dgm:presLayoutVars>
          <dgm:bulletEnabled val="1"/>
        </dgm:presLayoutVars>
      </dgm:prSet>
      <dgm:spPr/>
    </dgm:pt>
    <dgm:pt modelId="{5844E892-888C-4ED0-91E9-35A7A6986348}" type="pres">
      <dgm:prSet presAssocID="{F347224D-AF9E-4A8F-B75D-C22667169C55}" presName="Name56" presStyleLbl="parChTrans1D2" presStyleIdx="2" presStyleCnt="7"/>
      <dgm:spPr/>
    </dgm:pt>
    <dgm:pt modelId="{A3DDB779-AACE-4831-BCBB-1B612208A8E7}" type="pres">
      <dgm:prSet presAssocID="{BDF1AA90-FF4F-440C-A532-BE0362D2BA1D}" presName="text0" presStyleLbl="node1" presStyleIdx="3" presStyleCnt="8" custScaleX="131863" custScaleY="57458" custRadScaleRad="155006" custRadScaleInc="1467">
        <dgm:presLayoutVars>
          <dgm:bulletEnabled val="1"/>
        </dgm:presLayoutVars>
      </dgm:prSet>
      <dgm:spPr/>
    </dgm:pt>
    <dgm:pt modelId="{51FF1C24-FA39-4B8E-8716-8EB67B40BAC8}" type="pres">
      <dgm:prSet presAssocID="{7D43D413-2C36-4052-ACF7-FB770EAF3922}" presName="Name56" presStyleLbl="parChTrans1D2" presStyleIdx="3" presStyleCnt="7"/>
      <dgm:spPr/>
    </dgm:pt>
    <dgm:pt modelId="{F81D7FF2-4F85-4E25-B968-E308C2CAC5AC}" type="pres">
      <dgm:prSet presAssocID="{D7068AD0-BA9C-4104-B8F1-41B3951EF303}" presName="text0" presStyleLbl="node1" presStyleIdx="4" presStyleCnt="8" custScaleX="306343" custScaleY="71021" custRadScaleRad="118545" custRadScaleInc="-67278">
        <dgm:presLayoutVars>
          <dgm:bulletEnabled val="1"/>
        </dgm:presLayoutVars>
      </dgm:prSet>
      <dgm:spPr/>
    </dgm:pt>
    <dgm:pt modelId="{4BA23C3C-F593-41EF-B7C0-4E4F1E271387}" type="pres">
      <dgm:prSet presAssocID="{1F1D49D9-E6C2-4AC2-9788-D89C537663A8}" presName="Name56" presStyleLbl="parChTrans1D2" presStyleIdx="4" presStyleCnt="7"/>
      <dgm:spPr/>
    </dgm:pt>
    <dgm:pt modelId="{0CB40F13-A5A2-47E9-9C99-C55061911783}" type="pres">
      <dgm:prSet presAssocID="{4B2143F1-FFC5-4024-A767-A7560E499153}" presName="text0" presStyleLbl="node1" presStyleIdx="5" presStyleCnt="8" custScaleX="248278" custScaleY="128745" custRadScaleRad="174378" custRadScaleInc="61610">
        <dgm:presLayoutVars>
          <dgm:bulletEnabled val="1"/>
        </dgm:presLayoutVars>
      </dgm:prSet>
      <dgm:spPr/>
    </dgm:pt>
    <dgm:pt modelId="{4AB8DBDF-483D-426A-ACBF-05CABA8860C7}" type="pres">
      <dgm:prSet presAssocID="{AF6834A8-0CC1-4FC7-914B-857BEA1CE190}" presName="Name56" presStyleLbl="parChTrans1D2" presStyleIdx="5" presStyleCnt="7"/>
      <dgm:spPr/>
    </dgm:pt>
    <dgm:pt modelId="{620FE1C3-4BC9-4120-9784-65FB0D76639D}" type="pres">
      <dgm:prSet presAssocID="{99AA9377-D24D-4678-B5C1-DA15E63E244D}" presName="text0" presStyleLbl="node1" presStyleIdx="6" presStyleCnt="8" custScaleX="209082" custScaleY="105850" custRadScaleRad="184034" custRadScaleInc="63725">
        <dgm:presLayoutVars>
          <dgm:bulletEnabled val="1"/>
        </dgm:presLayoutVars>
      </dgm:prSet>
      <dgm:spPr/>
    </dgm:pt>
    <dgm:pt modelId="{C18A2A5F-C0A3-4EF7-96F0-2DC02FEAC1B0}" type="pres">
      <dgm:prSet presAssocID="{DC08D55C-A5D4-4384-A161-56016290C9FA}" presName="Name56" presStyleLbl="parChTrans1D2" presStyleIdx="6" presStyleCnt="7"/>
      <dgm:spPr/>
    </dgm:pt>
    <dgm:pt modelId="{16DC10FA-EA1D-4FC7-820E-F21E017113E9}" type="pres">
      <dgm:prSet presAssocID="{FFA72BB3-1BD3-44D6-B72F-8488D71D4A42}" presName="text0" presStyleLbl="node1" presStyleIdx="7" presStyleCnt="8" custScaleX="293670" custScaleY="111176" custRadScaleRad="168731" custRadScaleInc="-18627">
        <dgm:presLayoutVars>
          <dgm:bulletEnabled val="1"/>
        </dgm:presLayoutVars>
      </dgm:prSet>
      <dgm:spPr/>
    </dgm:pt>
  </dgm:ptLst>
  <dgm:cxnLst>
    <dgm:cxn modelId="{809EF80C-73AD-4BE6-831F-B357A5AC5FB1}" type="presOf" srcId="{D7068AD0-BA9C-4104-B8F1-41B3951EF303}" destId="{F81D7FF2-4F85-4E25-B968-E308C2CAC5AC}" srcOrd="0" destOrd="0" presId="urn:microsoft.com/office/officeart/2008/layout/RadialCluster"/>
    <dgm:cxn modelId="{8F7FB20E-0AB8-4513-A9CA-FA0CC18ED82A}" srcId="{FCEC9646-4092-4DDD-BFCF-BF2EC018B5F8}" destId="{EFB212C4-87EA-44A9-AA46-383E7CF19B1A}" srcOrd="1" destOrd="0" parTransId="{949CA83C-54B1-4AF9-9102-3C02ACE6EE1B}" sibTransId="{23C8919E-3520-4A4B-9CF1-6CDB60EBD3F9}"/>
    <dgm:cxn modelId="{375D3D12-17B8-4451-80DC-1A309B8DBA2E}" type="presOf" srcId="{949CA83C-54B1-4AF9-9102-3C02ACE6EE1B}" destId="{BFDE1862-EF54-4656-AE97-3E6C5F8734D0}" srcOrd="0" destOrd="0" presId="urn:microsoft.com/office/officeart/2008/layout/RadialCluster"/>
    <dgm:cxn modelId="{FBA87718-11C2-4A72-B360-FFE15FF32A02}" type="presOf" srcId="{FCEC9646-4092-4DDD-BFCF-BF2EC018B5F8}" destId="{3304E8BB-2144-44BF-A81F-17CC7417D7EE}" srcOrd="0" destOrd="0" presId="urn:microsoft.com/office/officeart/2008/layout/RadialCluster"/>
    <dgm:cxn modelId="{449D3329-37C1-4BF9-ACDE-1879EF848E68}" type="presOf" srcId="{9B685EE9-BDE7-4BAD-B7E0-8F56AF0B8552}" destId="{7328DA86-AC93-409A-8700-9235505B428B}" srcOrd="0" destOrd="0" presId="urn:microsoft.com/office/officeart/2008/layout/RadialCluster"/>
    <dgm:cxn modelId="{181A9F35-3298-4A0B-BCFA-D635DCC66609}" srcId="{84329D54-27C2-4407-91BD-73B78F11D156}" destId="{FCEC9646-4092-4DDD-BFCF-BF2EC018B5F8}" srcOrd="0" destOrd="0" parTransId="{5EFE6D8C-E203-4A5E-8565-37A9C4A1EBB6}" sibTransId="{43EF6F5A-C679-4634-BD36-029E5CE4C19C}"/>
    <dgm:cxn modelId="{5558873B-E921-4A80-A08C-31A6ADFF4EEF}" srcId="{FCEC9646-4092-4DDD-BFCF-BF2EC018B5F8}" destId="{99AA9377-D24D-4678-B5C1-DA15E63E244D}" srcOrd="5" destOrd="0" parTransId="{AF6834A8-0CC1-4FC7-914B-857BEA1CE190}" sibTransId="{8F58A1F0-94A3-41E3-A45F-5D23962E18F4}"/>
    <dgm:cxn modelId="{EE58183D-B81F-4DCC-94C5-DFE48FA0EDD6}" srcId="{FCEC9646-4092-4DDD-BFCF-BF2EC018B5F8}" destId="{9B685EE9-BDE7-4BAD-B7E0-8F56AF0B8552}" srcOrd="0" destOrd="0" parTransId="{571702B2-77A9-49C6-894C-2B54C2416591}" sibTransId="{8EC4D98F-6B98-424B-89B1-5BE37107FDFE}"/>
    <dgm:cxn modelId="{C42A2664-130C-400C-9EE8-9F8C003447EE}" type="presOf" srcId="{1F1D49D9-E6C2-4AC2-9788-D89C537663A8}" destId="{4BA23C3C-F593-41EF-B7C0-4E4F1E271387}" srcOrd="0" destOrd="0" presId="urn:microsoft.com/office/officeart/2008/layout/RadialCluster"/>
    <dgm:cxn modelId="{CEA29F64-24B1-48A7-AE90-0E6964D4483B}" type="presOf" srcId="{99AA9377-D24D-4678-B5C1-DA15E63E244D}" destId="{620FE1C3-4BC9-4120-9784-65FB0D76639D}" srcOrd="0" destOrd="0" presId="urn:microsoft.com/office/officeart/2008/layout/RadialCluster"/>
    <dgm:cxn modelId="{6FE4846C-1153-4DF0-A761-61A26D8C3F74}" type="presOf" srcId="{AF6834A8-0CC1-4FC7-914B-857BEA1CE190}" destId="{4AB8DBDF-483D-426A-ACBF-05CABA8860C7}" srcOrd="0" destOrd="0" presId="urn:microsoft.com/office/officeart/2008/layout/RadialCluster"/>
    <dgm:cxn modelId="{50DC294E-6895-4CA0-B66D-A538F55798F8}" type="presOf" srcId="{7D43D413-2C36-4052-ACF7-FB770EAF3922}" destId="{51FF1C24-FA39-4B8E-8716-8EB67B40BAC8}" srcOrd="0" destOrd="0" presId="urn:microsoft.com/office/officeart/2008/layout/RadialCluster"/>
    <dgm:cxn modelId="{4B073B6F-5042-47CE-A819-3BF756473C0D}" srcId="{FCEC9646-4092-4DDD-BFCF-BF2EC018B5F8}" destId="{4B2143F1-FFC5-4024-A767-A7560E499153}" srcOrd="4" destOrd="0" parTransId="{1F1D49D9-E6C2-4AC2-9788-D89C537663A8}" sibTransId="{7C2799B1-1747-4B35-8B8C-9BEEF36C6330}"/>
    <dgm:cxn modelId="{BC923254-011C-4E8F-8BA8-B134C5B23537}" type="presOf" srcId="{BDF1AA90-FF4F-440C-A532-BE0362D2BA1D}" destId="{A3DDB779-AACE-4831-BCBB-1B612208A8E7}" srcOrd="0" destOrd="0" presId="urn:microsoft.com/office/officeart/2008/layout/RadialCluster"/>
    <dgm:cxn modelId="{B67AC95A-BFD4-4454-8CE7-09B1444B5EA6}" type="presOf" srcId="{FFA72BB3-1BD3-44D6-B72F-8488D71D4A42}" destId="{16DC10FA-EA1D-4FC7-820E-F21E017113E9}" srcOrd="0" destOrd="0" presId="urn:microsoft.com/office/officeart/2008/layout/RadialCluster"/>
    <dgm:cxn modelId="{070FD17F-D46B-41BE-B048-6C5E6742861E}" srcId="{FCEC9646-4092-4DDD-BFCF-BF2EC018B5F8}" destId="{D7068AD0-BA9C-4104-B8F1-41B3951EF303}" srcOrd="3" destOrd="0" parTransId="{7D43D413-2C36-4052-ACF7-FB770EAF3922}" sibTransId="{35BD74CD-E97E-43C3-85DD-EB2B13F4B697}"/>
    <dgm:cxn modelId="{8D9AD587-78DB-42C3-8EB9-C624223C7CB9}" type="presOf" srcId="{DC08D55C-A5D4-4384-A161-56016290C9FA}" destId="{C18A2A5F-C0A3-4EF7-96F0-2DC02FEAC1B0}" srcOrd="0" destOrd="0" presId="urn:microsoft.com/office/officeart/2008/layout/RadialCluster"/>
    <dgm:cxn modelId="{42614AA9-F0A7-4353-8F81-BBCE55FD563F}" type="presOf" srcId="{F347224D-AF9E-4A8F-B75D-C22667169C55}" destId="{5844E892-888C-4ED0-91E9-35A7A6986348}" srcOrd="0" destOrd="0" presId="urn:microsoft.com/office/officeart/2008/layout/RadialCluster"/>
    <dgm:cxn modelId="{291878B8-71A4-4585-AD02-AEF22635BFFC}" type="presOf" srcId="{EFB212C4-87EA-44A9-AA46-383E7CF19B1A}" destId="{90AEDB76-ACE1-4B43-B45B-07B836ABB848}" srcOrd="0" destOrd="0" presId="urn:microsoft.com/office/officeart/2008/layout/RadialCluster"/>
    <dgm:cxn modelId="{AB796BBD-1840-4337-AFF1-1D594DDCD508}" type="presOf" srcId="{84329D54-27C2-4407-91BD-73B78F11D156}" destId="{FC73CEEA-6CAE-4758-B491-5B2433CA4E5B}" srcOrd="0" destOrd="0" presId="urn:microsoft.com/office/officeart/2008/layout/RadialCluster"/>
    <dgm:cxn modelId="{4470F3E5-38D9-4C49-BBBF-926844D5BAF2}" srcId="{FCEC9646-4092-4DDD-BFCF-BF2EC018B5F8}" destId="{FFA72BB3-1BD3-44D6-B72F-8488D71D4A42}" srcOrd="6" destOrd="0" parTransId="{DC08D55C-A5D4-4384-A161-56016290C9FA}" sibTransId="{6CA13A1F-BFBF-4160-81DC-2822D6807E16}"/>
    <dgm:cxn modelId="{4F64E2EC-DDD3-4EFA-BDC8-0B3550416E30}" type="presOf" srcId="{4B2143F1-FFC5-4024-A767-A7560E499153}" destId="{0CB40F13-A5A2-47E9-9C99-C55061911783}" srcOrd="0" destOrd="0" presId="urn:microsoft.com/office/officeart/2008/layout/RadialCluster"/>
    <dgm:cxn modelId="{0F00F1EE-9E77-45CD-93A8-7C427EAA9991}" type="presOf" srcId="{571702B2-77A9-49C6-894C-2B54C2416591}" destId="{45701DDB-B89C-401D-94B6-AFEB44C30292}" srcOrd="0" destOrd="0" presId="urn:microsoft.com/office/officeart/2008/layout/RadialCluster"/>
    <dgm:cxn modelId="{D3280CF9-FA33-4765-A85A-07E4D114361D}" srcId="{FCEC9646-4092-4DDD-BFCF-BF2EC018B5F8}" destId="{BDF1AA90-FF4F-440C-A532-BE0362D2BA1D}" srcOrd="2" destOrd="0" parTransId="{F347224D-AF9E-4A8F-B75D-C22667169C55}" sibTransId="{3FF87974-9083-40DC-BC2B-C651FF6FF2AC}"/>
    <dgm:cxn modelId="{0C690F98-D4B9-43F1-87B7-A75F10369CB6}" type="presParOf" srcId="{FC73CEEA-6CAE-4758-B491-5B2433CA4E5B}" destId="{2B73B94C-7715-4436-B2DE-7A947CFBD271}" srcOrd="0" destOrd="0" presId="urn:microsoft.com/office/officeart/2008/layout/RadialCluster"/>
    <dgm:cxn modelId="{178D1761-BD8A-4F0B-82D2-62857E6CF365}" type="presParOf" srcId="{2B73B94C-7715-4436-B2DE-7A947CFBD271}" destId="{3304E8BB-2144-44BF-A81F-17CC7417D7EE}" srcOrd="0" destOrd="0" presId="urn:microsoft.com/office/officeart/2008/layout/RadialCluster"/>
    <dgm:cxn modelId="{BB697EF9-2D71-4A68-8952-A3AC3A44ECB5}" type="presParOf" srcId="{2B73B94C-7715-4436-B2DE-7A947CFBD271}" destId="{45701DDB-B89C-401D-94B6-AFEB44C30292}" srcOrd="1" destOrd="0" presId="urn:microsoft.com/office/officeart/2008/layout/RadialCluster"/>
    <dgm:cxn modelId="{17DFAE92-25FB-483A-ABE8-1DC2EE783B90}" type="presParOf" srcId="{2B73B94C-7715-4436-B2DE-7A947CFBD271}" destId="{7328DA86-AC93-409A-8700-9235505B428B}" srcOrd="2" destOrd="0" presId="urn:microsoft.com/office/officeart/2008/layout/RadialCluster"/>
    <dgm:cxn modelId="{C4905EEC-BC71-4ECA-A782-0F5702233ADD}" type="presParOf" srcId="{2B73B94C-7715-4436-B2DE-7A947CFBD271}" destId="{BFDE1862-EF54-4656-AE97-3E6C5F8734D0}" srcOrd="3" destOrd="0" presId="urn:microsoft.com/office/officeart/2008/layout/RadialCluster"/>
    <dgm:cxn modelId="{8FB32D2F-78D1-40E8-A0EF-7D14B72B4473}" type="presParOf" srcId="{2B73B94C-7715-4436-B2DE-7A947CFBD271}" destId="{90AEDB76-ACE1-4B43-B45B-07B836ABB848}" srcOrd="4" destOrd="0" presId="urn:microsoft.com/office/officeart/2008/layout/RadialCluster"/>
    <dgm:cxn modelId="{FE8733F9-6E79-4681-8294-6A94ABD93E63}" type="presParOf" srcId="{2B73B94C-7715-4436-B2DE-7A947CFBD271}" destId="{5844E892-888C-4ED0-91E9-35A7A6986348}" srcOrd="5" destOrd="0" presId="urn:microsoft.com/office/officeart/2008/layout/RadialCluster"/>
    <dgm:cxn modelId="{0BF578C2-63B5-499E-9755-782D715FC2CD}" type="presParOf" srcId="{2B73B94C-7715-4436-B2DE-7A947CFBD271}" destId="{A3DDB779-AACE-4831-BCBB-1B612208A8E7}" srcOrd="6" destOrd="0" presId="urn:microsoft.com/office/officeart/2008/layout/RadialCluster"/>
    <dgm:cxn modelId="{EA91AC55-38CE-4136-B5B9-083C4A3768A6}" type="presParOf" srcId="{2B73B94C-7715-4436-B2DE-7A947CFBD271}" destId="{51FF1C24-FA39-4B8E-8716-8EB67B40BAC8}" srcOrd="7" destOrd="0" presId="urn:microsoft.com/office/officeart/2008/layout/RadialCluster"/>
    <dgm:cxn modelId="{81889300-D008-43E3-83EA-9A39FBB201DF}" type="presParOf" srcId="{2B73B94C-7715-4436-B2DE-7A947CFBD271}" destId="{F81D7FF2-4F85-4E25-B968-E308C2CAC5AC}" srcOrd="8" destOrd="0" presId="urn:microsoft.com/office/officeart/2008/layout/RadialCluster"/>
    <dgm:cxn modelId="{95A80AFA-9F84-4157-A733-02DAEB21A051}" type="presParOf" srcId="{2B73B94C-7715-4436-B2DE-7A947CFBD271}" destId="{4BA23C3C-F593-41EF-B7C0-4E4F1E271387}" srcOrd="9" destOrd="0" presId="urn:microsoft.com/office/officeart/2008/layout/RadialCluster"/>
    <dgm:cxn modelId="{923B1E4F-E1A7-4D95-8614-691808FD7194}" type="presParOf" srcId="{2B73B94C-7715-4436-B2DE-7A947CFBD271}" destId="{0CB40F13-A5A2-47E9-9C99-C55061911783}" srcOrd="10" destOrd="0" presId="urn:microsoft.com/office/officeart/2008/layout/RadialCluster"/>
    <dgm:cxn modelId="{0A581820-43BF-42C7-B9DD-23FCD2512C90}" type="presParOf" srcId="{2B73B94C-7715-4436-B2DE-7A947CFBD271}" destId="{4AB8DBDF-483D-426A-ACBF-05CABA8860C7}" srcOrd="11" destOrd="0" presId="urn:microsoft.com/office/officeart/2008/layout/RadialCluster"/>
    <dgm:cxn modelId="{2395BD66-43F2-46F4-BCB4-EF9828D389DA}" type="presParOf" srcId="{2B73B94C-7715-4436-B2DE-7A947CFBD271}" destId="{620FE1C3-4BC9-4120-9784-65FB0D76639D}" srcOrd="12" destOrd="0" presId="urn:microsoft.com/office/officeart/2008/layout/RadialCluster"/>
    <dgm:cxn modelId="{448CEE9F-1D6A-4901-A96E-472D886682FA}" type="presParOf" srcId="{2B73B94C-7715-4436-B2DE-7A947CFBD271}" destId="{C18A2A5F-C0A3-4EF7-96F0-2DC02FEAC1B0}" srcOrd="13" destOrd="0" presId="urn:microsoft.com/office/officeart/2008/layout/RadialCluster"/>
    <dgm:cxn modelId="{D3E87A08-E5B5-47A7-955C-0EE66841BE9B}" type="presParOf" srcId="{2B73B94C-7715-4436-B2DE-7A947CFBD271}" destId="{16DC10FA-EA1D-4FC7-820E-F21E017113E9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9CF54-5C01-4771-AB53-A0862B3D99D7}">
      <dsp:nvSpPr>
        <dsp:cNvPr id="0" name=""/>
        <dsp:cNvSpPr/>
      </dsp:nvSpPr>
      <dsp:spPr>
        <a:xfrm>
          <a:off x="288036" y="1800201"/>
          <a:ext cx="2295552" cy="15913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Crescimento populacional humano</a:t>
          </a:r>
        </a:p>
      </dsp:txBody>
      <dsp:txXfrm>
        <a:off x="334645" y="1846810"/>
        <a:ext cx="2202334" cy="1498130"/>
      </dsp:txXfrm>
    </dsp:sp>
    <dsp:sp modelId="{B267150B-7B01-4027-9713-EC6A3DF5A748}">
      <dsp:nvSpPr>
        <dsp:cNvPr id="0" name=""/>
        <dsp:cNvSpPr/>
      </dsp:nvSpPr>
      <dsp:spPr>
        <a:xfrm rot="18744375">
          <a:off x="2187221" y="1669812"/>
          <a:ext cx="243456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434560" y="2724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3343637" y="1636194"/>
        <a:ext cx="121728" cy="121728"/>
      </dsp:txXfrm>
    </dsp:sp>
    <dsp:sp modelId="{E323B7E0-9368-4664-8DB2-1678B73E7D86}">
      <dsp:nvSpPr>
        <dsp:cNvPr id="0" name=""/>
        <dsp:cNvSpPr/>
      </dsp:nvSpPr>
      <dsp:spPr>
        <a:xfrm>
          <a:off x="4225414" y="2566"/>
          <a:ext cx="3182697" cy="15913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Os humanos se expandiram em quase todas as zonas climáticas e hábitats do planeta</a:t>
          </a:r>
        </a:p>
      </dsp:txBody>
      <dsp:txXfrm>
        <a:off x="4272023" y="49175"/>
        <a:ext cx="3089479" cy="1498130"/>
      </dsp:txXfrm>
    </dsp:sp>
    <dsp:sp modelId="{FC6B1C22-49CC-4B81-B387-A674848408BA}">
      <dsp:nvSpPr>
        <dsp:cNvPr id="0" name=""/>
        <dsp:cNvSpPr/>
      </dsp:nvSpPr>
      <dsp:spPr>
        <a:xfrm rot="67865">
          <a:off x="2583428" y="2584838"/>
          <a:ext cx="164214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642146" y="2724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00" kern="1200"/>
        </a:p>
      </dsp:txBody>
      <dsp:txXfrm>
        <a:off x="3363448" y="2571030"/>
        <a:ext cx="82107" cy="82107"/>
      </dsp:txXfrm>
    </dsp:sp>
    <dsp:sp modelId="{BDA5BA73-D37B-4806-AA3A-DA1C1F4F3D63}">
      <dsp:nvSpPr>
        <dsp:cNvPr id="0" name=""/>
        <dsp:cNvSpPr/>
      </dsp:nvSpPr>
      <dsp:spPr>
        <a:xfrm>
          <a:off x="4225414" y="1832617"/>
          <a:ext cx="3182697" cy="15913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O desenvolvimento da agricultura permitiu que mais pessoas fossem alimentadas por unidade de terra</a:t>
          </a:r>
        </a:p>
      </dsp:txBody>
      <dsp:txXfrm>
        <a:off x="4272023" y="1879226"/>
        <a:ext cx="3089479" cy="1498130"/>
      </dsp:txXfrm>
    </dsp:sp>
    <dsp:sp modelId="{14B54FA5-6F2C-47C3-9A52-911F478A4963}">
      <dsp:nvSpPr>
        <dsp:cNvPr id="0" name=""/>
        <dsp:cNvSpPr/>
      </dsp:nvSpPr>
      <dsp:spPr>
        <a:xfrm rot="2916165">
          <a:off x="2163093" y="3499863"/>
          <a:ext cx="248281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482816" y="2724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900" kern="1200"/>
        </a:p>
      </dsp:txBody>
      <dsp:txXfrm>
        <a:off x="3342431" y="3465039"/>
        <a:ext cx="124140" cy="124140"/>
      </dsp:txXfrm>
    </dsp:sp>
    <dsp:sp modelId="{C1610DB9-3189-417A-A84F-349315C49269}">
      <dsp:nvSpPr>
        <dsp:cNvPr id="0" name=""/>
        <dsp:cNvSpPr/>
      </dsp:nvSpPr>
      <dsp:spPr>
        <a:xfrm>
          <a:off x="4225414" y="3662668"/>
          <a:ext cx="3182697" cy="15913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As taxas de mortalidade caíram drasticamente pelas boas condições sanitárias e avanços da medicina</a:t>
          </a:r>
        </a:p>
      </dsp:txBody>
      <dsp:txXfrm>
        <a:off x="4272023" y="3709277"/>
        <a:ext cx="3089479" cy="14981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441AC-1716-4586-BE33-79D7A22385ED}">
      <dsp:nvSpPr>
        <dsp:cNvPr id="0" name=""/>
        <dsp:cNvSpPr/>
      </dsp:nvSpPr>
      <dsp:spPr>
        <a:xfrm>
          <a:off x="3653911" y="1828796"/>
          <a:ext cx="3066453" cy="1123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População</a:t>
          </a:r>
        </a:p>
      </dsp:txBody>
      <dsp:txXfrm>
        <a:off x="4102983" y="1993334"/>
        <a:ext cx="2168309" cy="794458"/>
      </dsp:txXfrm>
    </dsp:sp>
    <dsp:sp modelId="{6F5C63B2-A0A1-41F5-8F4F-F0F96E55F2C3}">
      <dsp:nvSpPr>
        <dsp:cNvPr id="0" name=""/>
        <dsp:cNvSpPr/>
      </dsp:nvSpPr>
      <dsp:spPr>
        <a:xfrm rot="16089043">
          <a:off x="4990295" y="1306317"/>
          <a:ext cx="337479" cy="4277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000" kern="1200"/>
        </a:p>
      </dsp:txBody>
      <dsp:txXfrm rot="10800000">
        <a:off x="5042551" y="1442454"/>
        <a:ext cx="236235" cy="256624"/>
      </dsp:txXfrm>
    </dsp:sp>
    <dsp:sp modelId="{C793986E-93C3-4115-8AA3-BB58DEAD60C9}">
      <dsp:nvSpPr>
        <dsp:cNvPr id="0" name=""/>
        <dsp:cNvSpPr/>
      </dsp:nvSpPr>
      <dsp:spPr>
        <a:xfrm>
          <a:off x="3762165" y="68928"/>
          <a:ext cx="2736302" cy="1123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Natalidade </a:t>
          </a:r>
        </a:p>
      </dsp:txBody>
      <dsp:txXfrm>
        <a:off x="4162887" y="233466"/>
        <a:ext cx="1934858" cy="794458"/>
      </dsp:txXfrm>
    </dsp:sp>
    <dsp:sp modelId="{16621BEA-AB19-4E5A-A625-6766624182B0}">
      <dsp:nvSpPr>
        <dsp:cNvPr id="0" name=""/>
        <dsp:cNvSpPr/>
      </dsp:nvSpPr>
      <dsp:spPr>
        <a:xfrm rot="21520073">
          <a:off x="6789527" y="2137424"/>
          <a:ext cx="174138" cy="4277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000" kern="1200"/>
        </a:p>
      </dsp:txBody>
      <dsp:txXfrm>
        <a:off x="6789534" y="2223572"/>
        <a:ext cx="121897" cy="256624"/>
      </dsp:txXfrm>
    </dsp:sp>
    <dsp:sp modelId="{4BACEE52-0CED-4A2B-9F48-C57F6579CD17}">
      <dsp:nvSpPr>
        <dsp:cNvPr id="0" name=""/>
        <dsp:cNvSpPr/>
      </dsp:nvSpPr>
      <dsp:spPr>
        <a:xfrm>
          <a:off x="7044132" y="1756794"/>
          <a:ext cx="2478671" cy="1123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Imigração</a:t>
          </a:r>
        </a:p>
      </dsp:txBody>
      <dsp:txXfrm>
        <a:off x="7407125" y="1921332"/>
        <a:ext cx="1752685" cy="794458"/>
      </dsp:txXfrm>
    </dsp:sp>
    <dsp:sp modelId="{0194CA05-43D9-4764-B60B-96A8CD1B06BD}">
      <dsp:nvSpPr>
        <dsp:cNvPr id="0" name=""/>
        <dsp:cNvSpPr/>
      </dsp:nvSpPr>
      <dsp:spPr>
        <a:xfrm rot="5370337">
          <a:off x="5026013" y="3047097"/>
          <a:ext cx="337269" cy="4277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000" kern="1200"/>
        </a:p>
      </dsp:txBody>
      <dsp:txXfrm>
        <a:off x="5076167" y="3082049"/>
        <a:ext cx="236088" cy="256624"/>
      </dsp:txXfrm>
    </dsp:sp>
    <dsp:sp modelId="{74A85B0A-2781-40EF-AD3B-5A4D78F5775B}">
      <dsp:nvSpPr>
        <dsp:cNvPr id="0" name=""/>
        <dsp:cNvSpPr/>
      </dsp:nvSpPr>
      <dsp:spPr>
        <a:xfrm>
          <a:off x="3690154" y="3588660"/>
          <a:ext cx="3024337" cy="1123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Mortalidade</a:t>
          </a:r>
        </a:p>
      </dsp:txBody>
      <dsp:txXfrm>
        <a:off x="4133058" y="3753198"/>
        <a:ext cx="2138529" cy="794458"/>
      </dsp:txXfrm>
    </dsp:sp>
    <dsp:sp modelId="{B0C7987F-650E-4BE0-81E2-1FF583563056}">
      <dsp:nvSpPr>
        <dsp:cNvPr id="0" name=""/>
        <dsp:cNvSpPr/>
      </dsp:nvSpPr>
      <dsp:spPr>
        <a:xfrm>
          <a:off x="3660543" y="2176710"/>
          <a:ext cx="15978" cy="4277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000" kern="1200"/>
        </a:p>
      </dsp:txBody>
      <dsp:txXfrm>
        <a:off x="3660543" y="2262251"/>
        <a:ext cx="11185" cy="256624"/>
      </dsp:txXfrm>
    </dsp:sp>
    <dsp:sp modelId="{6299B144-734E-436D-BAA1-CE1C0F71E256}">
      <dsp:nvSpPr>
        <dsp:cNvPr id="0" name=""/>
        <dsp:cNvSpPr/>
      </dsp:nvSpPr>
      <dsp:spPr>
        <a:xfrm>
          <a:off x="558317" y="1828796"/>
          <a:ext cx="3125741" cy="1123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Emigração</a:t>
          </a:r>
        </a:p>
      </dsp:txBody>
      <dsp:txXfrm>
        <a:off x="1016071" y="1993334"/>
        <a:ext cx="2210233" cy="794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F752F-16AE-46D0-B904-815C874D7708}">
      <dsp:nvSpPr>
        <dsp:cNvPr id="0" name=""/>
        <dsp:cNvSpPr/>
      </dsp:nvSpPr>
      <dsp:spPr>
        <a:xfrm>
          <a:off x="2865173" y="2160242"/>
          <a:ext cx="2971263" cy="186107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/>
            <a:t>Como diminuir o crescimento populacional?</a:t>
          </a:r>
          <a:endParaRPr lang="pt-BR" sz="2900" kern="1200" dirty="0"/>
        </a:p>
      </dsp:txBody>
      <dsp:txXfrm>
        <a:off x="2956023" y="2251092"/>
        <a:ext cx="2789563" cy="1679372"/>
      </dsp:txXfrm>
    </dsp:sp>
    <dsp:sp modelId="{44545247-7618-4255-B9B6-5226CACD7624}">
      <dsp:nvSpPr>
        <dsp:cNvPr id="0" name=""/>
        <dsp:cNvSpPr/>
      </dsp:nvSpPr>
      <dsp:spPr>
        <a:xfrm rot="16271956">
          <a:off x="4031232" y="1814017"/>
          <a:ext cx="69260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9260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9BE3F-2E8B-4D1F-8258-1F911DD515FE}">
      <dsp:nvSpPr>
        <dsp:cNvPr id="0" name=""/>
        <dsp:cNvSpPr/>
      </dsp:nvSpPr>
      <dsp:spPr>
        <a:xfrm>
          <a:off x="2335158" y="309904"/>
          <a:ext cx="4123484" cy="11578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Reduzir a pobreza com desenvolvimento econômico e educação primária</a:t>
          </a:r>
        </a:p>
      </dsp:txBody>
      <dsp:txXfrm>
        <a:off x="2391681" y="366427"/>
        <a:ext cx="4010438" cy="1044842"/>
      </dsp:txXfrm>
    </dsp:sp>
    <dsp:sp modelId="{4B7BFF30-B4C5-4FC4-875F-D5F922AD6B9D}">
      <dsp:nvSpPr>
        <dsp:cNvPr id="0" name=""/>
        <dsp:cNvSpPr/>
      </dsp:nvSpPr>
      <dsp:spPr>
        <a:xfrm rot="2153216">
          <a:off x="5561777" y="4253322"/>
          <a:ext cx="7915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9158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5C59A9-6D99-48DD-A358-1751F9D6DFAF}">
      <dsp:nvSpPr>
        <dsp:cNvPr id="0" name=""/>
        <dsp:cNvSpPr/>
      </dsp:nvSpPr>
      <dsp:spPr>
        <a:xfrm>
          <a:off x="5544304" y="4485329"/>
          <a:ext cx="3068173" cy="11578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Incentivar o planejamento familiar e a saúde reprodutiva</a:t>
          </a:r>
        </a:p>
      </dsp:txBody>
      <dsp:txXfrm>
        <a:off x="5600827" y="4541852"/>
        <a:ext cx="2955127" cy="1044842"/>
      </dsp:txXfrm>
    </dsp:sp>
    <dsp:sp modelId="{DD4D90C4-0D46-43B9-8C61-DCEA579339F1}">
      <dsp:nvSpPr>
        <dsp:cNvPr id="0" name=""/>
        <dsp:cNvSpPr/>
      </dsp:nvSpPr>
      <dsp:spPr>
        <a:xfrm rot="8601953">
          <a:off x="2398579" y="4253318"/>
          <a:ext cx="7776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761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7B3540-37B9-4146-BE33-AE1AC217CE84}">
      <dsp:nvSpPr>
        <dsp:cNvPr id="0" name=""/>
        <dsp:cNvSpPr/>
      </dsp:nvSpPr>
      <dsp:spPr>
        <a:xfrm>
          <a:off x="81560" y="4485322"/>
          <a:ext cx="3230486" cy="11578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Melhorar a capacitação das mulheres</a:t>
          </a:r>
        </a:p>
      </dsp:txBody>
      <dsp:txXfrm>
        <a:off x="138083" y="4541845"/>
        <a:ext cx="3117440" cy="10448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4E8BB-2144-44BF-A81F-17CC7417D7EE}">
      <dsp:nvSpPr>
        <dsp:cNvPr id="0" name=""/>
        <dsp:cNvSpPr/>
      </dsp:nvSpPr>
      <dsp:spPr>
        <a:xfrm>
          <a:off x="3102282" y="2004269"/>
          <a:ext cx="2802373" cy="119268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 dirty="0"/>
            <a:t>Degradação do capital natural</a:t>
          </a:r>
        </a:p>
      </dsp:txBody>
      <dsp:txXfrm>
        <a:off x="3160504" y="2062491"/>
        <a:ext cx="2685929" cy="1076240"/>
      </dsp:txXfrm>
    </dsp:sp>
    <dsp:sp modelId="{45701DDB-B89C-401D-94B6-AFEB44C30292}">
      <dsp:nvSpPr>
        <dsp:cNvPr id="0" name=""/>
        <dsp:cNvSpPr/>
      </dsp:nvSpPr>
      <dsp:spPr>
        <a:xfrm rot="16886245">
          <a:off x="4217950" y="1507698"/>
          <a:ext cx="101326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13263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8DA86-AC93-409A-8700-9235505B428B}">
      <dsp:nvSpPr>
        <dsp:cNvPr id="0" name=""/>
        <dsp:cNvSpPr/>
      </dsp:nvSpPr>
      <dsp:spPr>
        <a:xfrm>
          <a:off x="3960439" y="-22247"/>
          <a:ext cx="1938280" cy="1033374"/>
        </a:xfrm>
        <a:prstGeom prst="roundRect">
          <a:avLst/>
        </a:prstGeom>
        <a:solidFill>
          <a:schemeClr val="accent3">
            <a:hueOff val="439663"/>
            <a:satOff val="677"/>
            <a:lumOff val="8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Redução da biodiversidade</a:t>
          </a:r>
        </a:p>
      </dsp:txBody>
      <dsp:txXfrm>
        <a:off x="4010884" y="28198"/>
        <a:ext cx="1837390" cy="932484"/>
      </dsp:txXfrm>
    </dsp:sp>
    <dsp:sp modelId="{BFDE1862-EF54-4656-AE97-3E6C5F8734D0}">
      <dsp:nvSpPr>
        <dsp:cNvPr id="0" name=""/>
        <dsp:cNvSpPr/>
      </dsp:nvSpPr>
      <dsp:spPr>
        <a:xfrm rot="20071176">
          <a:off x="5725869" y="1876185"/>
          <a:ext cx="5954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545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AEDB76-ACE1-4B43-B45B-07B836ABB848}">
      <dsp:nvSpPr>
        <dsp:cNvPr id="0" name=""/>
        <dsp:cNvSpPr/>
      </dsp:nvSpPr>
      <dsp:spPr>
        <a:xfrm>
          <a:off x="6292367" y="512709"/>
          <a:ext cx="2394432" cy="1329705"/>
        </a:xfrm>
        <a:prstGeom prst="roundRect">
          <a:avLst/>
        </a:prstGeom>
        <a:solidFill>
          <a:schemeClr val="accent3">
            <a:hueOff val="879327"/>
            <a:satOff val="1354"/>
            <a:lumOff val="17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Interrupção dos ciclos químicos naturais e de energia</a:t>
          </a:r>
        </a:p>
      </dsp:txBody>
      <dsp:txXfrm>
        <a:off x="6357278" y="577620"/>
        <a:ext cx="2264610" cy="1199883"/>
      </dsp:txXfrm>
    </dsp:sp>
    <dsp:sp modelId="{5844E892-888C-4ED0-91E9-35A7A6986348}">
      <dsp:nvSpPr>
        <dsp:cNvPr id="0" name=""/>
        <dsp:cNvSpPr/>
      </dsp:nvSpPr>
      <dsp:spPr>
        <a:xfrm rot="794062">
          <a:off x="5889712" y="3058961"/>
          <a:ext cx="11253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536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DB779-AACE-4831-BCBB-1B612208A8E7}">
      <dsp:nvSpPr>
        <dsp:cNvPr id="0" name=""/>
        <dsp:cNvSpPr/>
      </dsp:nvSpPr>
      <dsp:spPr>
        <a:xfrm>
          <a:off x="7000138" y="3051135"/>
          <a:ext cx="1362638" cy="593756"/>
        </a:xfrm>
        <a:prstGeom prst="roundRect">
          <a:avLst/>
        </a:prstGeom>
        <a:solidFill>
          <a:schemeClr val="accent3">
            <a:hueOff val="1318990"/>
            <a:satOff val="2031"/>
            <a:lumOff val="26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Poluição </a:t>
          </a:r>
        </a:p>
      </dsp:txBody>
      <dsp:txXfrm>
        <a:off x="7029123" y="3080120"/>
        <a:ext cx="1304668" cy="535786"/>
      </dsp:txXfrm>
    </dsp:sp>
    <dsp:sp modelId="{51FF1C24-FA39-4B8E-8716-8EB67B40BAC8}">
      <dsp:nvSpPr>
        <dsp:cNvPr id="0" name=""/>
        <dsp:cNvSpPr/>
      </dsp:nvSpPr>
      <dsp:spPr>
        <a:xfrm rot="2819139">
          <a:off x="4872443" y="3628098"/>
          <a:ext cx="11793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7930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D7FF2-4F85-4E25-B968-E308C2CAC5AC}">
      <dsp:nvSpPr>
        <dsp:cNvPr id="0" name=""/>
        <dsp:cNvSpPr/>
      </dsp:nvSpPr>
      <dsp:spPr>
        <a:xfrm>
          <a:off x="4623878" y="4059244"/>
          <a:ext cx="3165671" cy="733913"/>
        </a:xfrm>
        <a:prstGeom prst="roundRect">
          <a:avLst/>
        </a:prstGeom>
        <a:solidFill>
          <a:schemeClr val="accent3">
            <a:hueOff val="1758654"/>
            <a:satOff val="2707"/>
            <a:lumOff val="3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Utilização excessiva dos recursos naturais </a:t>
          </a:r>
        </a:p>
      </dsp:txBody>
      <dsp:txXfrm>
        <a:off x="4659705" y="4095071"/>
        <a:ext cx="3094017" cy="662259"/>
      </dsp:txXfrm>
    </dsp:sp>
    <dsp:sp modelId="{4BA23C3C-F593-41EF-B7C0-4E4F1E271387}">
      <dsp:nvSpPr>
        <dsp:cNvPr id="0" name=""/>
        <dsp:cNvSpPr/>
      </dsp:nvSpPr>
      <dsp:spPr>
        <a:xfrm rot="8525155">
          <a:off x="2811965" y="3514975"/>
          <a:ext cx="103509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5094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B40F13-A5A2-47E9-9C99-C55061911783}">
      <dsp:nvSpPr>
        <dsp:cNvPr id="0" name=""/>
        <dsp:cNvSpPr/>
      </dsp:nvSpPr>
      <dsp:spPr>
        <a:xfrm>
          <a:off x="784315" y="3832997"/>
          <a:ext cx="2565642" cy="1330418"/>
        </a:xfrm>
        <a:prstGeom prst="roundRect">
          <a:avLst/>
        </a:prstGeom>
        <a:solidFill>
          <a:schemeClr val="accent3">
            <a:hueOff val="2198317"/>
            <a:satOff val="3384"/>
            <a:lumOff val="44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Aumento da resistência genética de espécies que causam doenças</a:t>
          </a:r>
        </a:p>
      </dsp:txBody>
      <dsp:txXfrm>
        <a:off x="849261" y="3897943"/>
        <a:ext cx="2435750" cy="1200526"/>
      </dsp:txXfrm>
    </dsp:sp>
    <dsp:sp modelId="{4AB8DBDF-483D-426A-ACBF-05CABA8860C7}">
      <dsp:nvSpPr>
        <dsp:cNvPr id="0" name=""/>
        <dsp:cNvSpPr/>
      </dsp:nvSpPr>
      <dsp:spPr>
        <a:xfrm rot="11039235">
          <a:off x="2159458" y="2470124"/>
          <a:ext cx="9439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396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0FE1C3-4BC9-4120-9784-65FB0D76639D}">
      <dsp:nvSpPr>
        <dsp:cNvPr id="0" name=""/>
        <dsp:cNvSpPr/>
      </dsp:nvSpPr>
      <dsp:spPr>
        <a:xfrm>
          <a:off x="0" y="1815091"/>
          <a:ext cx="2160600" cy="1093827"/>
        </a:xfrm>
        <a:prstGeom prst="roundRect">
          <a:avLst/>
        </a:prstGeom>
        <a:solidFill>
          <a:schemeClr val="accent3">
            <a:hueOff val="2637981"/>
            <a:satOff val="4061"/>
            <a:lumOff val="53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Eliminação de predadores naturais </a:t>
          </a:r>
        </a:p>
      </dsp:txBody>
      <dsp:txXfrm>
        <a:off x="53396" y="1868487"/>
        <a:ext cx="2053808" cy="987035"/>
      </dsp:txXfrm>
    </dsp:sp>
    <dsp:sp modelId="{C18A2A5F-C0A3-4EF7-96F0-2DC02FEAC1B0}">
      <dsp:nvSpPr>
        <dsp:cNvPr id="0" name=""/>
        <dsp:cNvSpPr/>
      </dsp:nvSpPr>
      <dsp:spPr>
        <a:xfrm rot="12826898">
          <a:off x="2286132" y="1601658"/>
          <a:ext cx="144816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48165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C10FA-EA1D-4FC7-820E-F21E017113E9}">
      <dsp:nvSpPr>
        <dsp:cNvPr id="0" name=""/>
        <dsp:cNvSpPr/>
      </dsp:nvSpPr>
      <dsp:spPr>
        <a:xfrm>
          <a:off x="32356" y="50182"/>
          <a:ext cx="3034711" cy="1148864"/>
        </a:xfrm>
        <a:prstGeom prst="roundRect">
          <a:avLst/>
        </a:prstGeom>
        <a:solidFill>
          <a:schemeClr val="accent3">
            <a:hueOff val="3077644"/>
            <a:satOff val="4738"/>
            <a:lumOff val="6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Introdução de espécies exóticas em ambientes naturais</a:t>
          </a:r>
        </a:p>
      </dsp:txBody>
      <dsp:txXfrm>
        <a:off x="88439" y="106265"/>
        <a:ext cx="2922545" cy="1036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DDA63-B983-416B-809F-B7FBEF0C621B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4CDDB-143C-4EE7-8E39-3800F8F616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5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D3D3D"/>
                </a:solidFill>
                <a:effectLst/>
                <a:latin typeface="Liberation Serif"/>
              </a:rPr>
              <a:t>Até o quinquênio 1980-85, o Brasil com TFT de 3,8 filhos por mulher tinha uma fecundidade mais alta do que a média mundial com 3,6 filhos por mulher. A partir do quinquênio 1985-90, o Brasil (com TFT de 3,1 filhos) passou a ter taxas de fecundidade abaixo da média mundial (TFT de 3,4 filhos). O Brasil passou a ter uma TFT abaixo da taxa de reposição (2,1 filhos por mulher é o número que permitir estabilizar a população no longo prazo) no quinquênio 2005-10, com uma taxa de 1,9 filhos por mulher. Na projeção média da ONU, a taxa de fecundidade brasileira deve cair até o mínimo de 1,6 filho por mulher na década de 2040 e depois subir ligeiramente para 1,7 filho por mulher no final do século. 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4CDDB-143C-4EE7-8E39-3800F8F6166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5906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36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64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8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8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0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5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04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51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35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32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9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9270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052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477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06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20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30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EB9F0-6AC9-4843-AF92-8AC68C7E6A28}" type="datetimeFigureOut">
              <a:rPr lang="pt-BR" smtClean="0"/>
              <a:t>08/11/2021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965FD-03F3-422E-80AF-62C6660F25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150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t.wikipedia.org/wiki/Gronel%C3%A2ndi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4664"/>
            <a:ext cx="4716016" cy="533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251520" y="2216459"/>
            <a:ext cx="4327511" cy="2232248"/>
          </a:xfrm>
        </p:spPr>
        <p:txBody>
          <a:bodyPr>
            <a:normAutofit/>
          </a:bodyPr>
          <a:lstStyle/>
          <a:p>
            <a:pPr algn="l"/>
            <a:r>
              <a:rPr lang="pt-BR" sz="4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CRESCIMENTO </a:t>
            </a:r>
            <a:br>
              <a:rPr lang="pt-BR" sz="4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pt-BR" sz="4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POPULACIONAL</a:t>
            </a:r>
          </a:p>
        </p:txBody>
      </p:sp>
      <p:sp>
        <p:nvSpPr>
          <p:cNvPr id="4" name="Título 7"/>
          <p:cNvSpPr txBox="1">
            <a:spLocks/>
          </p:cNvSpPr>
          <p:nvPr/>
        </p:nvSpPr>
        <p:spPr>
          <a:xfrm>
            <a:off x="611559" y="3717032"/>
            <a:ext cx="3342523" cy="1495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Prof. Dr. </a:t>
            </a:r>
          </a:p>
          <a:p>
            <a:pPr algn="ctr"/>
            <a:r>
              <a:rPr lang="pt-BR" sz="32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Halison</a:t>
            </a:r>
            <a:r>
              <a:rPr lang="pt-BR" sz="3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Golias</a:t>
            </a:r>
          </a:p>
        </p:txBody>
      </p:sp>
    </p:spTree>
    <p:extLst>
      <p:ext uri="{BB962C8B-B14F-4D97-AF65-F5344CB8AC3E}">
        <p14:creationId xmlns:p14="http://schemas.microsoft.com/office/powerpoint/2010/main" val="53546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Família Müller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John Eli Miller era um </a:t>
            </a:r>
            <a:r>
              <a:rPr lang="pt-BR" dirty="0" err="1"/>
              <a:t>cidadão</a:t>
            </a:r>
            <a:r>
              <a:rPr lang="pt-BR" dirty="0"/>
              <a:t> americano, comum, exceto por uma </a:t>
            </a:r>
            <a:r>
              <a:rPr lang="pt-BR" dirty="0" err="1"/>
              <a:t>razão</a:t>
            </a:r>
            <a:r>
              <a:rPr lang="pt-BR" dirty="0"/>
              <a:t> – quando morreu em </a:t>
            </a:r>
            <a:r>
              <a:rPr lang="pt-BR" dirty="0" err="1"/>
              <a:t>Middlefield</a:t>
            </a:r>
            <a:r>
              <a:rPr lang="pt-BR" dirty="0"/>
              <a:t>, Ohio</a:t>
            </a:r>
          </a:p>
          <a:p>
            <a:r>
              <a:rPr lang="pt-BR" dirty="0"/>
              <a:t>Responsável pela maior família nos Estados Unidos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8" t="22023" r="5516" b="24603"/>
          <a:stretch/>
        </p:blipFill>
        <p:spPr bwMode="auto">
          <a:xfrm>
            <a:off x="179512" y="2005293"/>
            <a:ext cx="8721152" cy="4304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1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133830237"/>
              </p:ext>
            </p:extLst>
          </p:nvPr>
        </p:nvGraphicFramePr>
        <p:xfrm>
          <a:off x="755576" y="908720"/>
          <a:ext cx="8064896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194" y="0"/>
            <a:ext cx="5827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-540568" y="404664"/>
            <a:ext cx="8229600" cy="96897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b="1" i="1" dirty="0">
              <a:solidFill>
                <a:srgbClr val="FFC000"/>
              </a:solidFill>
            </a:endParaRPr>
          </a:p>
          <a:p>
            <a:pPr marL="0" indent="0" algn="ctr">
              <a:buNone/>
            </a:pPr>
            <a:r>
              <a:rPr lang="pt-BR" sz="3000" b="1" i="1" dirty="0">
                <a:solidFill>
                  <a:srgbClr val="FFC000"/>
                </a:solidFill>
              </a:rPr>
              <a:t>Curvas de Crescimento populacional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584" y="4869160"/>
            <a:ext cx="1620696" cy="160629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55576" y="2708920"/>
            <a:ext cx="8136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Potencial Biótico = Capacidade teórica de crescimento máximo de uma população biológica.</a:t>
            </a:r>
          </a:p>
          <a:p>
            <a:endParaRPr lang="pt-BR" dirty="0"/>
          </a:p>
          <a:p>
            <a:r>
              <a:rPr lang="pt-BR" dirty="0" err="1"/>
              <a:t>Ex</a:t>
            </a:r>
            <a:r>
              <a:rPr lang="pt-BR" dirty="0"/>
              <a:t>: Bactéria reproduzindo a cada 20 min, levaria apenas 36hs para cobrir toda a superfície da terra. </a:t>
            </a:r>
          </a:p>
        </p:txBody>
      </p:sp>
      <p:pic>
        <p:nvPicPr>
          <p:cNvPr id="5122" name="Picture 2" descr="Resultado de imagem para curva de crescimento intrinse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633517"/>
            <a:ext cx="5905500" cy="605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13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de Crescimento real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Resultado da interação entre o potencial biótico e a resistência imposta pelo habitat onde ele vive. </a:t>
            </a:r>
          </a:p>
          <a:p>
            <a:endParaRPr lang="pt-BR" dirty="0"/>
          </a:p>
          <a:p>
            <a:r>
              <a:rPr lang="pt-BR" dirty="0"/>
              <a:t>A população cresce  até o limite máximo de indivíduos que o ambiente consegue suportar. denomina-se </a:t>
            </a:r>
            <a:r>
              <a:rPr lang="pt-BR" b="1" dirty="0"/>
              <a:t>Capacidade de Suporte ou suporte do meio.</a:t>
            </a:r>
            <a:endParaRPr lang="pt-BR" dirty="0"/>
          </a:p>
        </p:txBody>
      </p:sp>
      <p:pic>
        <p:nvPicPr>
          <p:cNvPr id="6146" name="Picture 2" descr="Resultado de imagem para curva de crescimento intrinse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7760115" cy="509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20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Capacidade de Suporte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Déc</a:t>
            </a:r>
            <a:r>
              <a:rPr lang="pt-BR" dirty="0"/>
              <a:t>. 30 o Cientista G. F. </a:t>
            </a:r>
            <a:r>
              <a:rPr lang="pt-BR" dirty="0" err="1"/>
              <a:t>Gause</a:t>
            </a:r>
            <a:r>
              <a:rPr lang="pt-BR" dirty="0"/>
              <a:t> colocou alguns exemplares de </a:t>
            </a:r>
            <a:r>
              <a:rPr lang="pt-BR" i="1" dirty="0" err="1"/>
              <a:t>Tribolium</a:t>
            </a:r>
            <a:r>
              <a:rPr lang="pt-BR" i="1" dirty="0"/>
              <a:t> </a:t>
            </a:r>
            <a:r>
              <a:rPr lang="pt-BR" i="1" dirty="0" err="1"/>
              <a:t>confusum</a:t>
            </a:r>
            <a:r>
              <a:rPr lang="pt-BR" dirty="0"/>
              <a:t> em caixas com diferentes quantidades de alimentos</a:t>
            </a:r>
            <a:endParaRPr lang="pt-BR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3800" t="4851" r="29000" b="21651"/>
          <a:stretch/>
        </p:blipFill>
        <p:spPr>
          <a:xfrm rot="16200000">
            <a:off x="2708793" y="1619799"/>
            <a:ext cx="3168352" cy="693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764704"/>
            <a:ext cx="7352729" cy="1080938"/>
          </a:xfrm>
        </p:spPr>
        <p:txBody>
          <a:bodyPr/>
          <a:lstStyle/>
          <a:p>
            <a:r>
              <a:rPr lang="pt-BR" dirty="0"/>
              <a:t>Taxas de crescimento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Importante para entendermos o comportamento das populações em ecossistemas (aumento, declínio ou estável)</a:t>
            </a:r>
          </a:p>
          <a:p>
            <a:endParaRPr lang="pt-BR" dirty="0"/>
          </a:p>
          <a:p>
            <a:r>
              <a:rPr lang="pt-BR" dirty="0"/>
              <a:t>TC = </a:t>
            </a:r>
            <a:r>
              <a:rPr lang="pt-BR" dirty="0" err="1"/>
              <a:t>Nf-Ni</a:t>
            </a:r>
            <a:r>
              <a:rPr lang="pt-BR" dirty="0"/>
              <a:t>/</a:t>
            </a:r>
            <a:r>
              <a:rPr lang="pt-BR" dirty="0" err="1"/>
              <a:t>Ni</a:t>
            </a:r>
            <a:r>
              <a:rPr lang="pt-BR" dirty="0"/>
              <a:t>/t </a:t>
            </a:r>
          </a:p>
          <a:p>
            <a:r>
              <a:rPr lang="pt-BR" dirty="0"/>
              <a:t>Ex. Qual das duas populações possui uma maior taxa de Crescimento? </a:t>
            </a:r>
          </a:p>
          <a:p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05576"/>
              </p:ext>
            </p:extLst>
          </p:nvPr>
        </p:nvGraphicFramePr>
        <p:xfrm>
          <a:off x="1979712" y="5229200"/>
          <a:ext cx="4176464" cy="1409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8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9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Tempo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N. bactérias/</a:t>
                      </a:r>
                      <a:r>
                        <a:rPr lang="pt-BR" sz="1800" u="none" strike="noStrike" dirty="0" err="1">
                          <a:effectLst/>
                        </a:rPr>
                        <a:t>mL</a:t>
                      </a:r>
                      <a:r>
                        <a:rPr lang="pt-BR" sz="1800" u="none" strike="noStrike" dirty="0">
                          <a:effectLst/>
                        </a:rPr>
                        <a:t> de meio de cultura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População A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 dirty="0">
                          <a:effectLst/>
                        </a:rPr>
                        <a:t>População B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Início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10.000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200.000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Após 3h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>
                          <a:effectLst/>
                        </a:rPr>
                        <a:t>40.000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u="none" strike="noStrike" dirty="0">
                          <a:effectLst/>
                        </a:rPr>
                        <a:t>500.000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32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3400" y="2336873"/>
            <a:ext cx="7711008" cy="359931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DP = Nº indivíduos/área ou volume</a:t>
            </a:r>
          </a:p>
          <a:p>
            <a:endParaRPr lang="pt-BR" dirty="0"/>
          </a:p>
          <a:p>
            <a:r>
              <a:rPr lang="pt-BR" dirty="0"/>
              <a:t>Em 1990, Brasil: 150 milhões ind./8,5 milhões km</a:t>
            </a:r>
            <a:r>
              <a:rPr lang="pt-BR" baseline="30000" dirty="0"/>
              <a:t>2</a:t>
            </a:r>
          </a:p>
          <a:p>
            <a:endParaRPr lang="pt-BR" baseline="30000" dirty="0"/>
          </a:p>
          <a:p>
            <a:r>
              <a:rPr lang="pt-BR" dirty="0"/>
              <a:t>Em 2000, Brasil: 169 milhões ind./8,5 milhões km</a:t>
            </a:r>
            <a:r>
              <a:rPr lang="pt-BR" baseline="30000" dirty="0"/>
              <a:t>2</a:t>
            </a:r>
          </a:p>
          <a:p>
            <a:endParaRPr lang="pt-BR" baseline="30000" dirty="0"/>
          </a:p>
          <a:p>
            <a:r>
              <a:rPr lang="pt-BR" dirty="0"/>
              <a:t>Em 2006, Brasil: 186 milhões ind./8,5 milhões km</a:t>
            </a:r>
            <a:r>
              <a:rPr lang="pt-BR" baseline="30000" dirty="0"/>
              <a:t>2</a:t>
            </a:r>
          </a:p>
          <a:p>
            <a:endParaRPr lang="pt-BR" dirty="0"/>
          </a:p>
          <a:p>
            <a:r>
              <a:rPr lang="pt-BR" dirty="0"/>
              <a:t>Em 2019, Brasil: 203 milhões ind./8,5 milhões km</a:t>
            </a:r>
            <a:r>
              <a:rPr lang="pt-BR" baseline="30000" dirty="0"/>
              <a:t>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811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Menor Densidade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 tooltip="Gronelândia"/>
              </a:rPr>
              <a:t>Groelândia</a:t>
            </a:r>
            <a:r>
              <a:rPr lang="pt-BR" dirty="0"/>
              <a:t>. Tem uma população de 56.375 habitantes em uma área de 2.166.086  </a:t>
            </a:r>
          </a:p>
        </p:txBody>
      </p:sp>
      <p:pic>
        <p:nvPicPr>
          <p:cNvPr id="3074" name="Picture 2" descr="LocalizaÃ§Ã£o de GronelÃ¢ndia / GroenlÃ¢ndia / GroelÃ¢n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298" y="3867145"/>
            <a:ext cx="25717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cartacapital.com.br/wp-content/uploads/2019/08/groenlandia-1200x72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82" y="3457520"/>
            <a:ext cx="4968958" cy="298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76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 Densidade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O </a:t>
            </a: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</a:rPr>
              <a:t>país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 com a </a:t>
            </a: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</a:rPr>
              <a:t>maior 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taxa de </a:t>
            </a:r>
            <a:r>
              <a:rPr lang="pt-BR" b="1" dirty="0">
                <a:solidFill>
                  <a:srgbClr val="222222"/>
                </a:solidFill>
                <a:latin typeface="arial" panose="020B0604020202020204" pitchFamily="34" charset="0"/>
              </a:rPr>
              <a:t>densidade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 demográfica é Mônaco, sendo seu território de 2,2 km</a:t>
            </a:r>
            <a:r>
              <a:rPr lang="pt-BR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 para uma população de 38499 habitantes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286000" y="26903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pt-BR" dirty="0"/>
          </a:p>
        </p:txBody>
      </p:sp>
      <p:pic>
        <p:nvPicPr>
          <p:cNvPr id="2050" name="Picture 2" descr="Resultado de imagem para mona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136531"/>
            <a:ext cx="4752528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4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383" y="837476"/>
            <a:ext cx="7117914" cy="576064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rgbClr val="FFFF00"/>
                </a:solidFill>
              </a:rPr>
              <a:t>Fatores que influenciam o tamanho da população humana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756942"/>
              </p:ext>
            </p:extLst>
          </p:nvPr>
        </p:nvGraphicFramePr>
        <p:xfrm>
          <a:off x="-396552" y="1600200"/>
          <a:ext cx="9649072" cy="478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eta para baixo 7"/>
          <p:cNvSpPr/>
          <p:nvPr/>
        </p:nvSpPr>
        <p:spPr>
          <a:xfrm>
            <a:off x="4355976" y="2708920"/>
            <a:ext cx="806039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 rot="5400000">
            <a:off x="2843808" y="3646573"/>
            <a:ext cx="720080" cy="720080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baixo 9"/>
          <p:cNvSpPr/>
          <p:nvPr/>
        </p:nvSpPr>
        <p:spPr>
          <a:xfrm rot="5400000">
            <a:off x="6092564" y="3568131"/>
            <a:ext cx="720080" cy="847304"/>
          </a:xfrm>
          <a:prstGeom prst="downArrow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670122" y="1824969"/>
            <a:ext cx="2412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Taxa de natalidade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030163" y="5327600"/>
            <a:ext cx="2412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Taxa de mortalidade</a:t>
            </a:r>
          </a:p>
        </p:txBody>
      </p:sp>
      <p:sp>
        <p:nvSpPr>
          <p:cNvPr id="12" name="Seta para baixo 11"/>
          <p:cNvSpPr/>
          <p:nvPr/>
        </p:nvSpPr>
        <p:spPr>
          <a:xfrm>
            <a:off x="4427984" y="4573059"/>
            <a:ext cx="806039" cy="72008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FFFF00"/>
                </a:solidFill>
              </a:rPr>
              <a:t>População em Crescimento</a:t>
            </a:r>
          </a:p>
          <a:p>
            <a:r>
              <a:rPr lang="pt-BR" sz="4400" dirty="0"/>
              <a:t>TI+TN &gt; TE + TM</a:t>
            </a:r>
          </a:p>
          <a:p>
            <a:endParaRPr lang="pt-BR" dirty="0"/>
          </a:p>
          <a:p>
            <a:r>
              <a:rPr lang="pt-BR" dirty="0">
                <a:solidFill>
                  <a:srgbClr val="FFFF00"/>
                </a:solidFill>
              </a:rPr>
              <a:t>População estável</a:t>
            </a:r>
          </a:p>
          <a:p>
            <a:r>
              <a:rPr lang="pt-BR" sz="4000" dirty="0"/>
              <a:t>TI+TN = TE + TM</a:t>
            </a:r>
          </a:p>
          <a:p>
            <a:endParaRPr lang="pt-BR" sz="4000" dirty="0"/>
          </a:p>
          <a:p>
            <a:r>
              <a:rPr lang="pt-BR" dirty="0">
                <a:solidFill>
                  <a:srgbClr val="FFFF00"/>
                </a:solidFill>
              </a:rPr>
              <a:t>População em Declínio</a:t>
            </a:r>
          </a:p>
          <a:p>
            <a:r>
              <a:rPr lang="pt-BR" sz="4000" dirty="0"/>
              <a:t>TI+TN &lt; TE + TM</a:t>
            </a:r>
          </a:p>
          <a:p>
            <a:endParaRPr lang="pt-BR" sz="4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973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1600" y="3356992"/>
            <a:ext cx="6887389" cy="13081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9600" dirty="0"/>
              <a:t>NATALIDADE</a:t>
            </a:r>
          </a:p>
        </p:txBody>
      </p:sp>
    </p:spTree>
    <p:extLst>
      <p:ext uri="{BB962C8B-B14F-4D97-AF65-F5344CB8AC3E}">
        <p14:creationId xmlns:p14="http://schemas.microsoft.com/office/powerpoint/2010/main" val="128579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99592" y="276833"/>
            <a:ext cx="7272808" cy="1135943"/>
          </a:xfrm>
        </p:spPr>
        <p:txBody>
          <a:bodyPr>
            <a:normAutofit/>
          </a:bodyPr>
          <a:lstStyle/>
          <a:p>
            <a:r>
              <a:rPr lang="pt-BR" sz="3000" b="1" dirty="0"/>
              <a:t>No Brasil: taxa de </a:t>
            </a:r>
            <a:r>
              <a:rPr lang="pt-BR" sz="3000" b="1" dirty="0">
                <a:solidFill>
                  <a:srgbClr val="FFFF00"/>
                </a:solidFill>
              </a:rPr>
              <a:t>Natalidade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3433554"/>
            <a:ext cx="80648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 dirty="0"/>
              <a:t>TN= N. nascimentos x 1000 / N. habitantes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1784716"/>
            <a:ext cx="66579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778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611560" y="836712"/>
            <a:ext cx="8229600" cy="79208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600" b="1" dirty="0"/>
              <a:t>Taxas (%) referentes ao aumento da população do mundo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6792"/>
            <a:ext cx="7524328" cy="470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539552" y="764704"/>
            <a:ext cx="8280920" cy="93610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pt-BR" sz="4000" b="1" i="1" dirty="0"/>
              <a:t>Taxa de fecundidade total (TFT):</a:t>
            </a:r>
            <a:r>
              <a:rPr lang="pt-BR" b="1" i="1" dirty="0"/>
              <a:t> </a:t>
            </a:r>
            <a:r>
              <a:rPr lang="pt-BR" sz="3400" dirty="0"/>
              <a:t>n° médio de crianças nascidas em relação às mulheres durante os anos de reprodução</a:t>
            </a:r>
            <a:endParaRPr lang="pt-BR" sz="3400" b="1" i="1" dirty="0"/>
          </a:p>
          <a:p>
            <a:endParaRPr lang="pt-BR" b="1" i="1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844824"/>
            <a:ext cx="6624736" cy="445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61728"/>
            <a:ext cx="6705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899592" y="735992"/>
            <a:ext cx="7272808" cy="1135943"/>
          </a:xfrm>
        </p:spPr>
        <p:txBody>
          <a:bodyPr>
            <a:normAutofit/>
          </a:bodyPr>
          <a:lstStyle/>
          <a:p>
            <a:r>
              <a:rPr lang="pt-BR" sz="3000" b="1" dirty="0"/>
              <a:t>No Brasil: taxa de fecundidade total (TFT)</a:t>
            </a:r>
          </a:p>
        </p:txBody>
      </p:sp>
    </p:spTree>
    <p:extLst>
      <p:ext uri="{BB962C8B-B14F-4D97-AF65-F5344CB8AC3E}">
        <p14:creationId xmlns:p14="http://schemas.microsoft.com/office/powerpoint/2010/main" val="146333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861048"/>
            <a:ext cx="6766570" cy="2763447"/>
          </a:xfrm>
          <a:prstGeom prst="rect">
            <a:avLst/>
          </a:prstGeom>
        </p:spPr>
      </p:pic>
      <p:pic>
        <p:nvPicPr>
          <p:cNvPr id="3074" name="Picture 2" descr="Resultado de imagem para chinese one child poli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78" y="969811"/>
            <a:ext cx="4055146" cy="253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m para chinese one child polic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980728"/>
            <a:ext cx="3718477" cy="247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2DA06D8-3685-4959-BBB8-453B66BEF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9518"/>
            <a:ext cx="9144000" cy="493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4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850" y="413792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Fatores que afetam as taxas de natalidade e fecundidade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81128"/>
          </a:xfrm>
        </p:spPr>
        <p:txBody>
          <a:bodyPr>
            <a:normAutofit lnSpcReduction="10000"/>
          </a:bodyPr>
          <a:lstStyle/>
          <a:p>
            <a:r>
              <a:rPr lang="pt-BR" sz="2600" b="1" i="1" dirty="0">
                <a:solidFill>
                  <a:srgbClr val="FFFF00"/>
                </a:solidFill>
              </a:rPr>
              <a:t>Importância das crianças como parte de mão de obra</a:t>
            </a:r>
          </a:p>
          <a:p>
            <a:pPr lvl="1"/>
            <a:r>
              <a:rPr lang="pt-BR" sz="2600" dirty="0"/>
              <a:t>Em países </a:t>
            </a:r>
            <a:r>
              <a:rPr lang="pt-BR" sz="2600" b="1" dirty="0"/>
              <a:t>menos</a:t>
            </a:r>
            <a:r>
              <a:rPr lang="pt-BR" sz="2600" dirty="0"/>
              <a:t> desenvolvidos as crianças ajudam em tarefas (de sobrevivência), como transporte de água, cuidar de colheitas, gado, cozinhar</a:t>
            </a:r>
          </a:p>
          <a:p>
            <a:r>
              <a:rPr lang="pt-BR" sz="2600" b="1" i="1" dirty="0">
                <a:solidFill>
                  <a:srgbClr val="FFFF00"/>
                </a:solidFill>
              </a:rPr>
              <a:t>Custo de criação e educação dos filhos</a:t>
            </a:r>
          </a:p>
          <a:p>
            <a:pPr lvl="1"/>
            <a:r>
              <a:rPr lang="pt-BR" sz="2600" dirty="0"/>
              <a:t>Em países desenvolvidos o custo de criação é alto, nos quais não há trabalho pelas crianças</a:t>
            </a:r>
          </a:p>
          <a:p>
            <a:r>
              <a:rPr lang="pt-BR" sz="2600" b="1" i="1" dirty="0">
                <a:solidFill>
                  <a:srgbClr val="FFFF00"/>
                </a:solidFill>
              </a:rPr>
              <a:t>Disponibilidade ou a falta de sistemas de pensão </a:t>
            </a:r>
          </a:p>
          <a:p>
            <a:pPr lvl="1"/>
            <a:r>
              <a:rPr lang="pt-BR" sz="2600" dirty="0"/>
              <a:t>Em países menos desenvolvidos influenciam as decisões de alguns casais, pois diminuem a necessidade de ter muitos filhos</a:t>
            </a:r>
          </a:p>
        </p:txBody>
      </p:sp>
    </p:spTree>
    <p:extLst>
      <p:ext uri="{BB962C8B-B14F-4D97-AF65-F5344CB8AC3E}">
        <p14:creationId xmlns:p14="http://schemas.microsoft.com/office/powerpoint/2010/main" val="378137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898846"/>
            <a:ext cx="8507288" cy="496855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sz="2600" dirty="0"/>
              <a:t>Por outro lado, em países </a:t>
            </a:r>
            <a:r>
              <a:rPr lang="pt-BR" sz="26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mais desenvolvidos</a:t>
            </a:r>
            <a:r>
              <a:rPr lang="pt-BR" sz="2600" dirty="0"/>
              <a:t>:</a:t>
            </a:r>
          </a:p>
          <a:p>
            <a:pPr lvl="1">
              <a:spcBef>
                <a:spcPts val="1200"/>
              </a:spcBef>
            </a:pPr>
            <a:r>
              <a:rPr lang="pt-BR" sz="2600" dirty="0"/>
              <a:t>Diversos tipos de subsídios para os casais terem mais filhos</a:t>
            </a:r>
          </a:p>
          <a:p>
            <a:pPr lvl="1">
              <a:spcBef>
                <a:spcPts val="1200"/>
              </a:spcBef>
            </a:pPr>
            <a:r>
              <a:rPr lang="pt-BR" sz="2600" dirty="0"/>
              <a:t>Medidas especiais para as mulheres conciliarem maternidade com trabalho</a:t>
            </a:r>
          </a:p>
          <a:p>
            <a:pPr lvl="1">
              <a:spcBef>
                <a:spcPts val="1200"/>
              </a:spcBef>
            </a:pPr>
            <a:r>
              <a:rPr lang="pt-BR" sz="2600" dirty="0"/>
              <a:t>Licença paternidade estendida</a:t>
            </a:r>
          </a:p>
          <a:p>
            <a:pPr lvl="1">
              <a:spcBef>
                <a:spcPts val="1200"/>
              </a:spcBef>
            </a:pPr>
            <a:r>
              <a:rPr lang="pt-BR" sz="2600" dirty="0"/>
              <a:t>Creches gratuitas, descontos em restaurantes, supermercados, cinemas, transportes públicos e  atividades extraescolares a preços reduzidos</a:t>
            </a:r>
          </a:p>
          <a:p>
            <a:pPr lvl="1">
              <a:spcBef>
                <a:spcPts val="1200"/>
              </a:spcBef>
            </a:pPr>
            <a:r>
              <a:rPr lang="pt-BR" sz="2600" dirty="0"/>
              <a:t>Assistência pré-natal gratuita</a:t>
            </a:r>
          </a:p>
          <a:p>
            <a:pPr lvl="1">
              <a:spcBef>
                <a:spcPts val="1200"/>
              </a:spcBef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708591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761" y="701824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Fatores que afetam as taxas de natalidade e fecundidade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21496"/>
            <a:ext cx="8363272" cy="4536504"/>
          </a:xfrm>
        </p:spPr>
        <p:txBody>
          <a:bodyPr>
            <a:normAutofit/>
          </a:bodyPr>
          <a:lstStyle/>
          <a:p>
            <a:r>
              <a:rPr lang="pt-BR" sz="2600" b="1" i="1" dirty="0">
                <a:solidFill>
                  <a:srgbClr val="FFFF00"/>
                </a:solidFill>
              </a:rPr>
              <a:t>Urbanização </a:t>
            </a:r>
          </a:p>
          <a:p>
            <a:pPr lvl="1"/>
            <a:r>
              <a:rPr lang="pt-BR" sz="2600" dirty="0"/>
              <a:t>As pessoas têm mais acessos às informações de planejamento familiar</a:t>
            </a:r>
          </a:p>
          <a:p>
            <a:endParaRPr lang="pt-BR" sz="2600" b="1" i="1" dirty="0">
              <a:solidFill>
                <a:srgbClr val="FFFF00"/>
              </a:solidFill>
            </a:endParaRPr>
          </a:p>
          <a:p>
            <a:r>
              <a:rPr lang="pt-BR" sz="2600" b="1" i="1" dirty="0">
                <a:solidFill>
                  <a:srgbClr val="FFFF00"/>
                </a:solidFill>
              </a:rPr>
              <a:t>Educação e emprego disponíveis par as mulheres</a:t>
            </a:r>
          </a:p>
          <a:p>
            <a:pPr lvl="1"/>
            <a:r>
              <a:rPr lang="pt-BR" sz="2600" dirty="0"/>
              <a:t>Mulheres sem escolaridade geralmente têm dois filhos a mais que aquelas com ensino médio</a:t>
            </a:r>
          </a:p>
        </p:txBody>
      </p:sp>
    </p:spTree>
    <p:extLst>
      <p:ext uri="{BB962C8B-B14F-4D97-AF65-F5344CB8AC3E}">
        <p14:creationId xmlns:p14="http://schemas.microsoft.com/office/powerpoint/2010/main" val="3911772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ibge.gov.br/home/presidencia/noticias/images/censo2003fecund_0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13" y="1988840"/>
            <a:ext cx="8414375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23850" y="413792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TFT x escolaridade no Brasil - IBGE</a:t>
            </a:r>
          </a:p>
        </p:txBody>
      </p:sp>
    </p:spTree>
    <p:extLst>
      <p:ext uri="{BB962C8B-B14F-4D97-AF65-F5344CB8AC3E}">
        <p14:creationId xmlns:p14="http://schemas.microsoft.com/office/powerpoint/2010/main" val="2708591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850" y="413792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Fatores que afetam as taxas de natalidade e fecundidade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9208" y="1700808"/>
            <a:ext cx="8363272" cy="4536504"/>
          </a:xfrm>
        </p:spPr>
        <p:txBody>
          <a:bodyPr>
            <a:normAutofit/>
          </a:bodyPr>
          <a:lstStyle/>
          <a:p>
            <a:r>
              <a:rPr lang="pt-BR" sz="2600" b="1" i="1" dirty="0">
                <a:solidFill>
                  <a:srgbClr val="FFFF00"/>
                </a:solidFill>
              </a:rPr>
              <a:t>Idade do casamento</a:t>
            </a:r>
          </a:p>
          <a:p>
            <a:pPr lvl="1"/>
            <a:r>
              <a:rPr lang="pt-BR" sz="2600" dirty="0"/>
              <a:t>Em geral, quanto mais tarde a mulher se casa e tem o primeiro filho, elas possuem menos filhos</a:t>
            </a:r>
          </a:p>
          <a:p>
            <a:r>
              <a:rPr lang="pt-BR" sz="2600" b="1" i="1" dirty="0">
                <a:solidFill>
                  <a:srgbClr val="FFFF00"/>
                </a:solidFill>
              </a:rPr>
              <a:t>Disponibilidade de métodos de controle de natalidade</a:t>
            </a:r>
          </a:p>
          <a:p>
            <a:pPr lvl="1"/>
            <a:r>
              <a:rPr lang="pt-BR" sz="2600" dirty="0"/>
              <a:t>Permite o controle do número de filhos e o intervalo entre os filhos</a:t>
            </a:r>
          </a:p>
          <a:p>
            <a:r>
              <a:rPr lang="pt-BR" sz="2600" b="1" i="1" dirty="0">
                <a:solidFill>
                  <a:srgbClr val="FFFF00"/>
                </a:solidFill>
              </a:rPr>
              <a:t>Crenças religiosas, tradições e questões culturais</a:t>
            </a:r>
          </a:p>
          <a:p>
            <a:pPr lvl="1"/>
            <a:r>
              <a:rPr lang="pt-BR" sz="2600" dirty="0"/>
              <a:t>Favorecem famílias grandes, são contra o aborto e métodos contraceptivos</a:t>
            </a:r>
          </a:p>
        </p:txBody>
      </p:sp>
    </p:spTree>
    <p:extLst>
      <p:ext uri="{BB962C8B-B14F-4D97-AF65-F5344CB8AC3E}">
        <p14:creationId xmlns:p14="http://schemas.microsoft.com/office/powerpoint/2010/main" val="103240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ultado de imagem para anti contraceptives methods afr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764704"/>
            <a:ext cx="6634587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59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43608" y="3284984"/>
            <a:ext cx="6887389" cy="1308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8000" dirty="0"/>
              <a:t>MORTALIDADE</a:t>
            </a:r>
          </a:p>
        </p:txBody>
      </p:sp>
    </p:spTree>
    <p:extLst>
      <p:ext uri="{BB962C8B-B14F-4D97-AF65-F5344CB8AC3E}">
        <p14:creationId xmlns:p14="http://schemas.microsoft.com/office/powerpoint/2010/main" val="2492834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99592" y="276833"/>
            <a:ext cx="7272808" cy="1135943"/>
          </a:xfrm>
        </p:spPr>
        <p:txBody>
          <a:bodyPr>
            <a:normAutofit/>
          </a:bodyPr>
          <a:lstStyle/>
          <a:p>
            <a:r>
              <a:rPr lang="pt-BR" sz="3000" b="1" dirty="0"/>
              <a:t>No Brasil: taxa de </a:t>
            </a:r>
            <a:r>
              <a:rPr lang="pt-BR" sz="3000" b="1" dirty="0">
                <a:solidFill>
                  <a:srgbClr val="FFC000"/>
                </a:solidFill>
              </a:rPr>
              <a:t>Mortalidade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83568" y="3433554"/>
            <a:ext cx="806489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 dirty="0"/>
              <a:t>TM= N. mortes x 1000 / N. habitantes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21" y="1700808"/>
            <a:ext cx="66865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64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265" y="692696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MORTALIDADE - Fatores que afetam as </a:t>
            </a:r>
            <a:br>
              <a:rPr lang="pt-BR" sz="2800" b="1" i="1" dirty="0">
                <a:solidFill>
                  <a:srgbClr val="FFC000"/>
                </a:solidFill>
              </a:rPr>
            </a:br>
            <a:r>
              <a:rPr lang="pt-BR" sz="2800" b="1" i="1" dirty="0">
                <a:solidFill>
                  <a:srgbClr val="FFC000"/>
                </a:solidFill>
              </a:rPr>
              <a:t>taxas </a:t>
            </a:r>
            <a:br>
              <a:rPr lang="pt-BR" sz="2800" b="1" i="1" dirty="0">
                <a:solidFill>
                  <a:srgbClr val="FFC000"/>
                </a:solidFill>
              </a:rPr>
            </a:br>
            <a:endParaRPr lang="pt-BR" sz="2800" b="1" i="1" dirty="0">
              <a:solidFill>
                <a:srgbClr val="FFC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9349" y="2237610"/>
            <a:ext cx="8363272" cy="4536504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2600" b="1" i="1" dirty="0">
                <a:solidFill>
                  <a:srgbClr val="FFFF00"/>
                </a:solidFill>
              </a:rPr>
              <a:t>Diminuição da mortalidade nos países menos desenvolvidos</a:t>
            </a:r>
          </a:p>
          <a:p>
            <a:pPr lvl="1">
              <a:spcBef>
                <a:spcPts val="1800"/>
              </a:spcBef>
            </a:pPr>
            <a:r>
              <a:rPr lang="pt-BR" sz="2600" dirty="0"/>
              <a:t>Melhora na expectativa de vida e diminuição da mortalidade infantil</a:t>
            </a:r>
          </a:p>
          <a:p>
            <a:pPr lvl="1">
              <a:spcBef>
                <a:spcPts val="1800"/>
              </a:spcBef>
            </a:pPr>
            <a:r>
              <a:rPr lang="pt-BR" sz="2600" dirty="0"/>
              <a:t>Melhores suprimentos e distribuição de alimentos</a:t>
            </a:r>
          </a:p>
          <a:p>
            <a:pPr lvl="1">
              <a:spcBef>
                <a:spcPts val="1800"/>
              </a:spcBef>
            </a:pPr>
            <a:r>
              <a:rPr lang="pt-BR" sz="2600" dirty="0"/>
              <a:t>Acesso a vacinas e antibióticos</a:t>
            </a:r>
          </a:p>
          <a:p>
            <a:pPr lvl="1">
              <a:spcBef>
                <a:spcPts val="1800"/>
              </a:spcBef>
            </a:pPr>
            <a:r>
              <a:rPr lang="pt-BR" sz="2600" dirty="0"/>
              <a:t>Melhoria no saneamento e tratamento de água</a:t>
            </a:r>
          </a:p>
        </p:txBody>
      </p:sp>
    </p:spTree>
    <p:extLst>
      <p:ext uri="{BB962C8B-B14F-4D97-AF65-F5344CB8AC3E}">
        <p14:creationId xmlns:p14="http://schemas.microsoft.com/office/powerpoint/2010/main" val="3694152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m para pastoral da crianç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148" name="Picture 4" descr="Resultado de imagem para expectativa de vida no brasil ib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788234"/>
            <a:ext cx="6036720" cy="26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m para expectativa de vida no mun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2816"/>
            <a:ext cx="9060433" cy="460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79912" y="5557636"/>
            <a:ext cx="2338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Expectativa de vida no mundo </a:t>
            </a:r>
          </a:p>
        </p:txBody>
      </p:sp>
    </p:spTree>
    <p:extLst>
      <p:ext uri="{BB962C8B-B14F-4D97-AF65-F5344CB8AC3E}">
        <p14:creationId xmlns:p14="http://schemas.microsoft.com/office/powerpoint/2010/main" val="270859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47664" y="3284984"/>
            <a:ext cx="6887389" cy="1308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8000" dirty="0"/>
              <a:t>MIGRAÇÕES</a:t>
            </a:r>
          </a:p>
        </p:txBody>
      </p:sp>
    </p:spTree>
    <p:extLst>
      <p:ext uri="{BB962C8B-B14F-4D97-AF65-F5344CB8AC3E}">
        <p14:creationId xmlns:p14="http://schemas.microsoft.com/office/powerpoint/2010/main" val="1358211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850" y="485800"/>
            <a:ext cx="8820150" cy="1143000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C000"/>
                </a:solidFill>
              </a:rPr>
              <a:t>MIGRAÇÕES - Fatores que afetam as migrações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0602" y="1622985"/>
            <a:ext cx="8363272" cy="1296144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2600" dirty="0"/>
              <a:t>Motivos: oportunidade de empregos, economia, perseguição religiosa, conflitos étnicos, opressão política, guerras e </a:t>
            </a:r>
            <a:r>
              <a:rPr lang="pt-BR" sz="2600" b="1" i="1" dirty="0">
                <a:solidFill>
                  <a:srgbClr val="FFFF00"/>
                </a:solidFill>
              </a:rPr>
              <a:t>degradação ambiental</a:t>
            </a:r>
          </a:p>
        </p:txBody>
      </p:sp>
      <p:pic>
        <p:nvPicPr>
          <p:cNvPr id="10242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6"/>
            <a:ext cx="7521277" cy="37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572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9E6AB-3828-432A-A04B-C0E3EB73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5E5D05-CCDB-4961-9D14-D07DD0490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dirty="0"/>
              <a:t>COMO ESTUDAR A DINÂMICA POPULACIONAL ?</a:t>
            </a:r>
          </a:p>
        </p:txBody>
      </p:sp>
    </p:spTree>
    <p:extLst>
      <p:ext uri="{BB962C8B-B14F-4D97-AF65-F5344CB8AC3E}">
        <p14:creationId xmlns:p14="http://schemas.microsoft.com/office/powerpoint/2010/main" val="2736614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507288" cy="792088"/>
          </a:xfrm>
        </p:spPr>
        <p:txBody>
          <a:bodyPr>
            <a:normAutofit fontScale="90000"/>
          </a:bodyPr>
          <a:lstStyle/>
          <a:p>
            <a:r>
              <a:rPr lang="pt-BR" sz="2800" b="1" dirty="0">
                <a:solidFill>
                  <a:srgbClr val="FFFF00"/>
                </a:solidFill>
              </a:rPr>
              <a:t>Como a estrutura etária afeta o tamanho </a:t>
            </a:r>
            <a:br>
              <a:rPr lang="pt-BR" sz="2800" b="1" dirty="0">
                <a:solidFill>
                  <a:srgbClr val="FFFF00"/>
                </a:solidFill>
              </a:rPr>
            </a:br>
            <a:r>
              <a:rPr lang="pt-BR" sz="2800" b="1" dirty="0">
                <a:solidFill>
                  <a:srgbClr val="FFFF00"/>
                </a:solidFill>
              </a:rPr>
              <a:t>da população?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2636912"/>
            <a:ext cx="8229600" cy="216023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pt-BR" sz="3200" dirty="0"/>
              <a:t>N° ou porcentagem de pessoas por faixa de idade:</a:t>
            </a:r>
          </a:p>
          <a:p>
            <a:pPr lvl="1">
              <a:spcBef>
                <a:spcPts val="600"/>
              </a:spcBef>
            </a:pPr>
            <a:r>
              <a:rPr lang="pt-BR" sz="3200" dirty="0" err="1"/>
              <a:t>Pré</a:t>
            </a:r>
            <a:r>
              <a:rPr lang="pt-BR" sz="3200" dirty="0"/>
              <a:t>-reprodutiva: 0-14 anos</a:t>
            </a:r>
          </a:p>
          <a:p>
            <a:pPr lvl="1">
              <a:spcBef>
                <a:spcPts val="600"/>
              </a:spcBef>
            </a:pPr>
            <a:r>
              <a:rPr lang="pt-BR" sz="3200" dirty="0"/>
              <a:t>Reprodutiva: 15 a 44 anos</a:t>
            </a:r>
          </a:p>
          <a:p>
            <a:pPr lvl="1">
              <a:spcBef>
                <a:spcPts val="600"/>
              </a:spcBef>
            </a:pPr>
            <a:r>
              <a:rPr lang="pt-BR" sz="3200" dirty="0"/>
              <a:t>Pós-reprodutiva: acima de 45 anos</a:t>
            </a:r>
          </a:p>
        </p:txBody>
      </p:sp>
    </p:spTree>
    <p:extLst>
      <p:ext uri="{BB962C8B-B14F-4D97-AF65-F5344CB8AC3E}">
        <p14:creationId xmlns:p14="http://schemas.microsoft.com/office/powerpoint/2010/main" val="3399711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669135"/>
            <a:ext cx="7416824" cy="3848097"/>
          </a:xfrm>
          <a:prstGeom prst="rect">
            <a:avLst/>
          </a:prstGeom>
        </p:spPr>
      </p:pic>
      <p:sp>
        <p:nvSpPr>
          <p:cNvPr id="6" name="Retângulo 4"/>
          <p:cNvSpPr>
            <a:spLocks noChangeArrowheads="1"/>
          </p:cNvSpPr>
          <p:nvPr/>
        </p:nvSpPr>
        <p:spPr bwMode="auto">
          <a:xfrm>
            <a:off x="1144949" y="767220"/>
            <a:ext cx="6192838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3600"/>
              </a:spcBef>
              <a:buFontTx/>
              <a:buNone/>
            </a:pPr>
            <a:r>
              <a:rPr lang="pt-BR" altLang="pt-BR" sz="2400" b="1" i="1">
                <a:latin typeface="Arial" panose="020B0604020202020204" pitchFamily="34" charset="0"/>
              </a:rPr>
              <a:t>População em crescimento </a:t>
            </a:r>
            <a:r>
              <a:rPr lang="pt-BR" altLang="pt-BR" sz="2400">
                <a:latin typeface="Arial" panose="020B0604020202020204" pitchFamily="34" charset="0"/>
              </a:rPr>
              <a:t>– grande proporção de indivíduos jovens</a:t>
            </a:r>
          </a:p>
        </p:txBody>
      </p:sp>
      <p:sp>
        <p:nvSpPr>
          <p:cNvPr id="7" name="Retângulo 5"/>
          <p:cNvSpPr>
            <a:spLocks noChangeArrowheads="1"/>
          </p:cNvSpPr>
          <p:nvPr/>
        </p:nvSpPr>
        <p:spPr bwMode="auto">
          <a:xfrm>
            <a:off x="755650" y="5589240"/>
            <a:ext cx="4320406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3600"/>
              </a:spcBef>
              <a:buFontTx/>
              <a:buNone/>
            </a:pPr>
            <a:r>
              <a:rPr lang="pt-BR" altLang="pt-BR" sz="2400" b="1" i="1">
                <a:latin typeface="Arial" panose="020B0604020202020204" pitchFamily="34" charset="0"/>
              </a:rPr>
              <a:t>População estacionaria </a:t>
            </a:r>
            <a:r>
              <a:rPr lang="pt-BR" altLang="pt-BR" sz="2400">
                <a:latin typeface="Arial" panose="020B0604020202020204" pitchFamily="34" charset="0"/>
              </a:rPr>
              <a:t>– distribuição uniforme das classes de idade</a:t>
            </a:r>
          </a:p>
        </p:txBody>
      </p:sp>
      <p:sp>
        <p:nvSpPr>
          <p:cNvPr id="8" name="Retângulo 6"/>
          <p:cNvSpPr>
            <a:spLocks noChangeArrowheads="1"/>
          </p:cNvSpPr>
          <p:nvPr/>
        </p:nvSpPr>
        <p:spPr bwMode="auto">
          <a:xfrm>
            <a:off x="5364088" y="5589240"/>
            <a:ext cx="3600400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3600"/>
              </a:spcBef>
              <a:buFontTx/>
              <a:buNone/>
            </a:pPr>
            <a:r>
              <a:rPr lang="pt-BR" altLang="pt-BR" sz="2400" b="1" i="1" dirty="0">
                <a:latin typeface="Arial" panose="020B0604020202020204" pitchFamily="34" charset="0"/>
              </a:rPr>
              <a:t>População em declínio</a:t>
            </a:r>
            <a:r>
              <a:rPr lang="pt-BR" altLang="pt-BR" sz="2400" dirty="0">
                <a:latin typeface="Arial" panose="020B0604020202020204" pitchFamily="34" charset="0"/>
              </a:rPr>
              <a:t> – maior proporção de indivíduos velhos</a:t>
            </a:r>
          </a:p>
        </p:txBody>
      </p:sp>
      <p:cxnSp>
        <p:nvCxnSpPr>
          <p:cNvPr id="9" name="Conector de seta reta 8"/>
          <p:cNvCxnSpPr>
            <a:cxnSpLocks/>
            <a:stCxn id="6" idx="2"/>
          </p:cNvCxnSpPr>
          <p:nvPr/>
        </p:nvCxnSpPr>
        <p:spPr>
          <a:xfrm flipH="1">
            <a:off x="3203848" y="1599070"/>
            <a:ext cx="1037520" cy="211796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cxnSpLocks/>
            <a:stCxn id="8" idx="0"/>
          </p:cNvCxnSpPr>
          <p:nvPr/>
        </p:nvCxnSpPr>
        <p:spPr>
          <a:xfrm flipV="1">
            <a:off x="7164288" y="2852936"/>
            <a:ext cx="173499" cy="273630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cxnSpLocks/>
            <a:stCxn id="7" idx="0"/>
          </p:cNvCxnSpPr>
          <p:nvPr/>
        </p:nvCxnSpPr>
        <p:spPr>
          <a:xfrm flipV="1">
            <a:off x="2915853" y="3212976"/>
            <a:ext cx="2736267" cy="23762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3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661" y="689729"/>
            <a:ext cx="4001723" cy="311088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85" y="3818678"/>
            <a:ext cx="3650115" cy="292269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844297"/>
            <a:ext cx="3732262" cy="289707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729556" y="118000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1980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764969" y="614855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2050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638943" y="425401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2017</a:t>
            </a:r>
          </a:p>
        </p:txBody>
      </p: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948352" y="1844824"/>
            <a:ext cx="2692416" cy="1440160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Pirâmide etária do Brasil </a:t>
            </a:r>
            <a:br>
              <a:rPr lang="pt-BR" sz="3000" b="1" dirty="0"/>
            </a:br>
            <a:r>
              <a:rPr lang="pt-BR" sz="2700" dirty="0"/>
              <a:t>fonte: IBGE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DC7F1B2-0246-4A08-A3C6-86CB81F66FCA}"/>
              </a:ext>
            </a:extLst>
          </p:cNvPr>
          <p:cNvCxnSpPr/>
          <p:nvPr/>
        </p:nvCxnSpPr>
        <p:spPr>
          <a:xfrm>
            <a:off x="4308585" y="3645024"/>
            <a:ext cx="34563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54E87FF-7906-43C0-A9B9-8286E225F0A4}"/>
              </a:ext>
            </a:extLst>
          </p:cNvPr>
          <p:cNvCxnSpPr/>
          <p:nvPr/>
        </p:nvCxnSpPr>
        <p:spPr>
          <a:xfrm>
            <a:off x="1115616" y="5445224"/>
            <a:ext cx="34563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EC43F67-6A0E-44F9-98A7-1BCF3E097FF4}"/>
              </a:ext>
            </a:extLst>
          </p:cNvPr>
          <p:cNvCxnSpPr/>
          <p:nvPr/>
        </p:nvCxnSpPr>
        <p:spPr>
          <a:xfrm>
            <a:off x="5135910" y="4438677"/>
            <a:ext cx="34563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19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579296" cy="580926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FF00"/>
                </a:solidFill>
              </a:rPr>
              <a:t>Problemas relacionados ao rápido declínio populacional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sz="2600" dirty="0"/>
              <a:t>Crescimento econômico comprometido</a:t>
            </a:r>
          </a:p>
          <a:p>
            <a:pPr>
              <a:spcBef>
                <a:spcPts val="1200"/>
              </a:spcBef>
            </a:pPr>
            <a:r>
              <a:rPr lang="pt-BR" sz="2600" dirty="0"/>
              <a:t>Diminuição da mão de obra</a:t>
            </a:r>
          </a:p>
          <a:p>
            <a:pPr>
              <a:spcBef>
                <a:spcPts val="1200"/>
              </a:spcBef>
            </a:pPr>
            <a:r>
              <a:rPr lang="pt-BR" sz="2600" dirty="0"/>
              <a:t>Diminuição das receitas governamentais</a:t>
            </a:r>
          </a:p>
          <a:p>
            <a:pPr>
              <a:spcBef>
                <a:spcPts val="1200"/>
              </a:spcBef>
            </a:pPr>
            <a:r>
              <a:rPr lang="pt-BR" sz="2600" dirty="0"/>
              <a:t>Menos empreendimentos, formação de negócios e desenvolvimento tecnológico</a:t>
            </a:r>
          </a:p>
          <a:p>
            <a:pPr>
              <a:spcBef>
                <a:spcPts val="1200"/>
              </a:spcBef>
            </a:pPr>
            <a:r>
              <a:rPr lang="pt-BR" sz="2600" dirty="0"/>
              <a:t>Aumento dos gastos públicos com pensões e planos de saúde mais caros</a:t>
            </a:r>
          </a:p>
          <a:p>
            <a:pPr>
              <a:spcBef>
                <a:spcPts val="1200"/>
              </a:spcBef>
            </a:pPr>
            <a:r>
              <a:rPr lang="pt-BR" sz="2600" dirty="0"/>
              <a:t>Cortes de pensões e aumento da idade da aposentadoria</a:t>
            </a:r>
          </a:p>
          <a:p>
            <a:pPr>
              <a:spcBef>
                <a:spcPts val="1200"/>
              </a:spcBef>
            </a:pPr>
            <a:endParaRPr lang="pt-BR" sz="2600" dirty="0"/>
          </a:p>
          <a:p>
            <a:pPr>
              <a:spcBef>
                <a:spcPts val="1200"/>
              </a:spcBef>
            </a:pP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536061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09575"/>
              </p:ext>
            </p:extLst>
          </p:nvPr>
        </p:nvGraphicFramePr>
        <p:xfrm>
          <a:off x="395858" y="620688"/>
          <a:ext cx="8712646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5703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507288" cy="792088"/>
          </a:xfrm>
        </p:spPr>
        <p:txBody>
          <a:bodyPr>
            <a:noAutofit/>
          </a:bodyPr>
          <a:lstStyle/>
          <a:p>
            <a:r>
              <a:rPr lang="pt-BR" sz="2800" b="1" i="1" dirty="0">
                <a:solidFill>
                  <a:srgbClr val="FFFF00"/>
                </a:solidFill>
              </a:rPr>
              <a:t>Diminuição do crescimento populacional:</a:t>
            </a:r>
            <a:br>
              <a:rPr lang="pt-BR" sz="2800" b="1" i="1" dirty="0">
                <a:solidFill>
                  <a:srgbClr val="FFFF00"/>
                </a:solidFill>
              </a:rPr>
            </a:br>
            <a:r>
              <a:rPr lang="pt-BR" sz="2800" b="1" i="1" dirty="0">
                <a:solidFill>
                  <a:srgbClr val="FFFF00"/>
                </a:solidFill>
              </a:rPr>
              <a:t>desenvolvimento econômico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72816"/>
            <a:ext cx="8507288" cy="1296144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1200"/>
              </a:spcBef>
              <a:buNone/>
            </a:pPr>
            <a:r>
              <a:rPr lang="pt-BR" sz="2400" dirty="0"/>
              <a:t>A industrialização dos países causa uma </a:t>
            </a:r>
            <a:r>
              <a:rPr lang="pt-BR" sz="2400" b="1" dirty="0"/>
              <a:t>transição demográfica</a:t>
            </a:r>
            <a:r>
              <a:rPr lang="pt-BR" sz="2400" dirty="0"/>
              <a:t>: conforme eles se tornam industrializados e economicamente desenvolvidos, as populações tendem a crescer mais lentamente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69" y="3070474"/>
            <a:ext cx="6673911" cy="349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994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850" y="692696"/>
            <a:ext cx="8820150" cy="724942"/>
          </a:xfrm>
        </p:spPr>
        <p:txBody>
          <a:bodyPr>
            <a:noAutofit/>
          </a:bodyPr>
          <a:lstStyle/>
          <a:p>
            <a:r>
              <a:rPr lang="pt-BR" sz="2500" b="1" u="sng" dirty="0"/>
              <a:t>Quais as consequências do aumento da população no ambiente?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705404"/>
              </p:ext>
            </p:extLst>
          </p:nvPr>
        </p:nvGraphicFramePr>
        <p:xfrm>
          <a:off x="323528" y="1600200"/>
          <a:ext cx="8686800" cy="5141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349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m para urbanização brasileira ib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569" y="1988840"/>
            <a:ext cx="6408712" cy="419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507288" cy="792088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 Área urbana  área rural</a:t>
            </a:r>
            <a:endParaRPr lang="pt-BR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869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83" y="1484784"/>
            <a:ext cx="8244408" cy="5143414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529208" y="620688"/>
            <a:ext cx="8507288" cy="792088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Consequências indesejáveis da expansão urbana</a:t>
            </a:r>
            <a:endParaRPr lang="pt-BR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349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529208" y="692696"/>
            <a:ext cx="8507288" cy="1512168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Áreas urbanas são modelos insustentáveis</a:t>
            </a:r>
            <a:br>
              <a:rPr lang="pt-BR" sz="2800" b="1" dirty="0">
                <a:sym typeface="Wingdings" panose="05000000000000000000" pitchFamily="2" charset="2"/>
              </a:rPr>
            </a:br>
            <a:r>
              <a:rPr lang="pt-BR" sz="2600" dirty="0">
                <a:sym typeface="Wingdings" panose="05000000000000000000" pitchFamily="2" charset="2"/>
              </a:rPr>
              <a:t>2% da área terrestre são de áreas urbanas</a:t>
            </a:r>
            <a:br>
              <a:rPr lang="pt-BR" sz="2600" dirty="0">
                <a:sym typeface="Wingdings" panose="05000000000000000000" pitchFamily="2" charset="2"/>
              </a:rPr>
            </a:br>
            <a:r>
              <a:rPr lang="pt-BR" sz="2600" dirty="0">
                <a:sym typeface="Wingdings" panose="05000000000000000000" pitchFamily="2" charset="2"/>
              </a:rPr>
              <a:t>Consomem 75% de recursos e produzem 75% de poluição e dos resíduos do mundo</a:t>
            </a:r>
            <a:endParaRPr lang="pt-BR" sz="26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0" y="2420888"/>
            <a:ext cx="8388424" cy="423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64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940966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rgbClr val="FFFF00"/>
                </a:solidFill>
              </a:rPr>
              <a:t>Desvantagens da urbanização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57561" y="1933713"/>
            <a:ext cx="3826768" cy="4349080"/>
          </a:xfrm>
        </p:spPr>
        <p:txBody>
          <a:bodyPr>
            <a:normAutofit/>
          </a:bodyPr>
          <a:lstStyle/>
          <a:p>
            <a:r>
              <a:rPr lang="pt-BR" sz="2600" dirty="0"/>
              <a:t>A maioria das cidades não tem vegetação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/>
              <a:t>Não possuem absorção de poluentes, produção de oxigênio, sombras, redução da erosão do solo, hábitats para animais selvagens e prazer estético</a:t>
            </a:r>
          </a:p>
        </p:txBody>
      </p:sp>
      <p:pic>
        <p:nvPicPr>
          <p:cNvPr id="2050" name="Picture 2" descr="Resultado de imagem para beneficios area verde urba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628800"/>
            <a:ext cx="5129336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9614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940966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rgbClr val="FFFF00"/>
                </a:solidFill>
              </a:rPr>
              <a:t>Desvantagens da urbanização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323528" y="1683171"/>
            <a:ext cx="4104456" cy="4986189"/>
          </a:xfrm>
        </p:spPr>
        <p:txBody>
          <a:bodyPr>
            <a:normAutofit/>
          </a:bodyPr>
          <a:lstStyle/>
          <a:p>
            <a:r>
              <a:rPr lang="pt-BR" sz="2600" dirty="0"/>
              <a:t>A maioria das cidades têm problemas de água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/>
              <a:t> Necessidade de mais fontes, reservatórios </a:t>
            </a:r>
            <a:r>
              <a:rPr lang="pt-BR" sz="2600" dirty="0">
                <a:sym typeface="Symbol" panose="05050102010706020507" pitchFamily="18" charset="2"/>
              </a:rPr>
              <a:t> esgotamento de águas subterrâneas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>
                <a:sym typeface="Symbol" panose="05050102010706020507" pitchFamily="18" charset="2"/>
              </a:rPr>
              <a:t> A cobertura da terra por asfalto, edifícios, concreto  inundações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>
                <a:sym typeface="Symbol" panose="05050102010706020507" pitchFamily="18" charset="2"/>
              </a:rPr>
              <a:t> Poluição dos corpos d’água</a:t>
            </a:r>
          </a:p>
          <a:p>
            <a:pPr marL="363538" lvl="1" indent="0">
              <a:buNone/>
              <a:tabLst>
                <a:tab pos="538163" algn="l"/>
              </a:tabLst>
            </a:pPr>
            <a:endParaRPr lang="pt-BR" sz="2600" dirty="0"/>
          </a:p>
        </p:txBody>
      </p:sp>
      <p:pic>
        <p:nvPicPr>
          <p:cNvPr id="1026" name="Picture 2" descr="Resultado de imagem para problemas de agua urbaniz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643867"/>
            <a:ext cx="3360373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inundaç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365104"/>
            <a:ext cx="3338319" cy="215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632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940966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rgbClr val="FFFF00"/>
                </a:solidFill>
              </a:rPr>
              <a:t>Desvantagens da urbanização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323528" y="1556792"/>
            <a:ext cx="4104456" cy="5147842"/>
          </a:xfrm>
        </p:spPr>
        <p:txBody>
          <a:bodyPr>
            <a:normAutofit lnSpcReduction="10000"/>
          </a:bodyPr>
          <a:lstStyle/>
          <a:p>
            <a:r>
              <a:rPr lang="pt-BR" sz="2600" dirty="0"/>
              <a:t>As cidades concentram os problemas de saúde e poluição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/>
              <a:t> alta densidade populacional, alto consumo de recursos</a:t>
            </a:r>
            <a:r>
              <a:rPr lang="pt-BR" sz="2600" dirty="0">
                <a:sym typeface="Symbol" panose="05050102010706020507" pitchFamily="18" charset="2"/>
              </a:rPr>
              <a:t>  poluição do ar, água, sólidos e resíduos perigosos  sem dispersão imediata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>
                <a:sym typeface="Symbol" panose="05050102010706020507" pitchFamily="18" charset="2"/>
              </a:rPr>
              <a:t> </a:t>
            </a:r>
            <a:r>
              <a:rPr lang="pt-BR" sz="2600" dirty="0"/>
              <a:t>alta densidade populacional aumenta a disseminação de doenças</a:t>
            </a:r>
          </a:p>
        </p:txBody>
      </p:sp>
      <p:pic>
        <p:nvPicPr>
          <p:cNvPr id="2050" name="Picture 2" descr="Resultado de imagem para poluição nas cida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00808"/>
            <a:ext cx="3672408" cy="243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poluição nas cidad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293096"/>
            <a:ext cx="3619500" cy="226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616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940966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rgbClr val="FFFF00"/>
                </a:solidFill>
              </a:rPr>
              <a:t>Desvantagens da urbanização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323528" y="1556792"/>
            <a:ext cx="4104456" cy="5147842"/>
          </a:xfrm>
        </p:spPr>
        <p:txBody>
          <a:bodyPr>
            <a:normAutofit/>
          </a:bodyPr>
          <a:lstStyle/>
          <a:p>
            <a:r>
              <a:rPr lang="pt-BR" sz="2600" dirty="0"/>
              <a:t>As cidades afetam os climas locais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/>
              <a:t> as fontes de calor (carros, fábricas, fornos, luzes, telhados, estradas) criam uma ilha urbana de calor</a:t>
            </a:r>
          </a:p>
          <a:p>
            <a:pPr marL="538163" lvl="1" indent="-174625">
              <a:tabLst>
                <a:tab pos="538163" algn="l"/>
              </a:tabLst>
            </a:pPr>
            <a:r>
              <a:rPr lang="pt-BR" sz="2600" dirty="0"/>
              <a:t> luz artificial afetam algumas espécies de plantas e animais</a:t>
            </a:r>
          </a:p>
        </p:txBody>
      </p:sp>
      <p:pic>
        <p:nvPicPr>
          <p:cNvPr id="3074" name="Picture 2" descr="Resultado de imagem para desova da tartarug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559294"/>
            <a:ext cx="3168352" cy="17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m para mapa termico sao pau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012" y="1519787"/>
            <a:ext cx="4704457" cy="267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609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90872" y="620688"/>
            <a:ext cx="8229600" cy="940966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rgbClr val="FFFF00"/>
                </a:solidFill>
              </a:rPr>
              <a:t>Vantagens da urbanização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685800" y="1628800"/>
            <a:ext cx="8229600" cy="5125343"/>
          </a:xfrm>
        </p:spPr>
        <p:txBody>
          <a:bodyPr>
            <a:normAutofit/>
          </a:bodyPr>
          <a:lstStyle/>
          <a:p>
            <a:r>
              <a:rPr lang="pt-BR" sz="2600" dirty="0"/>
              <a:t>Centro de desenvolvimento econômico, tecnológico, educacional</a:t>
            </a:r>
          </a:p>
          <a:p>
            <a:r>
              <a:rPr lang="pt-BR" sz="2600" dirty="0"/>
              <a:t>Maior oportunidade de empregos</a:t>
            </a:r>
          </a:p>
          <a:p>
            <a:r>
              <a:rPr lang="pt-BR" sz="2600" dirty="0"/>
              <a:t>Maior a expectativa de vida</a:t>
            </a:r>
          </a:p>
          <a:p>
            <a:r>
              <a:rPr lang="pt-BR" sz="2600" dirty="0"/>
              <a:t>Menores taxas de mortalidade e fertilidade</a:t>
            </a:r>
          </a:p>
          <a:p>
            <a:r>
              <a:rPr lang="pt-BR" sz="2600" dirty="0"/>
              <a:t>Acesso à assistência médica, planejamento familiar, educação e serviços sociais</a:t>
            </a:r>
          </a:p>
        </p:txBody>
      </p:sp>
      <p:pic>
        <p:nvPicPr>
          <p:cNvPr id="5122" name="Picture 2" descr="Resultado de imagem para vida na cidade gran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106" y="5229200"/>
            <a:ext cx="2176194" cy="125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magem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065" y="4869160"/>
            <a:ext cx="2337091" cy="136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m para expectativa de vi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93" y="5093831"/>
            <a:ext cx="2768388" cy="158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8589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93724"/>
            <a:ext cx="8229600" cy="823913"/>
          </a:xfrm>
        </p:spPr>
        <p:txBody>
          <a:bodyPr/>
          <a:lstStyle/>
          <a:p>
            <a:r>
              <a:rPr lang="pt-BR" b="1" dirty="0">
                <a:solidFill>
                  <a:srgbClr val="FFC000"/>
                </a:solidFill>
              </a:rPr>
              <a:t>Cidades sustentáveis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6792"/>
            <a:ext cx="3898776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Para a próxima semana..</a:t>
            </a:r>
          </a:p>
          <a:p>
            <a:pPr marL="0" indent="0" algn="ctr">
              <a:buNone/>
            </a:pPr>
            <a:r>
              <a:rPr lang="pt-BR" sz="2800" dirty="0"/>
              <a:t>Exemplos de cidades sustentáveis: Curitiba, Paragominas, Freiburg, Copenhague, </a:t>
            </a:r>
            <a:r>
              <a:rPr lang="pt-BR" sz="2800" dirty="0" err="1"/>
              <a:t>Thisted</a:t>
            </a:r>
            <a:r>
              <a:rPr lang="pt-BR" sz="2800" dirty="0"/>
              <a:t> e Zaragoza</a:t>
            </a:r>
          </a:p>
          <a:p>
            <a:pPr marL="0" indent="0" algn="ctr">
              <a:buNone/>
            </a:pPr>
            <a:r>
              <a:rPr lang="pt-BR" sz="2800" dirty="0"/>
              <a:t>Quais as estruturas, atividades, dinâmica, entre outros, que as diferem das demais cidades?</a:t>
            </a:r>
          </a:p>
        </p:txBody>
      </p:sp>
      <p:pic>
        <p:nvPicPr>
          <p:cNvPr id="6146" name="Picture 2" descr="Resultado de imagem para cidade sustentav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564904"/>
            <a:ext cx="4572000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081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Acessar o menti.com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B35D625-005D-4C71-A872-1EB5418FC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2881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m">
  <a:themeElements>
    <a:clrScheme name="Berlim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m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m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Berlim</Template>
  <TotalTime>3480</TotalTime>
  <Words>1501</Words>
  <Application>Microsoft Office PowerPoint</Application>
  <PresentationFormat>Apresentação na tela (4:3)</PresentationFormat>
  <Paragraphs>181</Paragraphs>
  <Slides>49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5" baseType="lpstr">
      <vt:lpstr>Arial</vt:lpstr>
      <vt:lpstr>Arial</vt:lpstr>
      <vt:lpstr>Calibri</vt:lpstr>
      <vt:lpstr>Liberation Serif</vt:lpstr>
      <vt:lpstr>Trebuchet MS</vt:lpstr>
      <vt:lpstr>Berlim</vt:lpstr>
      <vt:lpstr>CRESCIMENTO  POPULACIONAL</vt:lpstr>
      <vt:lpstr>Família Müller</vt:lpstr>
      <vt:lpstr>Apresentação do PowerPoint</vt:lpstr>
      <vt:lpstr>Apresentação do PowerPoint</vt:lpstr>
      <vt:lpstr>Apresentação do PowerPoint</vt:lpstr>
      <vt:lpstr>Curva de Crescimento real</vt:lpstr>
      <vt:lpstr>Capacidade de Suporte</vt:lpstr>
      <vt:lpstr>Taxas de crescimento Populacional</vt:lpstr>
      <vt:lpstr>Densidade Populacional</vt:lpstr>
      <vt:lpstr>Menor Densidade Populacional</vt:lpstr>
      <vt:lpstr>Maior Densidade Populacional</vt:lpstr>
      <vt:lpstr>Fatores que influenciam o tamanho da população humana</vt:lpstr>
      <vt:lpstr>Dinâmica Populacional</vt:lpstr>
      <vt:lpstr>Apresentação do PowerPoint</vt:lpstr>
      <vt:lpstr>No Brasil: taxa de Natalidade</vt:lpstr>
      <vt:lpstr>Apresentação do PowerPoint</vt:lpstr>
      <vt:lpstr>Apresentação do PowerPoint</vt:lpstr>
      <vt:lpstr>No Brasil: taxa de fecundidade total (TFT)</vt:lpstr>
      <vt:lpstr>Apresentação do PowerPoint</vt:lpstr>
      <vt:lpstr>Fatores que afetam as taxas de natalidade e fecundidade</vt:lpstr>
      <vt:lpstr>Apresentação do PowerPoint</vt:lpstr>
      <vt:lpstr>Fatores que afetam as taxas de natalidade e fecundidade</vt:lpstr>
      <vt:lpstr>TFT x escolaridade no Brasil - IBGE</vt:lpstr>
      <vt:lpstr>Fatores que afetam as taxas de natalidade e fecundidade</vt:lpstr>
      <vt:lpstr>Apresentação do PowerPoint</vt:lpstr>
      <vt:lpstr>Apresentação do PowerPoint</vt:lpstr>
      <vt:lpstr>No Brasil: taxa de Mortalidade</vt:lpstr>
      <vt:lpstr>MORTALIDADE - Fatores que afetam as  taxas  </vt:lpstr>
      <vt:lpstr>Apresentação do PowerPoint</vt:lpstr>
      <vt:lpstr>Apresentação do PowerPoint</vt:lpstr>
      <vt:lpstr>MIGRAÇÕES - Fatores que afetam as migrações</vt:lpstr>
      <vt:lpstr>Apresentação do PowerPoint</vt:lpstr>
      <vt:lpstr>Como a estrutura etária afeta o tamanho  da população?</vt:lpstr>
      <vt:lpstr>Apresentação do PowerPoint</vt:lpstr>
      <vt:lpstr>Pirâmide etária do Brasil  fonte: IBGE</vt:lpstr>
      <vt:lpstr>Problemas relacionados ao rápido declínio populacional</vt:lpstr>
      <vt:lpstr>Apresentação do PowerPoint</vt:lpstr>
      <vt:lpstr>Diminuição do crescimento populacional: desenvolvimento econômico</vt:lpstr>
      <vt:lpstr>Quais as consequências do aumento da população no ambiente?</vt:lpstr>
      <vt:lpstr> Área urbana  área rural</vt:lpstr>
      <vt:lpstr>Consequências indesejáveis da expansão urbana</vt:lpstr>
      <vt:lpstr>Áreas urbanas são modelos insustentáveis 2% da área terrestre são de áreas urbanas Consomem 75% de recursos e produzem 75% de poluição e dos resíduos do mundo</vt:lpstr>
      <vt:lpstr>Desvantagens da urbanização</vt:lpstr>
      <vt:lpstr>Desvantagens da urbanização</vt:lpstr>
      <vt:lpstr>Desvantagens da urbanização</vt:lpstr>
      <vt:lpstr>Desvantagens da urbanização</vt:lpstr>
      <vt:lpstr>Vantagens da urbanização</vt:lpstr>
      <vt:lpstr>Cidades sustentáveis</vt:lpstr>
      <vt:lpstr>Acessar o menti.com 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Crescimento</dc:title>
  <dc:creator>graciana</dc:creator>
  <cp:lastModifiedBy>Halison Golias</cp:lastModifiedBy>
  <cp:revision>103</cp:revision>
  <dcterms:created xsi:type="dcterms:W3CDTF">2017-02-21T19:10:31Z</dcterms:created>
  <dcterms:modified xsi:type="dcterms:W3CDTF">2021-11-08T18:41:53Z</dcterms:modified>
</cp:coreProperties>
</file>