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2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256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274" r:id="rId23"/>
    <p:sldId id="281" r:id="rId24"/>
    <p:sldId id="301" r:id="rId25"/>
    <p:sldId id="302" r:id="rId26"/>
    <p:sldId id="303" r:id="rId27"/>
    <p:sldId id="304" r:id="rId28"/>
    <p:sldId id="306" r:id="rId29"/>
    <p:sldId id="307" r:id="rId30"/>
    <p:sldId id="288" r:id="rId31"/>
    <p:sldId id="289" r:id="rId32"/>
    <p:sldId id="290" r:id="rId33"/>
    <p:sldId id="300" r:id="rId34"/>
    <p:sldId id="308" r:id="rId35"/>
    <p:sldId id="309" r:id="rId36"/>
    <p:sldId id="284" r:id="rId37"/>
    <p:sldId id="299" r:id="rId38"/>
    <p:sldId id="315" r:id="rId39"/>
    <p:sldId id="287" r:id="rId40"/>
    <p:sldId id="310" r:id="rId41"/>
    <p:sldId id="311" r:id="rId42"/>
    <p:sldId id="312" r:id="rId43"/>
    <p:sldId id="313" r:id="rId44"/>
    <p:sldId id="293" r:id="rId45"/>
    <p:sldId id="294" r:id="rId46"/>
    <p:sldId id="295" r:id="rId47"/>
    <p:sldId id="296" r:id="rId48"/>
    <p:sldId id="297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7" r:id="rId59"/>
    <p:sldId id="326" r:id="rId60"/>
    <p:sldId id="348" r:id="rId6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3786" autoAdjust="0"/>
  </p:normalViewPr>
  <p:slideViewPr>
    <p:cSldViewPr>
      <p:cViewPr varScale="1">
        <p:scale>
          <a:sx n="86" d="100"/>
          <a:sy n="86" d="100"/>
        </p:scale>
        <p:origin x="124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13FA1-DB66-414F-90C9-0963770A5A9B}" type="datetimeFigureOut">
              <a:rPr lang="pt-BR" smtClean="0"/>
              <a:t>05/10/2021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EBAF9-E4A3-4529-84E5-FF4CFA2B94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41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93D589A-7577-4258-BE57-D72DAF0F541E}" type="slidenum">
              <a:rPr lang="pt-BR" altLang="pt-BR" sz="1200"/>
              <a:pPr eaLnBrk="1" hangingPunct="1"/>
              <a:t>14</a:t>
            </a:fld>
            <a:endParaRPr lang="pt-BR" altLang="pt-BR" sz="1200"/>
          </a:p>
        </p:txBody>
      </p:sp>
      <p:sp>
        <p:nvSpPr>
          <p:cNvPr id="460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4525C855-B8AB-4DAE-B704-E3666A439CF8}" type="slidenum">
              <a:rPr lang="pt-BR" altLang="pt-BR" sz="1200">
                <a:latin typeface="Arial" panose="020B0604020202020204" pitchFamily="34" charset="0"/>
              </a:rPr>
              <a:pPr algn="r" eaLnBrk="1" hangingPunct="1"/>
              <a:t>14</a:t>
            </a:fld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8761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3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69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102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011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51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458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2460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29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884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82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5329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392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8672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231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612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347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1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4A76700-F006-4F77-AF28-DE7FE836AB86}" type="datetimeFigureOut">
              <a:rPr lang="pt-BR" smtClean="0"/>
              <a:pPr/>
              <a:t>05/10/2021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E61DA73-CECA-41A1-BC9D-14F009E4709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77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://pt.wikipedia.org/wiki/Ficheiro:Protect_earth.png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ootprintcalculator.org/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ítulo 1"/>
          <p:cNvSpPr>
            <a:spLocks noGrp="1"/>
          </p:cNvSpPr>
          <p:nvPr>
            <p:ph type="title"/>
          </p:nvPr>
        </p:nvSpPr>
        <p:spPr>
          <a:xfrm>
            <a:off x="539552" y="555075"/>
            <a:ext cx="7886700" cy="994172"/>
          </a:xfrm>
        </p:spPr>
        <p:txBody>
          <a:bodyPr/>
          <a:lstStyle/>
          <a:p>
            <a:pPr eaLnBrk="1" hangingPunct="1"/>
            <a:r>
              <a:rPr lang="pt-BR" altLang="pt-BR" dirty="0"/>
              <a:t>Qual o tema da aula de hoje?</a:t>
            </a:r>
          </a:p>
        </p:txBody>
      </p:sp>
      <p:sp>
        <p:nvSpPr>
          <p:cNvPr id="4098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4099" name="Picture 2" descr="http://www.infoescola.com/wp-content/uploads/2009/05/queimadas-na-amazoni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70" y="1525335"/>
            <a:ext cx="6610919" cy="4375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955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ítulo 1"/>
          <p:cNvSpPr>
            <a:spLocks noGrp="1"/>
          </p:cNvSpPr>
          <p:nvPr>
            <p:ph type="title"/>
          </p:nvPr>
        </p:nvSpPr>
        <p:spPr>
          <a:xfrm>
            <a:off x="1176867" y="620688"/>
            <a:ext cx="6798734" cy="1303867"/>
          </a:xfrm>
        </p:spPr>
        <p:txBody>
          <a:bodyPr/>
          <a:lstStyle/>
          <a:p>
            <a:pPr eaLnBrk="1" hangingPunct="1"/>
            <a:r>
              <a:rPr lang="pt-BR" altLang="pt-BR" dirty="0"/>
              <a:t>Qual o tema da aula de hoje?</a:t>
            </a:r>
          </a:p>
        </p:txBody>
      </p:sp>
      <p:sp>
        <p:nvSpPr>
          <p:cNvPr id="5122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5123" name="Picture 2" descr="http://www.portalamazonia.com.br/editoria/files/2013/01/desmatamento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616" y="1867447"/>
            <a:ext cx="5611482" cy="3741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74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1"/>
          <p:cNvSpPr>
            <a:spLocks noGrp="1"/>
          </p:cNvSpPr>
          <p:nvPr>
            <p:ph type="title"/>
          </p:nvPr>
        </p:nvSpPr>
        <p:spPr>
          <a:xfrm>
            <a:off x="1287519" y="891676"/>
            <a:ext cx="5577056" cy="61967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pt-BR" altLang="pt-BR"/>
              <a:t>Qual o tema da aula de hoje?</a:t>
            </a:r>
          </a:p>
        </p:txBody>
      </p:sp>
      <p:sp>
        <p:nvSpPr>
          <p:cNvPr id="6146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6147" name="Picture 2" descr="http://www.portalsaofrancisco.com.br/alfa/capas/meio-ambiente/imagens/poluicao-da-agu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893" y="1623235"/>
            <a:ext cx="5660970" cy="4250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181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Qual o tema da aula de hoje?</a:t>
            </a:r>
          </a:p>
        </p:txBody>
      </p:sp>
      <p:sp>
        <p:nvSpPr>
          <p:cNvPr id="7170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7171" name="Picture 2" descr="http://www.eb1-albergaria-velha-n1.rcts.pt/Alb3/Aguagota/agua/morte_de_peix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892" y="1915858"/>
            <a:ext cx="5904106" cy="3869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228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ítulo 1"/>
          <p:cNvSpPr>
            <a:spLocks noGrp="1"/>
          </p:cNvSpPr>
          <p:nvPr>
            <p:ph type="title"/>
          </p:nvPr>
        </p:nvSpPr>
        <p:spPr>
          <a:xfrm>
            <a:off x="554510" y="879388"/>
            <a:ext cx="7886700" cy="994172"/>
          </a:xfrm>
        </p:spPr>
        <p:txBody>
          <a:bodyPr/>
          <a:lstStyle/>
          <a:p>
            <a:pPr eaLnBrk="1" hangingPunct="1"/>
            <a:r>
              <a:rPr lang="pt-BR" altLang="pt-BR" dirty="0"/>
              <a:t>Qual o tema da aula de hoje?</a:t>
            </a:r>
          </a:p>
        </p:txBody>
      </p:sp>
      <p:sp>
        <p:nvSpPr>
          <p:cNvPr id="8194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8195" name="Picture 2" descr="fim do gel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481" y="1769547"/>
            <a:ext cx="3577104" cy="40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3" descr="fim do gelo1 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80" y="1743726"/>
            <a:ext cx="2671263" cy="4105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35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ítulo 1"/>
          <p:cNvSpPr>
            <a:spLocks noGrp="1"/>
          </p:cNvSpPr>
          <p:nvPr>
            <p:ph type="title"/>
          </p:nvPr>
        </p:nvSpPr>
        <p:spPr>
          <a:xfrm>
            <a:off x="506545" y="958099"/>
            <a:ext cx="7886700" cy="994172"/>
          </a:xfrm>
        </p:spPr>
        <p:txBody>
          <a:bodyPr/>
          <a:lstStyle/>
          <a:p>
            <a:pPr eaLnBrk="1" hangingPunct="1"/>
            <a:r>
              <a:rPr lang="pt-BR" altLang="pt-BR" dirty="0"/>
              <a:t>Qual o tema da aula de hoje?</a:t>
            </a:r>
          </a:p>
        </p:txBody>
      </p:sp>
      <p:sp>
        <p:nvSpPr>
          <p:cNvPr id="9218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9219" name="Picture 2" descr="070201_f_0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105" y="1819035"/>
            <a:ext cx="5513582" cy="400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7923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1024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10244" name="Picture 2" descr="C:\Documents and Settings\Alcides\Os meus documentos\Gorila mort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617" y="1047670"/>
            <a:ext cx="5625467" cy="495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535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sp>
        <p:nvSpPr>
          <p:cNvPr id="1126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11268" name="Picture 2" descr="predador 2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616" y="1182149"/>
            <a:ext cx="5319935" cy="481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2949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Qual o tema da aula de hoje?</a:t>
            </a:r>
          </a:p>
        </p:txBody>
      </p:sp>
      <p:sp>
        <p:nvSpPr>
          <p:cNvPr id="12290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12291" name="Picture 2" descr="http://www.infoescola.com/wp-content/uploads/2013/03/desperdicio-de-agu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481" y="1965346"/>
            <a:ext cx="6401135" cy="375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7327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http://www.viveresaber.com.br/vs/images/stories/disper_alime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581" y="1672722"/>
            <a:ext cx="3904154" cy="3512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4" descr="https://encrypted-tbn2.gstatic.com/images?q=tbn:ANd9GcQxBUIxPYjTCjZw5M1KDydY0x5NP_gNHEs8n1ex5Q6lEg79dpRVX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933" y="3526362"/>
            <a:ext cx="3298467" cy="247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ítulo 1"/>
          <p:cNvSpPr>
            <a:spLocks noGrp="1"/>
          </p:cNvSpPr>
          <p:nvPr>
            <p:ph type="title"/>
          </p:nvPr>
        </p:nvSpPr>
        <p:spPr>
          <a:xfrm>
            <a:off x="350623" y="809818"/>
            <a:ext cx="7886700" cy="994172"/>
          </a:xfrm>
        </p:spPr>
        <p:txBody>
          <a:bodyPr/>
          <a:lstStyle/>
          <a:p>
            <a:pPr eaLnBrk="1" hangingPunct="1"/>
            <a:r>
              <a:rPr lang="pt-BR" altLang="pt-BR" dirty="0"/>
              <a:t>Qual o tema da aula de hoje?</a:t>
            </a:r>
          </a:p>
        </p:txBody>
      </p:sp>
    </p:spTree>
    <p:extLst>
      <p:ext uri="{BB962C8B-B14F-4D97-AF65-F5344CB8AC3E}">
        <p14:creationId xmlns:p14="http://schemas.microsoft.com/office/powerpoint/2010/main" val="3871193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pt-BR" altLang="pt-BR"/>
          </a:p>
        </p:txBody>
      </p:sp>
      <p:pic>
        <p:nvPicPr>
          <p:cNvPr id="14339" name="Picture 2" descr="http://1.bp.blogspot.com/-gyfDMNt2syc/T_WUuY5QgwI/AAAAAAAAA6w/w0ABKrYfZNE/s1600/Sustentabilidade-empresaria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773" y="4044908"/>
            <a:ext cx="2001027" cy="1955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 descr="http://t2.gstatic.com/images?q=tbn:ANd9GcTDEnYVP3mODTZDGk_E1BKSojO7hIiOr11C-J0__F-0_hhDma8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564" y="3526362"/>
            <a:ext cx="3388836" cy="2049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6" descr="http://1.bp.blogspot.com/_BqCrnqslG6I/TALN1sUmwZI/AAAAAAAAAAM/gTPi1Zc3CQE/s1600/269831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320" y="647465"/>
            <a:ext cx="2924081" cy="2762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8" descr="http://setebr.com/wp-content/uploads/sustentabilidade_amb11-300x26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708" y="857250"/>
            <a:ext cx="2034377" cy="1790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10" descr="https://encrypted-tbn1.gstatic.com/images?q=tbn:ANd9GcRLiP9Uzj3OVMs0rFJVTWCNU2Bh1FG03tVwBtDQISS6OXrf00Z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601" y="857250"/>
            <a:ext cx="2365731" cy="241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12" descr="http://www.meioambiente.ufrn.br/salaverdern/wp-content/uploads/2012/08/desenvolvimento-sustentavel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600" y="3233738"/>
            <a:ext cx="2026847" cy="2065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14" descr="http://4a-2013-01.bligoo.com.br/media/users/24/1247935/images/public/404332/ecologia.jpg?v=136468469883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31" y="2632355"/>
            <a:ext cx="1708404" cy="1708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3880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67544" y="692696"/>
            <a:ext cx="7772400" cy="1974081"/>
          </a:xfrm>
        </p:spPr>
        <p:txBody>
          <a:bodyPr>
            <a:normAutofit/>
          </a:bodyPr>
          <a:lstStyle/>
          <a:p>
            <a:pPr algn="ctr"/>
            <a:br>
              <a:rPr lang="pt-BR" sz="3600" dirty="0"/>
            </a:br>
            <a:br>
              <a:rPr lang="pt-BR" sz="3600" dirty="0"/>
            </a:br>
            <a:r>
              <a:rPr lang="pt-BR" sz="3600" dirty="0"/>
              <a:t> Desenvolvimento sustentável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67644" y="3573016"/>
            <a:ext cx="6172200" cy="2448272"/>
          </a:xfrm>
        </p:spPr>
        <p:txBody>
          <a:bodyPr>
            <a:noAutofit/>
          </a:bodyPr>
          <a:lstStyle/>
          <a:p>
            <a:pPr algn="ctr"/>
            <a:r>
              <a:rPr lang="pt-BR" sz="2400" dirty="0"/>
              <a:t>Prof. Dr. Halison Golias</a:t>
            </a:r>
          </a:p>
          <a:p>
            <a:pPr algn="ctr"/>
            <a:r>
              <a:rPr lang="pt-BR" sz="2400" dirty="0"/>
              <a:t>UTFPR – Apucarana</a:t>
            </a:r>
          </a:p>
          <a:p>
            <a:pPr algn="r"/>
            <a:endParaRPr lang="pt-BR" sz="1600" dirty="0"/>
          </a:p>
          <a:p>
            <a:pPr algn="r"/>
            <a:r>
              <a:rPr lang="pt-BR" sz="1600" dirty="0"/>
              <a:t>halisongolias@utfpr.edu.br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59632" y="404664"/>
            <a:ext cx="6798734" cy="1303867"/>
          </a:xfrm>
        </p:spPr>
        <p:txBody>
          <a:bodyPr/>
          <a:lstStyle/>
          <a:p>
            <a:r>
              <a:rPr lang="pt-BR" dirty="0"/>
              <a:t>Uso da palavra SUSTENTÁVEL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696" y="1340768"/>
            <a:ext cx="5722560" cy="529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0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4"/>
          <p:cNvSpPr txBox="1">
            <a:spLocks noChangeArrowheads="1"/>
          </p:cNvSpPr>
          <p:nvPr/>
        </p:nvSpPr>
        <p:spPr bwMode="auto">
          <a:xfrm>
            <a:off x="1723227" y="1071338"/>
            <a:ext cx="3042422" cy="3431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68697" tIns="34349" rIns="68697" bIns="34349" anchor="ctr"/>
          <a:lstStyle/>
          <a:p>
            <a:pPr defTabSz="687468">
              <a:defRPr/>
            </a:pPr>
            <a:r>
              <a:rPr lang="pt-BR" sz="2711" b="1">
                <a:effectLst>
                  <a:outerShdw blurRad="38100" dist="38100" dir="2700000" algn="tl">
                    <a:srgbClr val="FFFFFF"/>
                  </a:outerShdw>
                </a:effectLst>
                <a:latin typeface="Garamond" pitchFamily="18" charset="0"/>
              </a:rPr>
              <a:t>Era uma vez....</a:t>
            </a: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810" y="1660889"/>
            <a:ext cx="1989193" cy="2503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>
            <a:spLocks noChangeArrowheads="1"/>
          </p:cNvSpPr>
          <p:nvPr/>
        </p:nvSpPr>
        <p:spPr bwMode="auto">
          <a:xfrm>
            <a:off x="5002329" y="1982559"/>
            <a:ext cx="2364655" cy="298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697" tIns="34349" rIns="68697" bIns="34349">
            <a:spAutoFit/>
          </a:bodyPr>
          <a:lstStyle>
            <a:lvl1pPr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91" b="1">
                <a:latin typeface="Arial" panose="020B0604020202020204" pitchFamily="34" charset="0"/>
              </a:rPr>
              <a:t>Tudo ia bem, até que...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209" y="2464528"/>
            <a:ext cx="1963373" cy="2743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22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/>
          <p:cNvSpPr>
            <a:spLocks noGrp="1"/>
          </p:cNvSpPr>
          <p:nvPr>
            <p:ph type="title" idx="4294967295"/>
          </p:nvPr>
        </p:nvSpPr>
        <p:spPr>
          <a:xfrm>
            <a:off x="0" y="857250"/>
            <a:ext cx="6191250" cy="857250"/>
          </a:xfrm>
        </p:spPr>
        <p:txBody>
          <a:bodyPr/>
          <a:lstStyle/>
          <a:p>
            <a:pPr eaLnBrk="1" hangingPunct="1">
              <a:defRPr/>
            </a:pPr>
            <a:r>
              <a:rPr lang="pt-BR" b="1">
                <a:effectLst>
                  <a:outerShdw blurRad="38100" dist="38100" dir="2700000" algn="tl">
                    <a:srgbClr val="FFFFFF"/>
                  </a:outerShdw>
                </a:effectLst>
                <a:latin typeface="Garamond" pitchFamily="18" charset="0"/>
              </a:rPr>
              <a:t>Com o tempo...</a:t>
            </a:r>
          </a:p>
        </p:txBody>
      </p:sp>
      <p:pic>
        <p:nvPicPr>
          <p:cNvPr id="33794" name="Picture 2" descr="200px-Protect_earth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512" y="1768471"/>
            <a:ext cx="2453948" cy="368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o explicativo retangular 4"/>
          <p:cNvSpPr>
            <a:spLocks noChangeArrowheads="1"/>
          </p:cNvSpPr>
          <p:nvPr/>
        </p:nvSpPr>
        <p:spPr bwMode="auto">
          <a:xfrm>
            <a:off x="3335883" y="2196648"/>
            <a:ext cx="1934326" cy="277888"/>
          </a:xfrm>
          <a:prstGeom prst="wedgeRect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697" tIns="34349" rIns="68697" bIns="34349">
            <a:spAutoFit/>
          </a:bodyPr>
          <a:lstStyle>
            <a:lvl1pPr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 altLang="pt-BR" sz="1355">
              <a:latin typeface="Arial" panose="020B0604020202020204" pitchFamily="34" charset="0"/>
            </a:endParaRPr>
          </a:p>
        </p:txBody>
      </p:sp>
      <p:sp>
        <p:nvSpPr>
          <p:cNvPr id="17413" name="Texto explicativo em elipse 5"/>
          <p:cNvSpPr>
            <a:spLocks noChangeArrowheads="1"/>
          </p:cNvSpPr>
          <p:nvPr/>
        </p:nvSpPr>
        <p:spPr bwMode="auto">
          <a:xfrm>
            <a:off x="4464419" y="2786198"/>
            <a:ext cx="1827820" cy="390763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697" tIns="34349" rIns="68697" bIns="34349">
            <a:spAutoFit/>
          </a:bodyPr>
          <a:lstStyle>
            <a:lvl1pPr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pt-BR" altLang="pt-BR" sz="1355">
              <a:latin typeface="Arial" panose="020B0604020202020204" pitchFamily="34" charset="0"/>
            </a:endParaRPr>
          </a:p>
        </p:txBody>
      </p:sp>
      <p:sp>
        <p:nvSpPr>
          <p:cNvPr id="7" name="Texto explicativo em elipse 6"/>
          <p:cNvSpPr>
            <a:spLocks noChangeArrowheads="1"/>
          </p:cNvSpPr>
          <p:nvPr/>
        </p:nvSpPr>
        <p:spPr bwMode="auto">
          <a:xfrm>
            <a:off x="3759756" y="1595264"/>
            <a:ext cx="2526028" cy="1710598"/>
          </a:xfrm>
          <a:prstGeom prst="wedgeEllipseCallout">
            <a:avLst>
              <a:gd name="adj1" fmla="val -71606"/>
              <a:gd name="adj2" fmla="val 37472"/>
            </a:avLst>
          </a:prstGeom>
          <a:solidFill>
            <a:schemeClr val="bg1"/>
          </a:solidFill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68697" tIns="34349" rIns="68697" bIns="34349">
            <a:spAutoFit/>
          </a:bodyPr>
          <a:lstStyle>
            <a:lvl1pPr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91">
                <a:solidFill>
                  <a:srgbClr val="000000"/>
                </a:solidFill>
                <a:latin typeface="Arial" panose="020B0604020202020204" pitchFamily="34" charset="0"/>
              </a:rPr>
              <a:t>O planeta tem recursos naturais infinitos.... Vou usar sem me preocupar!!!!!</a:t>
            </a:r>
          </a:p>
        </p:txBody>
      </p:sp>
      <p:sp>
        <p:nvSpPr>
          <p:cNvPr id="8" name="Texto explicativo em elipse 7"/>
          <p:cNvSpPr>
            <a:spLocks noChangeArrowheads="1"/>
          </p:cNvSpPr>
          <p:nvPr/>
        </p:nvSpPr>
        <p:spPr bwMode="auto">
          <a:xfrm>
            <a:off x="4138445" y="3485482"/>
            <a:ext cx="2526028" cy="1387988"/>
          </a:xfrm>
          <a:prstGeom prst="wedgeEllipseCallout">
            <a:avLst>
              <a:gd name="adj1" fmla="val -89431"/>
              <a:gd name="adj2" fmla="val -59898"/>
            </a:avLst>
          </a:prstGeom>
          <a:solidFill>
            <a:schemeClr val="bg1"/>
          </a:solidFill>
          <a:ln w="25400" algn="ctr">
            <a:solidFill>
              <a:schemeClr val="accent2"/>
            </a:solidFill>
            <a:miter lim="800000"/>
            <a:headEnd/>
            <a:tailEnd/>
          </a:ln>
        </p:spPr>
        <p:txBody>
          <a:bodyPr lIns="68697" tIns="34349" rIns="68697" bIns="34349">
            <a:spAutoFit/>
          </a:bodyPr>
          <a:lstStyle>
            <a:lvl1pPr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10144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10144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91">
                <a:solidFill>
                  <a:srgbClr val="000000"/>
                </a:solidFill>
                <a:latin typeface="Arial" panose="020B0604020202020204" pitchFamily="34" charset="0"/>
              </a:rPr>
              <a:t>O meio ambiente existe para me satisfazer.... Devo domá-lo!!!!</a:t>
            </a:r>
          </a:p>
        </p:txBody>
      </p:sp>
    </p:spTree>
    <p:extLst>
      <p:ext uri="{BB962C8B-B14F-4D97-AF65-F5344CB8AC3E}">
        <p14:creationId xmlns:p14="http://schemas.microsoft.com/office/powerpoint/2010/main" val="10423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139" y="857250"/>
            <a:ext cx="2220494" cy="2729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7" descr="verdade_inconveniente_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673" y="1071340"/>
            <a:ext cx="3631972" cy="254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 descr="limite parqu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601" y="3054076"/>
            <a:ext cx="3580332" cy="2754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4" descr="manatee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792" y="3268166"/>
            <a:ext cx="3170444" cy="24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1744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34" y="1052737"/>
            <a:ext cx="74789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10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03" y="1412777"/>
            <a:ext cx="7704194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37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92" y="2564905"/>
            <a:ext cx="758381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64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395536" y="836712"/>
            <a:ext cx="8291264" cy="836712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Será que isso já aconteceu?</a:t>
            </a:r>
          </a:p>
        </p:txBody>
      </p:sp>
    </p:spTree>
    <p:extLst>
      <p:ext uri="{BB962C8B-B14F-4D97-AF65-F5344CB8AC3E}">
        <p14:creationId xmlns:p14="http://schemas.microsoft.com/office/powerpoint/2010/main" val="2193180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7624" y="404665"/>
            <a:ext cx="6798734" cy="1008112"/>
          </a:xfrm>
        </p:spPr>
        <p:txBody>
          <a:bodyPr/>
          <a:lstStyle/>
          <a:p>
            <a:r>
              <a:rPr lang="pt-BR" dirty="0"/>
              <a:t>A resposta é...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31640" y="1504263"/>
            <a:ext cx="6798736" cy="3444997"/>
          </a:xfrm>
        </p:spPr>
        <p:txBody>
          <a:bodyPr/>
          <a:lstStyle/>
          <a:p>
            <a:r>
              <a:rPr lang="pt-BR" b="1" dirty="0"/>
              <a:t>Ilha de Páscoa</a:t>
            </a:r>
            <a:endParaRPr lang="pt-BR" dirty="0"/>
          </a:p>
        </p:txBody>
      </p:sp>
      <p:pic>
        <p:nvPicPr>
          <p:cNvPr id="4" name="Picture 2" descr="http://www.bridetobride.com.br/wp-content/uploads/2014/06/Map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842" y="3933056"/>
            <a:ext cx="5634005" cy="208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ttps://encrypted-tbn1.gstatic.com/images?q=tbn:ANd9GcTGoa58uvYxYZCN-RsCTjIafVz62yq8Gt0ShHjIjn3K0womZtTP2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96952"/>
            <a:ext cx="3916888" cy="204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1868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836712"/>
            <a:ext cx="8291264" cy="836712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O que é Desenvolvimento Sustentável?</a:t>
            </a:r>
          </a:p>
        </p:txBody>
      </p:sp>
      <p:pic>
        <p:nvPicPr>
          <p:cNvPr id="30722" name="Picture 2" descr="http://3.bp.blogspot.com/_dEMvDZ8eljA/TKaYc4GbWTI/AAAAAAAAIBA/pdyOn8nEcsM/s400/charge1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971600" y="1916832"/>
            <a:ext cx="3672408" cy="4244872"/>
          </a:xfrm>
          <a:prstGeom prst="rect">
            <a:avLst/>
          </a:prstGeom>
          <a:noFill/>
        </p:spPr>
      </p:pic>
      <p:sp>
        <p:nvSpPr>
          <p:cNvPr id="4" name="Retângulo 3"/>
          <p:cNvSpPr/>
          <p:nvPr/>
        </p:nvSpPr>
        <p:spPr>
          <a:xfrm>
            <a:off x="4788025" y="4797152"/>
            <a:ext cx="37398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350" dirty="0"/>
              <a:t>Há um provérbio frequentemente atribuído aos nativos norte-americanos: “Não herdamos a terra de nossos pais, nós a tomamos emprestada de nossos filhos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476672"/>
            <a:ext cx="8075240" cy="5976664"/>
          </a:xfrm>
        </p:spPr>
        <p:txBody>
          <a:bodyPr>
            <a:normAutofit/>
          </a:bodyPr>
          <a:lstStyle/>
          <a:p>
            <a:pPr marL="273050" indent="-3175" algn="ctr">
              <a:lnSpc>
                <a:spcPct val="150000"/>
              </a:lnSpc>
              <a:buNone/>
            </a:pPr>
            <a:r>
              <a:rPr lang="pt-BR" dirty="0"/>
              <a:t>“O desenvolvimento que procura satisfazer as necessidades da </a:t>
            </a:r>
            <a:r>
              <a:rPr lang="pt-BR" b="1" dirty="0"/>
              <a:t>geração atual</a:t>
            </a:r>
            <a:r>
              <a:rPr lang="pt-BR" dirty="0"/>
              <a:t>, sem comprometer a capacidade das </a:t>
            </a:r>
            <a:r>
              <a:rPr lang="pt-BR" b="1" dirty="0"/>
              <a:t>gerações futuras</a:t>
            </a:r>
            <a:r>
              <a:rPr lang="pt-BR" dirty="0"/>
              <a:t> de satisfazerem as suas próprias necessidades, significa possibilitar que as pessoas, </a:t>
            </a:r>
            <a:r>
              <a:rPr lang="pt-BR" b="1" dirty="0"/>
              <a:t>agora e no futuro</a:t>
            </a:r>
            <a:r>
              <a:rPr lang="pt-BR" dirty="0"/>
              <a:t>, atinjam um nível satisfatório de </a:t>
            </a:r>
            <a:r>
              <a:rPr lang="pt-BR" b="1" dirty="0"/>
              <a:t>desenvolvimento social e econômico e de realização humana e cultural</a:t>
            </a:r>
            <a:r>
              <a:rPr lang="pt-BR" dirty="0"/>
              <a:t>, fazendo, ao mesmo tempo, um uso razoável dos </a:t>
            </a:r>
            <a:r>
              <a:rPr lang="pt-BR" b="1" dirty="0"/>
              <a:t>recursos da terra </a:t>
            </a:r>
            <a:r>
              <a:rPr lang="pt-BR" dirty="0"/>
              <a:t>e </a:t>
            </a:r>
            <a:r>
              <a:rPr lang="pt-BR" b="1" dirty="0"/>
              <a:t>preservando as espécies e os </a:t>
            </a:r>
            <a:r>
              <a:rPr lang="pt-BR" b="1" dirty="0" err="1"/>
              <a:t>habitats</a:t>
            </a:r>
            <a:r>
              <a:rPr lang="pt-BR" b="1" dirty="0"/>
              <a:t> naturais</a:t>
            </a:r>
            <a:r>
              <a:rPr lang="pt-BR" dirty="0"/>
              <a:t>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714" name="Group 2"/>
          <p:cNvGrpSpPr>
            <a:grpSpLocks/>
          </p:cNvGrpSpPr>
          <p:nvPr/>
        </p:nvGrpSpPr>
        <p:grpSpPr bwMode="auto">
          <a:xfrm>
            <a:off x="1943100" y="2057400"/>
            <a:ext cx="2000250" cy="1885950"/>
            <a:chOff x="672" y="1008"/>
            <a:chExt cx="1680" cy="1584"/>
          </a:xfrm>
        </p:grpSpPr>
        <p:sp>
          <p:nvSpPr>
            <p:cNvPr id="243715" name="Oval 3"/>
            <p:cNvSpPr>
              <a:spLocks noChangeArrowheads="1"/>
            </p:cNvSpPr>
            <p:nvPr/>
          </p:nvSpPr>
          <p:spPr bwMode="auto">
            <a:xfrm>
              <a:off x="672" y="1008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3716" name="Text Box 4"/>
            <p:cNvSpPr txBox="1">
              <a:spLocks noChangeArrowheads="1"/>
            </p:cNvSpPr>
            <p:nvPr/>
          </p:nvSpPr>
          <p:spPr bwMode="auto">
            <a:xfrm>
              <a:off x="864" y="1497"/>
              <a:ext cx="1248" cy="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Eqüidade Social</a:t>
              </a:r>
            </a:p>
          </p:txBody>
        </p:sp>
      </p:grpSp>
      <p:grpSp>
        <p:nvGrpSpPr>
          <p:cNvPr id="243717" name="Group 5"/>
          <p:cNvGrpSpPr>
            <a:grpSpLocks/>
          </p:cNvGrpSpPr>
          <p:nvPr/>
        </p:nvGrpSpPr>
        <p:grpSpPr bwMode="auto">
          <a:xfrm>
            <a:off x="5011341" y="2057400"/>
            <a:ext cx="2018109" cy="1885950"/>
            <a:chOff x="3249" y="1008"/>
            <a:chExt cx="1695" cy="1584"/>
          </a:xfrm>
        </p:grpSpPr>
        <p:sp>
          <p:nvSpPr>
            <p:cNvPr id="243718" name="Oval 6"/>
            <p:cNvSpPr>
              <a:spLocks noChangeArrowheads="1"/>
            </p:cNvSpPr>
            <p:nvPr/>
          </p:nvSpPr>
          <p:spPr bwMode="auto">
            <a:xfrm>
              <a:off x="3249" y="1008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99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3719" name="Text Box 7"/>
            <p:cNvSpPr txBox="1">
              <a:spLocks noChangeArrowheads="1"/>
            </p:cNvSpPr>
            <p:nvPr/>
          </p:nvSpPr>
          <p:spPr bwMode="auto">
            <a:xfrm>
              <a:off x="3264" y="1488"/>
              <a:ext cx="1680" cy="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Conservação Ambiental</a:t>
              </a:r>
              <a:endParaRPr lang="pt-BR" altLang="pt-BR" sz="24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3720" name="Group 8"/>
          <p:cNvGrpSpPr>
            <a:grpSpLocks/>
          </p:cNvGrpSpPr>
          <p:nvPr/>
        </p:nvGrpSpPr>
        <p:grpSpPr bwMode="auto">
          <a:xfrm>
            <a:off x="3500438" y="3543300"/>
            <a:ext cx="1943100" cy="1885950"/>
            <a:chOff x="1980" y="2256"/>
            <a:chExt cx="1632" cy="1584"/>
          </a:xfrm>
        </p:grpSpPr>
        <p:sp>
          <p:nvSpPr>
            <p:cNvPr id="243721" name="Oval 9"/>
            <p:cNvSpPr>
              <a:spLocks noChangeArrowheads="1"/>
            </p:cNvSpPr>
            <p:nvPr/>
          </p:nvSpPr>
          <p:spPr bwMode="auto">
            <a:xfrm>
              <a:off x="1980" y="2256"/>
              <a:ext cx="1632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DD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3722" name="Text Box 10"/>
            <p:cNvSpPr txBox="1">
              <a:spLocks noChangeArrowheads="1"/>
            </p:cNvSpPr>
            <p:nvPr/>
          </p:nvSpPr>
          <p:spPr bwMode="auto">
            <a:xfrm>
              <a:off x="2112" y="2718"/>
              <a:ext cx="1440" cy="6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2400">
                  <a:solidFill>
                    <a:srgbClr val="0000FF"/>
                  </a:solidFill>
                  <a:latin typeface="Times New Roman" panose="02020603050405020304" pitchFamily="18" charset="0"/>
                </a:rPr>
                <a:t>Eficiência Econômica</a:t>
              </a:r>
              <a:endParaRPr lang="pt-BR" altLang="pt-BR" sz="24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3724" name="Text Box 12"/>
          <p:cNvSpPr txBox="1">
            <a:spLocks noChangeArrowheads="1"/>
          </p:cNvSpPr>
          <p:nvPr/>
        </p:nvSpPr>
        <p:spPr bwMode="auto">
          <a:xfrm>
            <a:off x="5257801" y="5257800"/>
            <a:ext cx="2746772" cy="3462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 rIns="13500" bIns="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pt-BR" altLang="pt-BR" sz="1125">
                <a:latin typeface="Times New Roman" panose="02020603050405020304" pitchFamily="18" charset="0"/>
              </a:rPr>
              <a:t> Adaptado de Sérgio Buarque (Construindo o Desenvolvimento Local Sustentável)</a:t>
            </a:r>
          </a:p>
        </p:txBody>
      </p:sp>
      <p:sp>
        <p:nvSpPr>
          <p:cNvPr id="243725" name="Rectangle 13"/>
          <p:cNvSpPr>
            <a:spLocks noChangeArrowheads="1"/>
          </p:cNvSpPr>
          <p:nvPr/>
        </p:nvSpPr>
        <p:spPr bwMode="auto">
          <a:xfrm>
            <a:off x="2514600" y="9715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endParaRPr lang="pt-BR" altLang="pt-BR" sz="21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43726" name="Rectangle 14"/>
          <p:cNvSpPr>
            <a:spLocks noChangeArrowheads="1"/>
          </p:cNvSpPr>
          <p:nvPr/>
        </p:nvSpPr>
        <p:spPr bwMode="auto">
          <a:xfrm>
            <a:off x="2571750" y="8572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pt-BR" altLang="pt-BR" sz="21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Desafios</a:t>
            </a:r>
          </a:p>
        </p:txBody>
      </p:sp>
    </p:spTree>
    <p:extLst>
      <p:ext uri="{BB962C8B-B14F-4D97-AF65-F5344CB8AC3E}">
        <p14:creationId xmlns:p14="http://schemas.microsoft.com/office/powerpoint/2010/main" val="240083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690" name="Group 2"/>
          <p:cNvGrpSpPr>
            <a:grpSpLocks/>
          </p:cNvGrpSpPr>
          <p:nvPr/>
        </p:nvGrpSpPr>
        <p:grpSpPr bwMode="auto">
          <a:xfrm>
            <a:off x="1996678" y="1646635"/>
            <a:ext cx="6099572" cy="3946922"/>
            <a:chOff x="720" y="672"/>
            <a:chExt cx="5123" cy="3315"/>
          </a:xfrm>
        </p:grpSpPr>
        <p:sp>
          <p:nvSpPr>
            <p:cNvPr id="242691" name="Text Box 3"/>
            <p:cNvSpPr txBox="1">
              <a:spLocks noChangeArrowheads="1"/>
            </p:cNvSpPr>
            <p:nvPr/>
          </p:nvSpPr>
          <p:spPr bwMode="auto">
            <a:xfrm>
              <a:off x="3456" y="3696"/>
              <a:ext cx="2307" cy="2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3500" tIns="0" rIns="13500" bIns="0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pt-BR" altLang="pt-BR" sz="1125">
                  <a:latin typeface="Times New Roman" panose="02020603050405020304" pitchFamily="18" charset="0"/>
                </a:rPr>
                <a:t> Adaptado de Sérgio Buarque (Construindo o Desenvolvimento Local Sustentável)</a:t>
              </a:r>
            </a:p>
          </p:txBody>
        </p:sp>
        <p:sp>
          <p:nvSpPr>
            <p:cNvPr id="242692" name="Rectangle 4"/>
            <p:cNvSpPr>
              <a:spLocks noChangeArrowheads="1"/>
            </p:cNvSpPr>
            <p:nvPr/>
          </p:nvSpPr>
          <p:spPr bwMode="auto">
            <a:xfrm>
              <a:off x="2687" y="1457"/>
              <a:ext cx="1009" cy="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1350"/>
                <a:t>Degradação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pt-BR" altLang="pt-BR" sz="1350"/>
                <a:t> do Meio 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pt-BR" altLang="pt-BR" sz="1350"/>
                <a:t>Ambiente</a:t>
              </a:r>
            </a:p>
          </p:txBody>
        </p:sp>
        <p:sp>
          <p:nvSpPr>
            <p:cNvPr id="242693" name="Oval 5"/>
            <p:cNvSpPr>
              <a:spLocks noChangeArrowheads="1"/>
            </p:cNvSpPr>
            <p:nvPr/>
          </p:nvSpPr>
          <p:spPr bwMode="auto">
            <a:xfrm>
              <a:off x="1632" y="2256"/>
              <a:ext cx="1632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DD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2694" name="Text Box 6"/>
            <p:cNvSpPr txBox="1">
              <a:spLocks noChangeArrowheads="1"/>
            </p:cNvSpPr>
            <p:nvPr/>
          </p:nvSpPr>
          <p:spPr bwMode="auto">
            <a:xfrm>
              <a:off x="1669" y="2824"/>
              <a:ext cx="1440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hangingPunct="0">
                <a:spcBef>
                  <a:spcPct val="50000"/>
                </a:spcBef>
              </a:pPr>
              <a:r>
                <a:rPr lang="pt-BR" altLang="pt-BR" sz="21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Eficiência Econômica</a:t>
              </a:r>
              <a:endParaRPr lang="pt-BR" altLang="pt-BR" sz="21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2695" name="Oval 7"/>
            <p:cNvSpPr>
              <a:spLocks noChangeArrowheads="1"/>
            </p:cNvSpPr>
            <p:nvPr/>
          </p:nvSpPr>
          <p:spPr bwMode="auto">
            <a:xfrm>
              <a:off x="3888" y="672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99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2696" name="Text Box 8"/>
            <p:cNvSpPr txBox="1">
              <a:spLocks noChangeArrowheads="1"/>
            </p:cNvSpPr>
            <p:nvPr/>
          </p:nvSpPr>
          <p:spPr bwMode="auto">
            <a:xfrm>
              <a:off x="4163" y="1122"/>
              <a:ext cx="1680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21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Conservação Ambiental</a:t>
              </a:r>
              <a:endParaRPr lang="pt-BR" altLang="pt-BR" sz="21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2697" name="Oval 9"/>
            <p:cNvSpPr>
              <a:spLocks noChangeArrowheads="1"/>
            </p:cNvSpPr>
            <p:nvPr/>
          </p:nvSpPr>
          <p:spPr bwMode="auto">
            <a:xfrm>
              <a:off x="720" y="1392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2698" name="Text Box 10"/>
            <p:cNvSpPr txBox="1">
              <a:spLocks noChangeArrowheads="1"/>
            </p:cNvSpPr>
            <p:nvPr/>
          </p:nvSpPr>
          <p:spPr bwMode="auto">
            <a:xfrm>
              <a:off x="1127" y="1784"/>
              <a:ext cx="1248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pt-BR" altLang="pt-BR" sz="21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Equidade Social</a:t>
              </a:r>
            </a:p>
          </p:txBody>
        </p:sp>
        <p:sp>
          <p:nvSpPr>
            <p:cNvPr id="242700" name="Oval 12"/>
            <p:cNvSpPr>
              <a:spLocks noChangeArrowheads="1"/>
            </p:cNvSpPr>
            <p:nvPr/>
          </p:nvSpPr>
          <p:spPr bwMode="auto">
            <a:xfrm>
              <a:off x="1632" y="2256"/>
              <a:ext cx="1632" cy="15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FFFF"/>
                      </a:gs>
                      <a:gs pos="100000">
                        <a:srgbClr val="BBDDFF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</p:grpSp>
      <p:sp>
        <p:nvSpPr>
          <p:cNvPr id="242702" name="Rectangle 14"/>
          <p:cNvSpPr>
            <a:spLocks noChangeArrowheads="1"/>
          </p:cNvSpPr>
          <p:nvPr/>
        </p:nvSpPr>
        <p:spPr bwMode="auto">
          <a:xfrm>
            <a:off x="2514600" y="9715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pt-BR" altLang="pt-BR" sz="21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    </a:t>
            </a:r>
          </a:p>
        </p:txBody>
      </p:sp>
      <p:sp>
        <p:nvSpPr>
          <p:cNvPr id="242703" name="Rectangle 15"/>
          <p:cNvSpPr>
            <a:spLocks noChangeArrowheads="1"/>
          </p:cNvSpPr>
          <p:nvPr/>
        </p:nvSpPr>
        <p:spPr bwMode="auto">
          <a:xfrm>
            <a:off x="2571750" y="8572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pt-BR" altLang="pt-BR" sz="21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Desafios</a:t>
            </a:r>
          </a:p>
        </p:txBody>
      </p:sp>
      <p:sp>
        <p:nvSpPr>
          <p:cNvPr id="242714" name="Rectangle 26"/>
          <p:cNvSpPr>
            <a:spLocks noChangeArrowheads="1"/>
          </p:cNvSpPr>
          <p:nvPr/>
        </p:nvSpPr>
        <p:spPr bwMode="auto">
          <a:xfrm>
            <a:off x="2033589" y="4563667"/>
            <a:ext cx="86439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altLang="pt-BR" sz="1350"/>
              <a:t>Parece Justo</a:t>
            </a:r>
          </a:p>
        </p:txBody>
      </p:sp>
    </p:spTree>
    <p:extLst>
      <p:ext uri="{BB962C8B-B14F-4D97-AF65-F5344CB8AC3E}">
        <p14:creationId xmlns:p14="http://schemas.microsoft.com/office/powerpoint/2010/main" val="1386303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ext Box 2"/>
          <p:cNvSpPr txBox="1">
            <a:spLocks noChangeArrowheads="1"/>
          </p:cNvSpPr>
          <p:nvPr/>
        </p:nvSpPr>
        <p:spPr bwMode="auto">
          <a:xfrm>
            <a:off x="3200400" y="2420541"/>
            <a:ext cx="1371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pt-BR" altLang="pt-BR" sz="1350"/>
              <a:t>Pobreza e</a:t>
            </a:r>
          </a:p>
          <a:p>
            <a:pPr eaLnBrk="0" hangingPunct="0">
              <a:spcBef>
                <a:spcPct val="50000"/>
              </a:spcBef>
            </a:pPr>
            <a:r>
              <a:rPr lang="pt-BR" altLang="pt-BR" sz="1350"/>
              <a:t>Desigualdade</a:t>
            </a:r>
          </a:p>
          <a:p>
            <a:pPr eaLnBrk="0" hangingPunct="0">
              <a:spcBef>
                <a:spcPct val="50000"/>
              </a:spcBef>
            </a:pPr>
            <a:r>
              <a:rPr lang="pt-BR" altLang="pt-BR" sz="1350"/>
              <a:t>Social</a:t>
            </a:r>
          </a:p>
        </p:txBody>
      </p:sp>
      <p:grpSp>
        <p:nvGrpSpPr>
          <p:cNvPr id="245763" name="Group 3"/>
          <p:cNvGrpSpPr>
            <a:grpSpLocks/>
          </p:cNvGrpSpPr>
          <p:nvPr/>
        </p:nvGrpSpPr>
        <p:grpSpPr bwMode="auto">
          <a:xfrm>
            <a:off x="1143000" y="1885950"/>
            <a:ext cx="6457950" cy="3143250"/>
            <a:chOff x="48" y="864"/>
            <a:chExt cx="5424" cy="2640"/>
          </a:xfrm>
        </p:grpSpPr>
        <p:sp>
          <p:nvSpPr>
            <p:cNvPr id="245764" name="Oval 4"/>
            <p:cNvSpPr>
              <a:spLocks noChangeArrowheads="1"/>
            </p:cNvSpPr>
            <p:nvPr/>
          </p:nvSpPr>
          <p:spPr bwMode="auto">
            <a:xfrm>
              <a:off x="48" y="864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5765" name="Text Box 5"/>
            <p:cNvSpPr txBox="1">
              <a:spLocks noChangeArrowheads="1"/>
            </p:cNvSpPr>
            <p:nvPr/>
          </p:nvSpPr>
          <p:spPr bwMode="auto">
            <a:xfrm>
              <a:off x="480" y="1391"/>
              <a:ext cx="1248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21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Equidade Social</a:t>
              </a:r>
            </a:p>
          </p:txBody>
        </p:sp>
        <p:sp>
          <p:nvSpPr>
            <p:cNvPr id="245766" name="Oval 6"/>
            <p:cNvSpPr>
              <a:spLocks noChangeArrowheads="1"/>
            </p:cNvSpPr>
            <p:nvPr/>
          </p:nvSpPr>
          <p:spPr bwMode="auto">
            <a:xfrm>
              <a:off x="3009" y="1008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99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5767" name="Text Box 7"/>
            <p:cNvSpPr txBox="1">
              <a:spLocks noChangeArrowheads="1"/>
            </p:cNvSpPr>
            <p:nvPr/>
          </p:nvSpPr>
          <p:spPr bwMode="auto">
            <a:xfrm>
              <a:off x="2853" y="1353"/>
              <a:ext cx="1680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hangingPunct="0">
                <a:spcBef>
                  <a:spcPct val="50000"/>
                </a:spcBef>
              </a:pPr>
              <a:r>
                <a:rPr lang="pt-BR" altLang="pt-BR" sz="21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Conservação Ambiental</a:t>
              </a:r>
              <a:endParaRPr lang="pt-BR" altLang="pt-BR" sz="21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768" name="Oval 8"/>
            <p:cNvSpPr>
              <a:spLocks noChangeArrowheads="1"/>
            </p:cNvSpPr>
            <p:nvPr/>
          </p:nvSpPr>
          <p:spPr bwMode="auto">
            <a:xfrm>
              <a:off x="2160" y="1920"/>
              <a:ext cx="1632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DD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5769" name="Text Box 9"/>
            <p:cNvSpPr txBox="1">
              <a:spLocks noChangeArrowheads="1"/>
            </p:cNvSpPr>
            <p:nvPr/>
          </p:nvSpPr>
          <p:spPr bwMode="auto">
            <a:xfrm>
              <a:off x="2354" y="2516"/>
              <a:ext cx="1440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pt-BR" altLang="pt-BR" sz="21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Eficiência Econômica</a:t>
              </a:r>
              <a:endParaRPr lang="pt-BR" altLang="pt-BR" sz="21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770" name="Oval 10"/>
            <p:cNvSpPr>
              <a:spLocks noChangeArrowheads="1"/>
            </p:cNvSpPr>
            <p:nvPr/>
          </p:nvSpPr>
          <p:spPr bwMode="auto">
            <a:xfrm>
              <a:off x="3006" y="1008"/>
              <a:ext cx="1680" cy="15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FFFF"/>
                      </a:gs>
                      <a:gs pos="100000">
                        <a:srgbClr val="99FFCC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5771" name="Line 11"/>
            <p:cNvSpPr>
              <a:spLocks noChangeShapeType="1"/>
            </p:cNvSpPr>
            <p:nvPr/>
          </p:nvSpPr>
          <p:spPr bwMode="auto">
            <a:xfrm rot="-10800000">
              <a:off x="3552" y="2448"/>
              <a:ext cx="362" cy="23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1350"/>
            </a:p>
          </p:txBody>
        </p:sp>
        <p:sp>
          <p:nvSpPr>
            <p:cNvPr id="245772" name="AutoShape 12"/>
            <p:cNvSpPr>
              <a:spLocks noChangeArrowheads="1"/>
            </p:cNvSpPr>
            <p:nvPr/>
          </p:nvSpPr>
          <p:spPr bwMode="auto">
            <a:xfrm>
              <a:off x="3984" y="2583"/>
              <a:ext cx="1488" cy="39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1500">
                  <a:latin typeface="Times New Roman" panose="02020603050405020304" pitchFamily="18" charset="0"/>
                </a:rPr>
                <a:t>Padrão Tecnológico</a:t>
              </a:r>
            </a:p>
          </p:txBody>
        </p:sp>
      </p:grpSp>
      <p:sp>
        <p:nvSpPr>
          <p:cNvPr id="245773" name="Text Box 13"/>
          <p:cNvSpPr txBox="1">
            <a:spLocks noChangeArrowheads="1"/>
          </p:cNvSpPr>
          <p:nvPr/>
        </p:nvSpPr>
        <p:spPr bwMode="auto">
          <a:xfrm>
            <a:off x="5257801" y="5257800"/>
            <a:ext cx="2746772" cy="3462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 rIns="13500" bIns="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pt-BR" altLang="pt-BR" sz="1125">
                <a:latin typeface="Times New Roman" panose="02020603050405020304" pitchFamily="18" charset="0"/>
              </a:rPr>
              <a:t> Adaptado de Sérgio Buarque (Construindo o Desenvolvimento Local Sustentável)</a:t>
            </a:r>
          </a:p>
        </p:txBody>
      </p:sp>
      <p:sp>
        <p:nvSpPr>
          <p:cNvPr id="245774" name="Rectangle 14"/>
          <p:cNvSpPr>
            <a:spLocks noChangeArrowheads="1"/>
          </p:cNvSpPr>
          <p:nvPr/>
        </p:nvSpPr>
        <p:spPr bwMode="auto">
          <a:xfrm>
            <a:off x="2514600" y="9715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endParaRPr lang="pt-BR" altLang="pt-BR" sz="21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45775" name="Rectangle 15"/>
          <p:cNvSpPr>
            <a:spLocks noChangeArrowheads="1"/>
          </p:cNvSpPr>
          <p:nvPr/>
        </p:nvSpPr>
        <p:spPr bwMode="auto">
          <a:xfrm>
            <a:off x="2571750" y="9334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pt-BR" altLang="pt-BR" sz="21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Desafios</a:t>
            </a:r>
          </a:p>
        </p:txBody>
      </p:sp>
    </p:spTree>
    <p:extLst>
      <p:ext uri="{BB962C8B-B14F-4D97-AF65-F5344CB8AC3E}">
        <p14:creationId xmlns:p14="http://schemas.microsoft.com/office/powerpoint/2010/main" val="159953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Text Box 2"/>
          <p:cNvSpPr txBox="1">
            <a:spLocks noChangeArrowheads="1"/>
          </p:cNvSpPr>
          <p:nvPr/>
        </p:nvSpPr>
        <p:spPr bwMode="auto">
          <a:xfrm>
            <a:off x="3314700" y="3714750"/>
            <a:ext cx="1314450" cy="7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pt-BR" altLang="pt-BR" sz="1350"/>
              <a:t>Ausência de viabilidade Econômica</a:t>
            </a:r>
            <a:endParaRPr lang="pt-BR" altLang="pt-BR" sz="1500"/>
          </a:p>
        </p:txBody>
      </p:sp>
      <p:grpSp>
        <p:nvGrpSpPr>
          <p:cNvPr id="247811" name="Group 3"/>
          <p:cNvGrpSpPr>
            <a:grpSpLocks/>
          </p:cNvGrpSpPr>
          <p:nvPr/>
        </p:nvGrpSpPr>
        <p:grpSpPr bwMode="auto">
          <a:xfrm>
            <a:off x="1331119" y="1916906"/>
            <a:ext cx="6000750" cy="3714750"/>
            <a:chOff x="144" y="816"/>
            <a:chExt cx="5040" cy="3120"/>
          </a:xfrm>
        </p:grpSpPr>
        <p:sp>
          <p:nvSpPr>
            <p:cNvPr id="247812" name="Oval 4"/>
            <p:cNvSpPr>
              <a:spLocks noChangeArrowheads="1"/>
            </p:cNvSpPr>
            <p:nvPr/>
          </p:nvSpPr>
          <p:spPr bwMode="auto">
            <a:xfrm>
              <a:off x="2352" y="816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7813" name="Text Box 5"/>
            <p:cNvSpPr txBox="1">
              <a:spLocks noChangeArrowheads="1"/>
            </p:cNvSpPr>
            <p:nvPr/>
          </p:nvSpPr>
          <p:spPr bwMode="auto">
            <a:xfrm>
              <a:off x="2352" y="1314"/>
              <a:ext cx="1248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pt-BR" altLang="pt-BR" sz="195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Equidade Social</a:t>
              </a:r>
            </a:p>
          </p:txBody>
        </p:sp>
        <p:sp>
          <p:nvSpPr>
            <p:cNvPr id="247814" name="Oval 6"/>
            <p:cNvSpPr>
              <a:spLocks noChangeArrowheads="1"/>
            </p:cNvSpPr>
            <p:nvPr/>
          </p:nvSpPr>
          <p:spPr bwMode="auto">
            <a:xfrm>
              <a:off x="3504" y="816"/>
              <a:ext cx="1680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99FFCC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7815" name="Text Box 7"/>
            <p:cNvSpPr txBox="1">
              <a:spLocks noChangeArrowheads="1"/>
            </p:cNvSpPr>
            <p:nvPr/>
          </p:nvSpPr>
          <p:spPr bwMode="auto">
            <a:xfrm>
              <a:off x="3504" y="1170"/>
              <a:ext cx="1680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 eaLnBrk="0" hangingPunct="0">
                <a:spcBef>
                  <a:spcPct val="50000"/>
                </a:spcBef>
              </a:pPr>
              <a:r>
                <a:rPr lang="pt-BR" altLang="pt-BR" sz="1950">
                  <a:solidFill>
                    <a:srgbClr val="0000FF"/>
                  </a:solidFill>
                  <a:latin typeface="Times New Roman" panose="02020603050405020304" pitchFamily="18" charset="0"/>
                </a:rPr>
                <a:t>Conservação Ambiental</a:t>
              </a:r>
              <a:endParaRPr lang="pt-BR" altLang="pt-BR" sz="195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7816" name="Oval 8"/>
            <p:cNvSpPr>
              <a:spLocks noChangeArrowheads="1"/>
            </p:cNvSpPr>
            <p:nvPr/>
          </p:nvSpPr>
          <p:spPr bwMode="auto">
            <a:xfrm>
              <a:off x="144" y="2352"/>
              <a:ext cx="1632" cy="158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DD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7817" name="Text Box 9"/>
            <p:cNvSpPr txBox="1">
              <a:spLocks noChangeArrowheads="1"/>
            </p:cNvSpPr>
            <p:nvPr/>
          </p:nvSpPr>
          <p:spPr bwMode="auto">
            <a:xfrm>
              <a:off x="276" y="2814"/>
              <a:ext cx="1440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1950">
                  <a:solidFill>
                    <a:srgbClr val="0000FF"/>
                  </a:solidFill>
                  <a:latin typeface="Times New Roman" panose="02020603050405020304" pitchFamily="18" charset="0"/>
                </a:rPr>
                <a:t>Eficiência Econômica</a:t>
              </a:r>
              <a:endParaRPr lang="pt-BR" altLang="pt-BR" sz="195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7818" name="Oval 10"/>
            <p:cNvSpPr>
              <a:spLocks noChangeArrowheads="1"/>
            </p:cNvSpPr>
            <p:nvPr/>
          </p:nvSpPr>
          <p:spPr bwMode="auto">
            <a:xfrm>
              <a:off x="2352" y="816"/>
              <a:ext cx="1680" cy="158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FFFF"/>
                      </a:gs>
                      <a:gs pos="100000">
                        <a:srgbClr val="FFFFCC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1350"/>
            </a:p>
          </p:txBody>
        </p:sp>
        <p:sp>
          <p:nvSpPr>
            <p:cNvPr id="247819" name="AutoShape 11"/>
            <p:cNvSpPr>
              <a:spLocks noChangeArrowheads="1"/>
            </p:cNvSpPr>
            <p:nvPr/>
          </p:nvSpPr>
          <p:spPr bwMode="auto">
            <a:xfrm>
              <a:off x="3360" y="2592"/>
              <a:ext cx="1632" cy="384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pt-BR" altLang="pt-BR" sz="1500">
                  <a:latin typeface="Times New Roman" panose="02020603050405020304" pitchFamily="18" charset="0"/>
                </a:rPr>
                <a:t>Padrão de Consumo</a:t>
              </a:r>
            </a:p>
          </p:txBody>
        </p:sp>
        <p:sp>
          <p:nvSpPr>
            <p:cNvPr id="247820" name="Line 12"/>
            <p:cNvSpPr>
              <a:spLocks noChangeShapeType="1"/>
            </p:cNvSpPr>
            <p:nvPr/>
          </p:nvSpPr>
          <p:spPr bwMode="auto">
            <a:xfrm rot="10800000">
              <a:off x="3744" y="1920"/>
              <a:ext cx="432" cy="6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1350"/>
            </a:p>
          </p:txBody>
        </p:sp>
      </p:grpSp>
      <p:sp>
        <p:nvSpPr>
          <p:cNvPr id="247821" name="Text Box 13"/>
          <p:cNvSpPr txBox="1">
            <a:spLocks noChangeArrowheads="1"/>
          </p:cNvSpPr>
          <p:nvPr/>
        </p:nvSpPr>
        <p:spPr bwMode="auto">
          <a:xfrm>
            <a:off x="5257801" y="5257800"/>
            <a:ext cx="2746772" cy="34624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 rIns="13500" bIns="0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pt-BR" altLang="pt-BR" sz="1125">
                <a:latin typeface="Times New Roman" panose="02020603050405020304" pitchFamily="18" charset="0"/>
              </a:rPr>
              <a:t> Adaptado de Sérgio Buarque (Construindo o Desenvolvimento Local Sustentável)</a:t>
            </a:r>
          </a:p>
        </p:txBody>
      </p:sp>
      <p:sp>
        <p:nvSpPr>
          <p:cNvPr id="247822" name="Rectangle 14"/>
          <p:cNvSpPr>
            <a:spLocks noChangeArrowheads="1"/>
          </p:cNvSpPr>
          <p:nvPr/>
        </p:nvSpPr>
        <p:spPr bwMode="auto">
          <a:xfrm>
            <a:off x="2514600" y="9715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endParaRPr lang="pt-BR" altLang="pt-BR" sz="21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604030504040204" pitchFamily="34" charset="0"/>
            </a:endParaRPr>
          </a:p>
        </p:txBody>
      </p:sp>
      <p:sp>
        <p:nvSpPr>
          <p:cNvPr id="247823" name="Rectangle 15"/>
          <p:cNvSpPr>
            <a:spLocks noChangeArrowheads="1"/>
          </p:cNvSpPr>
          <p:nvPr/>
        </p:nvSpPr>
        <p:spPr bwMode="auto">
          <a:xfrm>
            <a:off x="2571750" y="857251"/>
            <a:ext cx="5429250" cy="39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>
            <a:spAutoFit/>
          </a:bodyPr>
          <a:lstStyle>
            <a:lvl1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eaLnBrk="0" hangingPunct="0">
              <a:spcBef>
                <a:spcPct val="0"/>
              </a:spcBef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pt-BR" altLang="pt-BR" sz="21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rPr>
              <a:t>Desafios</a:t>
            </a:r>
          </a:p>
        </p:txBody>
      </p:sp>
    </p:spTree>
    <p:extLst>
      <p:ext uri="{BB962C8B-B14F-4D97-AF65-F5344CB8AC3E}">
        <p14:creationId xmlns:p14="http://schemas.microsoft.com/office/powerpoint/2010/main" val="53888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fld id="{2E27110D-58BE-4A4C-A485-DAA55D06D1BC}" type="slidenum">
              <a:rPr lang="pt-BR" altLang="pt-BR" sz="1050">
                <a:solidFill>
                  <a:schemeClr val="tx1"/>
                </a:solidFill>
                <a:latin typeface="Arial" panose="020B0604020202020204" pitchFamily="34" charset="0"/>
              </a:rPr>
              <a:pPr/>
              <a:t>28</a:t>
            </a:fld>
            <a:endParaRPr lang="pt-BR" altLang="pt-BR" sz="105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601392" y="854869"/>
          <a:ext cx="5941219" cy="5139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Image" r:id="rId3" imgW="4143293" imgH="3576220" progId="Photoshop.Image.5">
                  <p:embed/>
                </p:oleObj>
              </mc:Choice>
              <mc:Fallback>
                <p:oleObj name="Image" r:id="rId3" imgW="4143293" imgH="3576220" progId="Photoshop.Image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392" y="854869"/>
                        <a:ext cx="5941219" cy="51399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900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BR" sz="3525"/>
              <a:t>Desenvolvimento Sustentável</a:t>
            </a:r>
            <a:endParaRPr lang="pt-BR" altLang="pt-BR" sz="3525"/>
          </a:p>
        </p:txBody>
      </p:sp>
      <p:sp>
        <p:nvSpPr>
          <p:cNvPr id="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442998" y="5388272"/>
            <a:ext cx="512504" cy="273844"/>
          </a:xfrm>
          <a:prstGeom prst="rect">
            <a:avLst/>
          </a:prstGeom>
        </p:spPr>
        <p:txBody>
          <a:bodyPr/>
          <a:lstStyle>
            <a:lvl1pPr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fld id="{CF340440-81BB-4623-B888-C038C16BCD5E}" type="slidenum">
              <a:rPr lang="pt-BR" altLang="pt-BR" sz="1050">
                <a:solidFill>
                  <a:schemeClr val="tx1"/>
                </a:solidFill>
                <a:latin typeface="Arial" panose="020B0604020202020204" pitchFamily="34" charset="0"/>
              </a:rPr>
              <a:pPr/>
              <a:t>29</a:t>
            </a:fld>
            <a:endParaRPr lang="pt-BR" altLang="pt-BR" sz="105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57731" name="Text Box 3"/>
          <p:cNvSpPr txBox="1">
            <a:spLocks noChangeArrowheads="1"/>
          </p:cNvSpPr>
          <p:nvPr/>
        </p:nvSpPr>
        <p:spPr bwMode="auto">
          <a:xfrm>
            <a:off x="6228184" y="4623198"/>
            <a:ext cx="22288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100" b="1" dirty="0">
                <a:solidFill>
                  <a:schemeClr val="tx1"/>
                </a:solidFill>
                <a:latin typeface="Verdana" panose="020B0604030504040204" pitchFamily="34" charset="0"/>
              </a:rPr>
              <a:t>E</a:t>
            </a:r>
            <a:r>
              <a:rPr lang="pt-PT" altLang="pt-BR" sz="2100" b="1" dirty="0">
                <a:solidFill>
                  <a:schemeClr val="tx1"/>
                </a:solidFill>
                <a:latin typeface="Verdana" panose="020B0604030504040204" pitchFamily="34" charset="0"/>
              </a:rPr>
              <a:t>ficiência</a:t>
            </a:r>
            <a:r>
              <a:rPr lang="pt-BR" altLang="pt-BR" sz="2100" b="1" dirty="0">
                <a:solidFill>
                  <a:schemeClr val="tx1"/>
                </a:solidFill>
                <a:latin typeface="Verdana" panose="020B0604030504040204" pitchFamily="34" charset="0"/>
              </a:rPr>
              <a:t> E</a:t>
            </a:r>
            <a:r>
              <a:rPr lang="pt-PT" altLang="pt-BR" sz="2100" b="1" dirty="0">
                <a:solidFill>
                  <a:schemeClr val="tx1"/>
                </a:solidFill>
                <a:latin typeface="Verdana" panose="020B0604030504040204" pitchFamily="34" charset="0"/>
              </a:rPr>
              <a:t>conômica</a:t>
            </a:r>
            <a:endParaRPr lang="pt-BR" altLang="pt-BR" sz="21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457732" name="Text Box 4"/>
          <p:cNvSpPr txBox="1">
            <a:spLocks noChangeArrowheads="1"/>
          </p:cNvSpPr>
          <p:nvPr/>
        </p:nvSpPr>
        <p:spPr bwMode="auto">
          <a:xfrm>
            <a:off x="3952875" y="2343150"/>
            <a:ext cx="17954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PT" altLang="pt-BR" sz="2100" b="1">
                <a:solidFill>
                  <a:schemeClr val="tx1"/>
                </a:solidFill>
                <a:latin typeface="Verdana" panose="020B0604030504040204" pitchFamily="34" charset="0"/>
              </a:rPr>
              <a:t>Justiça Social</a:t>
            </a:r>
            <a:endParaRPr lang="pt-BR" altLang="pt-BR" sz="2100" b="1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457733" name="Text Box 5"/>
          <p:cNvSpPr txBox="1">
            <a:spLocks noChangeArrowheads="1"/>
          </p:cNvSpPr>
          <p:nvPr/>
        </p:nvSpPr>
        <p:spPr bwMode="auto">
          <a:xfrm>
            <a:off x="585694" y="4757547"/>
            <a:ext cx="272415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PT" altLang="pt-BR" sz="2100" b="1" dirty="0">
                <a:solidFill>
                  <a:schemeClr val="tx1"/>
                </a:solidFill>
                <a:latin typeface="Verdana" panose="020B0604030504040204" pitchFamily="34" charset="0"/>
              </a:rPr>
              <a:t>Sustentabilidade Ambiental</a:t>
            </a:r>
            <a:endParaRPr lang="pt-BR" altLang="pt-BR" sz="2100" b="1" dirty="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275410" y="2996804"/>
            <a:ext cx="3067050" cy="1771650"/>
            <a:chOff x="1824" y="1776"/>
            <a:chExt cx="2256" cy="1488"/>
          </a:xfrm>
        </p:grpSpPr>
        <p:sp>
          <p:nvSpPr>
            <p:cNvPr id="13320" name="AutoShape 7"/>
            <p:cNvSpPr>
              <a:spLocks noChangeArrowheads="1"/>
            </p:cNvSpPr>
            <p:nvPr/>
          </p:nvSpPr>
          <p:spPr bwMode="auto">
            <a:xfrm>
              <a:off x="1824" y="1776"/>
              <a:ext cx="2256" cy="1488"/>
            </a:xfrm>
            <a:prstGeom prst="triangle">
              <a:avLst>
                <a:gd name="adj" fmla="val 50000"/>
              </a:avLst>
            </a:prstGeom>
            <a:solidFill>
              <a:srgbClr val="008080"/>
            </a:solidFill>
            <a:ln w="9525">
              <a:solidFill>
                <a:srgbClr val="00808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pt-BR" altLang="pt-BR" sz="1800"/>
            </a:p>
          </p:txBody>
        </p:sp>
        <p:sp>
          <p:nvSpPr>
            <p:cNvPr id="13321" name="Text Box 8"/>
            <p:cNvSpPr txBox="1">
              <a:spLocks noChangeArrowheads="1"/>
            </p:cNvSpPr>
            <p:nvPr/>
          </p:nvSpPr>
          <p:spPr bwMode="auto">
            <a:xfrm>
              <a:off x="2208" y="2677"/>
              <a:ext cx="1584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FFFFFF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PT" altLang="pt-BR" sz="1500" b="1">
                  <a:solidFill>
                    <a:schemeClr val="tx1"/>
                  </a:solidFill>
                  <a:latin typeface="Verdana" panose="020B0604030504040204" pitchFamily="34" charset="0"/>
                </a:rPr>
                <a:t>Desenvolvimento Sustentável</a:t>
              </a:r>
              <a:endParaRPr lang="pt-BR" altLang="pt-BR" sz="15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85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1" grpId="0" autoUpdateAnimBg="0"/>
      <p:bldP spid="457732" grpId="0" autoUpdateAnimBg="0"/>
      <p:bldP spid="45773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7" y="1186268"/>
            <a:ext cx="6798734" cy="1303867"/>
          </a:xfrm>
        </p:spPr>
        <p:txBody>
          <a:bodyPr/>
          <a:lstStyle/>
          <a:p>
            <a:r>
              <a:rPr lang="pt-BR" dirty="0"/>
              <a:t>Pegada Ecológica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Pegada Ecológica é uma metodologia de contabilidade ambiental que mede a quantidade de terra biologicamente produtiva e de área aquática necessárias para produzir os recursos que um indivíduo, população ou atividade consome e para absorver os resíduos que gera.</a:t>
            </a:r>
          </a:p>
          <a:p>
            <a:endParaRPr lang="pt-BR" dirty="0"/>
          </a:p>
          <a:p>
            <a:r>
              <a:rPr lang="pt-BR" dirty="0"/>
              <a:t>É uma forma de traduzir a extensão de território que uma pessoa, cidade, país, região ou até a população do mundo todo utiliza, em média, para suprir suas demandas de consumo e produtos, bens e serviços.</a:t>
            </a:r>
          </a:p>
          <a:p>
            <a:endParaRPr lang="pt-BR" dirty="0"/>
          </a:p>
          <a:p>
            <a:r>
              <a:rPr lang="pt-BR" dirty="0"/>
              <a:t> O cálculo é feito somando as áreas necessárias para fornecer os recursos renováveis utilizados com as que são ocupadas por infraestrutura (pelas cidades, por exemplo) e as áreas necessárias para a absorção de Gases de Efeito Estufa (GEE) lançados na atmosfera.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24800" t="37849" r="13776" b="28217"/>
          <a:stretch>
            <a:fillRect/>
          </a:stretch>
        </p:blipFill>
        <p:spPr bwMode="auto">
          <a:xfrm>
            <a:off x="2902301" y="404664"/>
            <a:ext cx="3347864" cy="111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5476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5" y="1191140"/>
            <a:ext cx="6798734" cy="1303867"/>
          </a:xfrm>
        </p:spPr>
        <p:txBody>
          <a:bodyPr/>
          <a:lstStyle/>
          <a:p>
            <a:r>
              <a:rPr lang="pt-BR" dirty="0"/>
              <a:t>Pegada Ecológica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200" dirty="0"/>
              <a:t>Serve como um indicador da pressão humana sobre ecossistemas locais e globais</a:t>
            </a:r>
          </a:p>
          <a:p>
            <a:r>
              <a:rPr lang="pt-BR" sz="2200" dirty="0"/>
              <a:t>Desde meados da década de 1980 a humanidade passou a consumir mais do que o planeta naturalmente oferece e se mantém acima do limite de um planeta necessário</a:t>
            </a:r>
          </a:p>
          <a:p>
            <a:r>
              <a:rPr lang="pt-BR" sz="2200" dirty="0"/>
              <a:t>Em 2007, a demanda da humanidade excedeu a taxa de regeneração da biosfera em mais de 50 %</a:t>
            </a:r>
          </a:p>
          <a:p>
            <a:r>
              <a:rPr lang="pt-BR" sz="2200" dirty="0"/>
              <a:t>Projeções para 2050 apontam que, se continuarmos procedendo desta forma, necessitaremos de mais de dois planetas para manter nosso padrão de consumo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24800" t="37849" r="13776" b="28217"/>
          <a:stretch>
            <a:fillRect/>
          </a:stretch>
        </p:blipFill>
        <p:spPr bwMode="auto">
          <a:xfrm>
            <a:off x="2902301" y="404664"/>
            <a:ext cx="3347864" cy="111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2106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867" y="1186268"/>
            <a:ext cx="6798734" cy="1303867"/>
          </a:xfrm>
        </p:spPr>
        <p:txBody>
          <a:bodyPr/>
          <a:lstStyle/>
          <a:p>
            <a:r>
              <a:rPr lang="pt-BR" dirty="0"/>
              <a:t>Pegada Ecológica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 média da Pegada Ecológica mundial é de 2,7 hectares globais por pessoa e essa área equivale a 1,75 planeta para suprir nosso estilo de vida</a:t>
            </a:r>
          </a:p>
          <a:p>
            <a:endParaRPr lang="pt-BR" dirty="0"/>
          </a:p>
          <a:p>
            <a:r>
              <a:rPr lang="pt-BR" dirty="0"/>
              <a:t>Enquanto a </a:t>
            </a:r>
            <a:r>
              <a:rPr lang="pt-BR" dirty="0" err="1"/>
              <a:t>biocapacidade</a:t>
            </a:r>
            <a:r>
              <a:rPr lang="pt-BR" dirty="0"/>
              <a:t> disponível para cada ser humano é de apenas 1,8 hectare global</a:t>
            </a:r>
          </a:p>
          <a:p>
            <a:endParaRPr lang="pt-BR" dirty="0"/>
          </a:p>
          <a:p>
            <a:r>
              <a:rPr lang="pt-BR" dirty="0"/>
              <a:t>Se continuarmos nesse ritmo, até 2050, vamos precisar do equivalente a 2,9 planetas para atender nossas demandas anuais. 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24800" t="37849" r="13776" b="28217"/>
          <a:stretch>
            <a:fillRect/>
          </a:stretch>
        </p:blipFill>
        <p:spPr bwMode="auto">
          <a:xfrm>
            <a:off x="2902301" y="404664"/>
            <a:ext cx="3347864" cy="111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6170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https://www.overshootday.org/content/uploads/2020/06/2020_Past_Overshoot-Days-English-lar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05083"/>
            <a:ext cx="8361117" cy="5172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631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Resultado de imagem para dia de sobrecarga da terra 20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0"/>
            <a:ext cx="8433638" cy="687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699792" y="5445224"/>
            <a:ext cx="720080" cy="144016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63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Resultado de imagem para dia de sobrecarga da terra 20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" y="0"/>
            <a:ext cx="92053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187624" y="818607"/>
            <a:ext cx="2880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dirty="0"/>
              <a:t>https://www.youtube.com/watch?v=j0FBIFl7kdo&amp;feature=emb_logo</a:t>
            </a:r>
          </a:p>
        </p:txBody>
      </p:sp>
    </p:spTree>
    <p:extLst>
      <p:ext uri="{BB962C8B-B14F-4D97-AF65-F5344CB8AC3E}">
        <p14:creationId xmlns:p14="http://schemas.microsoft.com/office/powerpoint/2010/main" val="1346680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 &#10; Â© WWF-Bras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980818"/>
            <a:ext cx="2895600" cy="28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536304"/>
            <a:ext cx="7467600" cy="341297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b="1" dirty="0"/>
              <a:t>Faça o teste de pegada ecológica no site:</a:t>
            </a:r>
          </a:p>
          <a:p>
            <a:pPr algn="ctr">
              <a:buNone/>
            </a:pPr>
            <a:endParaRPr lang="pt-BR" b="1" dirty="0"/>
          </a:p>
          <a:p>
            <a:pPr algn="ctr">
              <a:buNone/>
            </a:pPr>
            <a:r>
              <a:rPr lang="pt-BR" b="1" dirty="0">
                <a:hlinkClick r:id="rId3"/>
              </a:rPr>
              <a:t>http://www.footprintcalculator.org/</a:t>
            </a:r>
            <a:r>
              <a:rPr lang="pt-BR" b="1" dirty="0"/>
              <a:t> </a:t>
            </a:r>
          </a:p>
          <a:p>
            <a:pPr algn="ctr">
              <a:buNone/>
            </a:pPr>
            <a:endParaRPr lang="pt-BR" b="1" dirty="0"/>
          </a:p>
          <a:p>
            <a:pPr algn="ctr">
              <a:buNone/>
            </a:pPr>
            <a:endParaRPr lang="pt-BR" b="1" dirty="0"/>
          </a:p>
          <a:p>
            <a:pPr algn="ctr">
              <a:buNone/>
            </a:pP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 l="24800" t="37849" r="13776" b="28217"/>
          <a:stretch>
            <a:fillRect/>
          </a:stretch>
        </p:blipFill>
        <p:spPr bwMode="auto">
          <a:xfrm>
            <a:off x="2123728" y="692696"/>
            <a:ext cx="4831797" cy="161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Análise do Texto “</a:t>
            </a:r>
            <a:r>
              <a:rPr lang="pt-BR" b="1" dirty="0"/>
              <a:t>Earth </a:t>
            </a:r>
            <a:r>
              <a:rPr lang="pt-BR" b="1" dirty="0" err="1"/>
              <a:t>Overshoot</a:t>
            </a:r>
            <a:r>
              <a:rPr lang="pt-BR" b="1" dirty="0"/>
              <a:t> Day</a:t>
            </a:r>
            <a:r>
              <a:rPr lang="pt-BR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6710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 2030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Em setembro de 2015, líderes mundiais reuniram-se na sede da ONU, em Nova York, e decidiram um plano de ação para erradicar a pobreza, proteger o planeta e garantir que as pessoas alcancem a paz e a prosperidade:</a:t>
            </a:r>
          </a:p>
          <a:p>
            <a:r>
              <a:rPr lang="pt-BR" dirty="0"/>
              <a:t>A Agenda 2030 para o Desenvolvimento Sustentável, a qual contém o conjunto de 17 Objetivos de Desenvolvimento Sustentável (ODS).</a:t>
            </a:r>
          </a:p>
          <a:p>
            <a:r>
              <a:rPr lang="pt-BR" dirty="0"/>
              <a:t>A Agenda 2030 e os ODS afirmam que para pôr o mundo em um caminho sustentável é urgentemente necessário tomar medidas ousadas e transformadoras. </a:t>
            </a:r>
          </a:p>
          <a:p>
            <a:r>
              <a:rPr lang="pt-BR" dirty="0"/>
              <a:t>Os ODS constituem uma ambiciosa lista de tarefas para todas as pessoas, em todas as partes, a serem cumpridas até 2030. Se cumprirmos suas metas, seremos a primeira geração a erradicar a pobreza extrema e iremos poupar as gerações futuras dos piores efeitos adversos da mudança do clima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996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Resultado de imagem para 17 alvos do desenvolvimento sustentÃ¡v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" y="620688"/>
            <a:ext cx="9144000" cy="545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76865" y="3439047"/>
            <a:ext cx="6798736" cy="2496085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Erradicação de todas as formas de pobreza é um dos maiores desafios para o desenvolvimento sustentável</a:t>
            </a:r>
          </a:p>
          <a:p>
            <a:r>
              <a:rPr lang="pt-BR" dirty="0"/>
              <a:t>Os países construam parcerias que viabilizem a mobilização de recursos para a criação de programas e políticas que erradiquem a pobreza em todos os sentidos, para que a população vulnerável possa ter condições mínimas de sobrevivência e seja </a:t>
            </a:r>
            <a:r>
              <a:rPr lang="pt-BR" dirty="0">
                <a:solidFill>
                  <a:srgbClr val="FF0000"/>
                </a:solidFill>
              </a:rPr>
              <a:t>possível reduzir à metade a proporção de pessoas que vivem em situação de pobreza.</a:t>
            </a:r>
          </a:p>
        </p:txBody>
      </p:sp>
      <p:pic>
        <p:nvPicPr>
          <p:cNvPr id="3074" name="Picture 2" descr="https://plan.org.br/wp-content/uploads/2019/01/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04664"/>
            <a:ext cx="3034382" cy="303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600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76865" y="2996952"/>
            <a:ext cx="6798736" cy="3012949"/>
          </a:xfrm>
        </p:spPr>
        <p:txBody>
          <a:bodyPr>
            <a:normAutofit/>
          </a:bodyPr>
          <a:lstStyle/>
          <a:p>
            <a:r>
              <a:rPr lang="pt-BR" dirty="0"/>
              <a:t> A escassez de água afeta mais de 40% da população mundial? </a:t>
            </a:r>
          </a:p>
          <a:p>
            <a:r>
              <a:rPr lang="pt-BR" dirty="0"/>
              <a:t>A Agenda 2030 prevê como meta uma </a:t>
            </a:r>
            <a:r>
              <a:rPr lang="pt-BR" dirty="0">
                <a:solidFill>
                  <a:srgbClr val="FF0000"/>
                </a:solidFill>
              </a:rPr>
              <a:t>gestão mais responsável dos recursos hídricos</a:t>
            </a:r>
            <a:r>
              <a:rPr lang="pt-BR" dirty="0"/>
              <a:t>, incluindo a </a:t>
            </a:r>
            <a:r>
              <a:rPr lang="pt-BR" dirty="0">
                <a:solidFill>
                  <a:srgbClr val="FF0000"/>
                </a:solidFill>
              </a:rPr>
              <a:t>implementação de saneamento básico </a:t>
            </a:r>
            <a:r>
              <a:rPr lang="pt-BR" dirty="0"/>
              <a:t>em todas as regiões vulneráveis e a proteção dos ecossistemas relacionados à água, como rios e florestas</a:t>
            </a:r>
          </a:p>
        </p:txBody>
      </p:sp>
      <p:pic>
        <p:nvPicPr>
          <p:cNvPr id="4098" name="Picture 2" descr="https://plan.org.br/wp-content/uploads/2019/01/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04664"/>
            <a:ext cx="2592287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1545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76865" y="3115123"/>
            <a:ext cx="6798736" cy="2820009"/>
          </a:xfrm>
        </p:spPr>
        <p:txBody>
          <a:bodyPr>
            <a:normAutofit fontScale="92500"/>
          </a:bodyPr>
          <a:lstStyle/>
          <a:p>
            <a:r>
              <a:rPr lang="pt-BR" dirty="0"/>
              <a:t>Para a Agenda 2030, é importante não apenas que todas as pessoas tenham acesso à energia (atualmente, mais de 15% da população mundial não tem acesso à eletricidade), mas que </a:t>
            </a:r>
            <a:r>
              <a:rPr lang="pt-BR" dirty="0">
                <a:solidFill>
                  <a:srgbClr val="FF0000"/>
                </a:solidFill>
              </a:rPr>
              <a:t>a energia fornecida também seja limpa e barata</a:t>
            </a:r>
            <a:r>
              <a:rPr lang="pt-BR" dirty="0"/>
              <a:t>, para não que não haja prejuízos ao meio ambiente durante a sua produção e também não haja dificuldades de acesso pelas pessoas de baixa renda e em situação de vulnerabilidade.</a:t>
            </a:r>
          </a:p>
        </p:txBody>
      </p:sp>
      <p:pic>
        <p:nvPicPr>
          <p:cNvPr id="5122" name="Picture 2" descr="https://plan.org.br/wp-content/uploads/2019/01/0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04664"/>
            <a:ext cx="2710458" cy="271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884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76865" y="2852936"/>
            <a:ext cx="6798736" cy="3082196"/>
          </a:xfrm>
        </p:spPr>
        <p:txBody>
          <a:bodyPr/>
          <a:lstStyle/>
          <a:p>
            <a:r>
              <a:rPr lang="pt-BR" dirty="0"/>
              <a:t>Se medidas não forem tomadas, a temperatura global poderá aumentar em até 3 graus até o fim do século 21</a:t>
            </a:r>
          </a:p>
          <a:p>
            <a:r>
              <a:rPr lang="pt-BR" dirty="0"/>
              <a:t>Por isso, uma das metas da Agenda 2030 é aumentar os investimentos dos países no desenvolvimento de tecnologias que permitam reduzir o desgaste do planeta.</a:t>
            </a:r>
          </a:p>
        </p:txBody>
      </p:sp>
      <p:pic>
        <p:nvPicPr>
          <p:cNvPr id="6146" name="Picture 2" descr="https://plan.org.br/wp-content/uploads/2019/01/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5522" y="378282"/>
            <a:ext cx="2474654" cy="247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634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 &#10; Â© WWF-Bras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823" y="1417638"/>
            <a:ext cx="1295400" cy="130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diminuir sua pegada ecológica?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cap="all" dirty="0"/>
              <a:t>ALIMENTAÇÃO</a:t>
            </a:r>
          </a:p>
          <a:p>
            <a:pPr lvl="1"/>
            <a:r>
              <a:rPr lang="pt-BR" dirty="0"/>
              <a:t>Evite alto consumo diário de proteínas (carne animal), de produtos industrializados e de </a:t>
            </a:r>
            <a:r>
              <a:rPr lang="pt-BR" dirty="0" err="1"/>
              <a:t>fast</a:t>
            </a:r>
            <a:r>
              <a:rPr lang="pt-BR" dirty="0"/>
              <a:t> </a:t>
            </a:r>
            <a:r>
              <a:rPr lang="pt-BR" dirty="0" err="1"/>
              <a:t>food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Além de uma dieta mais saudável, você irá evitar a produção de muitas embalagens, que logo viram lixo. </a:t>
            </a:r>
          </a:p>
          <a:p>
            <a:pPr lvl="1"/>
            <a:r>
              <a:rPr lang="pt-BR" dirty="0"/>
              <a:t>É importante lembrar que 60% da água doce disponível em nosso planeta é destinada à produção de alimentos</a:t>
            </a:r>
          </a:p>
        </p:txBody>
      </p:sp>
      <p:pic>
        <p:nvPicPr>
          <p:cNvPr id="4098" name="Picture 2" descr="http://d3nehc6yl9qzo4.cloudfront.net/img/original/tabela_ag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3" y="4463264"/>
            <a:ext cx="7767610" cy="203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6883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diminuir sua pegada ecológica?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Hábitos</a:t>
            </a:r>
          </a:p>
          <a:p>
            <a:endParaRPr lang="pt-BR" dirty="0"/>
          </a:p>
          <a:p>
            <a:pPr lvl="1"/>
            <a:r>
              <a:rPr lang="pt-BR" dirty="0"/>
              <a:t>Valorize o contato com a Natureza, </a:t>
            </a:r>
          </a:p>
          <a:p>
            <a:pPr lvl="1"/>
            <a:r>
              <a:rPr lang="pt-BR" dirty="0"/>
              <a:t>Visite parques, estações ecológicas, </a:t>
            </a:r>
          </a:p>
          <a:p>
            <a:pPr lvl="1"/>
            <a:r>
              <a:rPr lang="pt-BR" dirty="0"/>
              <a:t>Evitar a geração de grande quantidade de lixo.</a:t>
            </a:r>
          </a:p>
          <a:p>
            <a:pPr lvl="1"/>
            <a:r>
              <a:rPr lang="pt-BR" dirty="0"/>
              <a:t>Separe o Lixo</a:t>
            </a:r>
          </a:p>
          <a:p>
            <a:pPr lvl="1"/>
            <a:endParaRPr lang="pt-BR" dirty="0"/>
          </a:p>
        </p:txBody>
      </p:sp>
      <p:pic>
        <p:nvPicPr>
          <p:cNvPr id="5122" name="Picture 2" descr=" &#10; Â© WWF-Bras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3165538"/>
            <a:ext cx="1295400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562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diminuir sua pegada ecológica?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Consumo</a:t>
            </a:r>
          </a:p>
          <a:p>
            <a:pPr lvl="1"/>
            <a:r>
              <a:rPr lang="pt-BR" dirty="0"/>
              <a:t>Evite substituir aparelhos que agregam alta tecnologia desnecessariamente </a:t>
            </a:r>
          </a:p>
          <a:p>
            <a:pPr lvl="1"/>
            <a:r>
              <a:rPr lang="pt-BR" dirty="0"/>
              <a:t>Reduza o consumo de produtos descartáveis</a:t>
            </a:r>
          </a:p>
          <a:p>
            <a:pPr lvl="1"/>
            <a:r>
              <a:rPr lang="pt-BR" dirty="0"/>
              <a:t>Procure adquirir produtos “verdes”, de empresas que estejam envolvidas em programas de responsabilidade socioambiental e certificadas com </a:t>
            </a:r>
            <a:r>
              <a:rPr lang="pt-BR"/>
              <a:t>o ISO </a:t>
            </a:r>
            <a:r>
              <a:rPr lang="pt-BR" dirty="0"/>
              <a:t>14000 (certificação ambiental)</a:t>
            </a:r>
          </a:p>
          <a:p>
            <a:pPr lvl="1"/>
            <a:r>
              <a:rPr lang="pt-BR" dirty="0"/>
              <a:t>Ao comprar carvão, verifique na embalagem se o produto é registrado no IBAMA</a:t>
            </a:r>
          </a:p>
          <a:p>
            <a:pPr lvl="1"/>
            <a:r>
              <a:rPr lang="pt-BR" dirty="0"/>
              <a:t>Quando comprar palmito em conserva, verifique no rótulo o número de registro no IBAMA</a:t>
            </a:r>
          </a:p>
          <a:p>
            <a:pPr lvl="1"/>
            <a:r>
              <a:rPr lang="pt-BR" dirty="0"/>
              <a:t>Não compre orquídeas e bromélias à beira das estradas, pois podem ter sido retiradas da floresta, de forma predatória</a:t>
            </a:r>
          </a:p>
        </p:txBody>
      </p:sp>
      <p:pic>
        <p:nvPicPr>
          <p:cNvPr id="6148" name="Picture 4" descr=" &#10; Â© WWF-Bras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915337"/>
            <a:ext cx="12954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1174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 &#10; Â© WWF-Bras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940977"/>
            <a:ext cx="1234250" cy="107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diminuir sua pegada ecológica?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pt-BR" dirty="0"/>
              <a:t>Ao comprar móveis e madeiras, dê preferência aos que são feitos de pinho e verifique se o comerciante possui documentos de que a madeira é certificada com o selo FSC</a:t>
            </a:r>
          </a:p>
          <a:p>
            <a:pPr lvl="1"/>
            <a:r>
              <a:rPr lang="pt-BR" dirty="0"/>
              <a:t>Nunca compre animais silvestres</a:t>
            </a:r>
          </a:p>
          <a:p>
            <a:pPr lvl="1"/>
            <a:r>
              <a:rPr lang="pt-BR" dirty="0"/>
              <a:t>Dê preferência a produtos orgânicos, certificados ou naturais, artesanato, terapias alternativas, turismo responsável e outros setores.</a:t>
            </a:r>
          </a:p>
        </p:txBody>
      </p:sp>
      <p:pic>
        <p:nvPicPr>
          <p:cNvPr id="7170" name="Picture 2" descr="Resultado de imagem para selo fs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653871"/>
            <a:ext cx="2352327" cy="155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5263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Resultado de imagem para lampadas de l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528" y="536512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Resultado de imagem para proce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229" y="3982837"/>
            <a:ext cx="2013771" cy="1338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diminuir sua pegada ecológica?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5032" y="2434796"/>
            <a:ext cx="6798736" cy="3444997"/>
          </a:xfrm>
        </p:spPr>
        <p:txBody>
          <a:bodyPr>
            <a:noAutofit/>
          </a:bodyPr>
          <a:lstStyle/>
          <a:p>
            <a:r>
              <a:rPr lang="pt-BR" sz="1700" dirty="0"/>
              <a:t>Moradia</a:t>
            </a:r>
          </a:p>
          <a:p>
            <a:pPr lvl="1"/>
            <a:r>
              <a:rPr lang="pt-BR" sz="1700" dirty="0"/>
              <a:t>Adotar equipamentos e tecnologias que reduzem o consumo de água e energia</a:t>
            </a:r>
          </a:p>
          <a:p>
            <a:pPr lvl="1"/>
            <a:r>
              <a:rPr lang="pt-BR" sz="1700" dirty="0"/>
              <a:t>evite o uso da mangueira para limpar calçadas ou lavar o carro </a:t>
            </a:r>
          </a:p>
          <a:p>
            <a:pPr lvl="1"/>
            <a:r>
              <a:rPr lang="pt-BR" sz="1700" dirty="0"/>
              <a:t>junte roupas para lavar e passar</a:t>
            </a:r>
          </a:p>
          <a:p>
            <a:pPr lvl="1"/>
            <a:r>
              <a:rPr lang="pt-BR" sz="1700" dirty="0"/>
              <a:t>Verifique também em sua conta de água o total de metros cúbicos mensais e divida este número por 30 dias e pela quantidade de pessoas que moram em sua casa</a:t>
            </a:r>
          </a:p>
          <a:p>
            <a:pPr lvl="1"/>
            <a:r>
              <a:rPr lang="pt-BR" sz="1700" dirty="0"/>
              <a:t>Desligue aparelhos, inclusive da tomada, quando não estiverem sendo utilizados. </a:t>
            </a:r>
          </a:p>
          <a:p>
            <a:pPr lvl="1"/>
            <a:r>
              <a:rPr lang="pt-BR" sz="1700" dirty="0"/>
              <a:t>Procure utilizar as escadas em vez do elevador.</a:t>
            </a:r>
          </a:p>
        </p:txBody>
      </p:sp>
      <p:pic>
        <p:nvPicPr>
          <p:cNvPr id="7170" name="Picture 2" descr=" &#10; Â© WWF-Bras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2447266"/>
            <a:ext cx="12954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m para redutor de torneir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528" y="5709529"/>
            <a:ext cx="1853614" cy="106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7350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3608" y="908720"/>
            <a:ext cx="7279291" cy="1143000"/>
          </a:xfrm>
        </p:spPr>
        <p:txBody>
          <a:bodyPr>
            <a:normAutofit fontScale="90000"/>
          </a:bodyPr>
          <a:lstStyle/>
          <a:p>
            <a:r>
              <a:rPr lang="pt-BR" dirty="0"/>
              <a:t>Rótulos e Selos ambientais (“Selos Verdes”)</a:t>
            </a:r>
          </a:p>
        </p:txBody>
      </p:sp>
      <p:pic>
        <p:nvPicPr>
          <p:cNvPr id="1026" name="Picture 2" descr="Resultado de imagem para rótulos selos ambientais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11560" y="2348880"/>
            <a:ext cx="4592312" cy="3923432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5364088" y="3140968"/>
            <a:ext cx="2520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accent3"/>
                </a:solidFill>
              </a:rPr>
              <a:t>Sociedade e </a:t>
            </a:r>
          </a:p>
          <a:p>
            <a:pPr algn="ctr"/>
            <a:r>
              <a:rPr lang="pt-BR" sz="3600" dirty="0">
                <a:solidFill>
                  <a:schemeClr val="accent3"/>
                </a:solidFill>
              </a:rPr>
              <a:t>Marketing verde.</a:t>
            </a:r>
          </a:p>
        </p:txBody>
      </p:sp>
    </p:spTree>
    <p:extLst>
      <p:ext uri="{BB962C8B-B14F-4D97-AF65-F5344CB8AC3E}">
        <p14:creationId xmlns:p14="http://schemas.microsoft.com/office/powerpoint/2010/main" val="3592670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6802" name="Picture 2" descr="Resultado de imagem para greenwashi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79512" y="-531440"/>
            <a:ext cx="8748464" cy="5249078"/>
          </a:xfrm>
          <a:prstGeom prst="rect">
            <a:avLst/>
          </a:prstGeom>
          <a:noFill/>
        </p:spPr>
      </p:pic>
      <p:pic>
        <p:nvPicPr>
          <p:cNvPr id="76804" name="Picture 4" descr="Resultado de imagem para greenwashi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3747580"/>
            <a:ext cx="4860031" cy="3110420"/>
          </a:xfrm>
          <a:prstGeom prst="rect">
            <a:avLst/>
          </a:prstGeom>
          <a:noFill/>
        </p:spPr>
      </p:pic>
      <p:sp>
        <p:nvSpPr>
          <p:cNvPr id="76806" name="AutoShape 6" descr="Resultado de imagem para greenwashing"/>
          <p:cNvSpPr>
            <a:spLocks noChangeAspect="1" noChangeArrowheads="1"/>
          </p:cNvSpPr>
          <p:nvPr/>
        </p:nvSpPr>
        <p:spPr bwMode="auto">
          <a:xfrm>
            <a:off x="155575" y="-1790700"/>
            <a:ext cx="49911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6808" name="AutoShape 8" descr="Resultado de imagem para greenwashing"/>
          <p:cNvSpPr>
            <a:spLocks noChangeAspect="1" noChangeArrowheads="1"/>
          </p:cNvSpPr>
          <p:nvPr/>
        </p:nvSpPr>
        <p:spPr bwMode="auto">
          <a:xfrm>
            <a:off x="155575" y="-1790700"/>
            <a:ext cx="49911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6810" name="Picture 10" descr="Resultado de imagem para greenwashi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4932040" y="3699030"/>
            <a:ext cx="4211960" cy="31589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575273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651" y="416169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pt-BR" b="1" u="sng" dirty="0"/>
              <a:t>“Lavagem Verde” e </a:t>
            </a:r>
            <a:br>
              <a:rPr lang="pt-BR" b="1" u="sng" dirty="0"/>
            </a:br>
            <a:r>
              <a:rPr lang="pt-BR" b="1" u="sng" dirty="0"/>
              <a:t>“Maquiagem Verde”</a:t>
            </a:r>
          </a:p>
        </p:txBody>
      </p:sp>
      <p:pic>
        <p:nvPicPr>
          <p:cNvPr id="1026" name="Picture 2" descr="Resultado de imagem para greenwashing exemplos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0" y="1559169"/>
            <a:ext cx="9144000" cy="52988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918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1. Custo Ambiental Camuflado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Ele se caracteriza em uma ação econômica que visa à resolução de problema mas acarreta outro, obrigando uma escolha.</a:t>
            </a:r>
          </a:p>
          <a:p>
            <a:r>
              <a:rPr lang="pt-BR" dirty="0"/>
              <a:t>Ocorre quando uma questão ambiental é enfatizada em detrimento dos potencialmente mais sérias preocupações</a:t>
            </a:r>
          </a:p>
          <a:p>
            <a:pPr lvl="1"/>
            <a:r>
              <a:rPr lang="pt-BR" dirty="0"/>
              <a:t>Exemplo: produtos de limpeza “verdes” por características específicas (menos embalagem, produto concentrado, embalagem reciclável, etc.) que não esclarecem questões como consumo de água e energia na fabricação e no uso do produto</a:t>
            </a:r>
          </a:p>
        </p:txBody>
      </p:sp>
      <p:pic>
        <p:nvPicPr>
          <p:cNvPr id="3074" name="Picture 2" descr="Imagem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88640"/>
            <a:ext cx="350823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69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2. Falta de Prova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Isto acontece quando as afirmações ambientais não são apoiadas por elementos de prova ou de certificação.</a:t>
            </a:r>
          </a:p>
          <a:p>
            <a:r>
              <a:rPr lang="pt-BR" dirty="0"/>
              <a:t>Declaração de que o produto é ambientalmente preferível sem indicações acessíveis para comprovar tal afirmação.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Detergente é biodegradável, sem testar com animais</a:t>
            </a:r>
          </a:p>
          <a:p>
            <a:pPr lvl="1"/>
            <a:r>
              <a:rPr lang="pt-BR" dirty="0"/>
              <a:t>Sabonete mata 99% das bactérias... </a:t>
            </a:r>
          </a:p>
        </p:txBody>
      </p:sp>
      <p:pic>
        <p:nvPicPr>
          <p:cNvPr id="2050" name="Picture 2" descr="Resultado de imagem para sabonete mata 99% bacteri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m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09" b="19365"/>
          <a:stretch/>
        </p:blipFill>
        <p:spPr bwMode="auto">
          <a:xfrm>
            <a:off x="2439640" y="2622764"/>
            <a:ext cx="5536704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83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3. Incerteza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2770" y="2530716"/>
            <a:ext cx="6798736" cy="3444997"/>
          </a:xfrm>
        </p:spPr>
        <p:txBody>
          <a:bodyPr/>
          <a:lstStyle/>
          <a:p>
            <a:r>
              <a:rPr lang="pt-BR" dirty="0"/>
              <a:t>Declaração vaga ou abrangente (incluindo gráficos e símbolos) que não possibilitam a compreensão objetiva do benefício ambiental declarado. Exemplo: afirmações de que o produto é “amigo do meio ambiente”, “eco”, “sustentável”, “protege a natureza”, etc., sem explicações específicas sobre como isso é feito.</a:t>
            </a:r>
          </a:p>
        </p:txBody>
      </p:sp>
      <p:pic>
        <p:nvPicPr>
          <p:cNvPr id="2050" name="Picture 2" descr="Resultado de imagem para BOMBRIL E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305" y="1772816"/>
            <a:ext cx="5707856" cy="376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m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662" y="404664"/>
            <a:ext cx="5347141" cy="582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41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4. Culto a falsos Rótulos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uso de gráficos e expressões emulando selos ou certificações que, na verdade, não existem. </a:t>
            </a:r>
          </a:p>
          <a:p>
            <a:pPr lvl="1"/>
            <a:r>
              <a:rPr lang="pt-BR" dirty="0"/>
              <a:t>Exemplo: desenho de um planeta terra entre duas mãos dentro de um retângulo com a frase “Cuidando do meio ambiente”, encontrado em diversos desodorantes</a:t>
            </a:r>
          </a:p>
        </p:txBody>
      </p:sp>
      <p:pic>
        <p:nvPicPr>
          <p:cNvPr id="4098" name="Picture 2" descr="Resultado de imagem para rÃ³tulo desodorante cuida do plane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865" y="-8219"/>
            <a:ext cx="7092280" cy="709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09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5. </a:t>
            </a:r>
            <a:r>
              <a:rPr lang="pt-BR" dirty="0" err="1"/>
              <a:t>Irrelevancia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destaque de características ambientalmente corretas do produto que são, na verdade, obrigações dos fabricantes. </a:t>
            </a:r>
          </a:p>
          <a:p>
            <a:pPr lvl="1"/>
            <a:r>
              <a:rPr lang="pt-BR" dirty="0"/>
              <a:t>Exemplo: a expressão “Não contém CFC”, encontrada em embalagens aerossol. O CFC foi banido das embalagens por legislação há décadas.</a:t>
            </a:r>
          </a:p>
        </p:txBody>
      </p:sp>
      <p:pic>
        <p:nvPicPr>
          <p:cNvPr id="6146" name="Picture 2" descr="Resultado de imagem para cfc desodoran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5778622" cy="5778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ultado de imagem para cfc desodoran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362" y="2525403"/>
            <a:ext cx="4286250" cy="388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71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6. Menos pior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Menos pior: apelos ambientais presentes em produtos ou serviços cujo consumo, por si só, causa prejuízo maior ao indivíduo e ao meio ambiente. Exemplo: cigarros orgânicos, etanol – o combustível verde, inseticidas e pesticidas “ecológicos”</a:t>
            </a:r>
          </a:p>
        </p:txBody>
      </p:sp>
    </p:spTree>
    <p:extLst>
      <p:ext uri="{BB962C8B-B14F-4D97-AF65-F5344CB8AC3E}">
        <p14:creationId xmlns:p14="http://schemas.microsoft.com/office/powerpoint/2010/main" val="10412025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7. Mentira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Menções a certificações ou endosso de terceira parte que são falsas ou cujo registro junto ao órgão certificador está vencido. </a:t>
            </a:r>
          </a:p>
          <a:p>
            <a:pPr lvl="1"/>
            <a:r>
              <a:rPr lang="pt-BR" dirty="0"/>
              <a:t>Exemplo: produto com selo FSC cujo registro não constava no site da organização</a:t>
            </a:r>
          </a:p>
          <a:p>
            <a:pPr lvl="1"/>
            <a:r>
              <a:rPr lang="pt-BR" dirty="0"/>
              <a:t>Produto com selo da </a:t>
            </a:r>
            <a:r>
              <a:rPr lang="pt-BR" dirty="0" err="1"/>
              <a:t>Procel</a:t>
            </a:r>
            <a:r>
              <a:rPr lang="pt-BR" dirty="0"/>
              <a:t> falsificados</a:t>
            </a:r>
          </a:p>
        </p:txBody>
      </p:sp>
    </p:spTree>
    <p:extLst>
      <p:ext uri="{BB962C8B-B14F-4D97-AF65-F5344CB8AC3E}">
        <p14:creationId xmlns:p14="http://schemas.microsoft.com/office/powerpoint/2010/main" val="1475549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880941" y="508953"/>
            <a:ext cx="6798734" cy="1303867"/>
          </a:xfrm>
        </p:spPr>
        <p:txBody>
          <a:bodyPr/>
          <a:lstStyle/>
          <a:p>
            <a:r>
              <a:rPr lang="pt-BR" dirty="0"/>
              <a:t>O que vale?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 descr="Resultado de imagem para rÃ³tulos ambientais fals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17" y="2038592"/>
            <a:ext cx="8253632" cy="3867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/>
          <a:srcRect l="48425" t="45800" r="30313" b="13601"/>
          <a:stretch/>
        </p:blipFill>
        <p:spPr>
          <a:xfrm>
            <a:off x="3995936" y="764704"/>
            <a:ext cx="4131000" cy="44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6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evitar o problema, evite...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5576" y="2490135"/>
            <a:ext cx="7488832" cy="3444997"/>
          </a:xfrm>
        </p:spPr>
        <p:txBody>
          <a:bodyPr>
            <a:noAutofit/>
          </a:bodyPr>
          <a:lstStyle/>
          <a:p>
            <a:pPr fontAlgn="base"/>
            <a:r>
              <a:rPr lang="pt-BR" sz="1600" b="1" dirty="0"/>
              <a:t>Linguagem confusa:</a:t>
            </a:r>
            <a:r>
              <a:rPr lang="pt-BR" sz="1600" dirty="0"/>
              <a:t> palavras ou termos que têm significa inconclusivo, como “</a:t>
            </a:r>
            <a:r>
              <a:rPr lang="pt-BR" sz="1600" dirty="0" err="1"/>
              <a:t>esverdeamento</a:t>
            </a:r>
            <a:r>
              <a:rPr lang="pt-BR" sz="1600" dirty="0"/>
              <a:t>” ou “amigo do verde”</a:t>
            </a:r>
          </a:p>
          <a:p>
            <a:pPr fontAlgn="base"/>
            <a:r>
              <a:rPr lang="pt-BR" sz="1600" b="1" dirty="0"/>
              <a:t>Imagem sugestiva:</a:t>
            </a:r>
            <a:r>
              <a:rPr lang="pt-BR" sz="1600" dirty="0"/>
              <a:t> imagens ou ícones que podem levar o consumidor à confusão</a:t>
            </a:r>
          </a:p>
          <a:p>
            <a:pPr fontAlgn="base"/>
            <a:r>
              <a:rPr lang="pt-BR" sz="1600" b="1" dirty="0"/>
              <a:t>Reivindicações irrelevantes: </a:t>
            </a:r>
            <a:r>
              <a:rPr lang="pt-BR" sz="1600" dirty="0"/>
              <a:t>informações que são obrigatórias e divulgadas como diferenciais</a:t>
            </a:r>
          </a:p>
          <a:p>
            <a:pPr fontAlgn="base"/>
            <a:r>
              <a:rPr lang="pt-BR" sz="1600" b="1" dirty="0"/>
              <a:t>Declarações </a:t>
            </a:r>
            <a:r>
              <a:rPr lang="pt-BR" sz="1600" b="1" dirty="0" err="1"/>
              <a:t>auto-exaltantes</a:t>
            </a:r>
            <a:r>
              <a:rPr lang="pt-BR" sz="1600" b="1" dirty="0"/>
              <a:t>:</a:t>
            </a:r>
            <a:r>
              <a:rPr lang="pt-BR" sz="1600" dirty="0"/>
              <a:t> empresas que se </a:t>
            </a:r>
            <a:r>
              <a:rPr lang="pt-BR" sz="1600" dirty="0" err="1"/>
              <a:t>auto-intitulam</a:t>
            </a:r>
            <a:r>
              <a:rPr lang="pt-BR" sz="1600" dirty="0"/>
              <a:t> melhores que as demais</a:t>
            </a:r>
          </a:p>
          <a:p>
            <a:pPr fontAlgn="base"/>
            <a:r>
              <a:rPr lang="pt-BR" sz="1600" b="1" dirty="0"/>
              <a:t>Falta de informação:</a:t>
            </a:r>
            <a:r>
              <a:rPr lang="pt-BR" sz="1600" dirty="0"/>
              <a:t> ausência de dados e fatos que comprovam o que foi dito</a:t>
            </a:r>
          </a:p>
          <a:p>
            <a:pPr fontAlgn="base"/>
            <a:r>
              <a:rPr lang="pt-BR" sz="1600" b="1" dirty="0"/>
              <a:t>Jargão inexato:</a:t>
            </a:r>
            <a:r>
              <a:rPr lang="pt-BR" sz="1600" dirty="0"/>
              <a:t> informações que precisam ser comprovadas cientificamente</a:t>
            </a:r>
          </a:p>
          <a:p>
            <a:pPr fontAlgn="base"/>
            <a:r>
              <a:rPr lang="pt-BR" sz="1600" b="1" dirty="0"/>
              <a:t>Mentira:</a:t>
            </a:r>
            <a:r>
              <a:rPr lang="pt-BR" sz="1600" dirty="0"/>
              <a:t> declaração falsa ou não comprovada</a:t>
            </a:r>
          </a:p>
          <a:p>
            <a:pPr fontAlgn="base"/>
            <a:r>
              <a:rPr lang="pt-BR" sz="1600" b="1" dirty="0"/>
              <a:t>Certificados falsos:</a:t>
            </a:r>
            <a:r>
              <a:rPr lang="pt-BR" sz="1600" dirty="0"/>
              <a:t> certificações fabricadas e sem a verificação de selos como FSC, IBD, PROCEL, </a:t>
            </a:r>
            <a:r>
              <a:rPr lang="pt-BR" sz="1600" dirty="0" err="1"/>
              <a:t>Ecocert</a:t>
            </a:r>
            <a:r>
              <a:rPr lang="pt-BR" sz="1600" dirty="0"/>
              <a:t> ou ISO 14021.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3483444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3208</TotalTime>
  <Words>1946</Words>
  <Application>Microsoft Office PowerPoint</Application>
  <PresentationFormat>Apresentação na tela (4:3)</PresentationFormat>
  <Paragraphs>169</Paragraphs>
  <Slides>60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8" baseType="lpstr">
      <vt:lpstr>Arial</vt:lpstr>
      <vt:lpstr>Calibri</vt:lpstr>
      <vt:lpstr>Garamond</vt:lpstr>
      <vt:lpstr>Tahoma</vt:lpstr>
      <vt:lpstr>Times New Roman</vt:lpstr>
      <vt:lpstr>Verdana</vt:lpstr>
      <vt:lpstr>Orgânico</vt:lpstr>
      <vt:lpstr>Image</vt:lpstr>
      <vt:lpstr>Qual o tema da aula de hoje?</vt:lpstr>
      <vt:lpstr>Qual o tema da aula de hoje?</vt:lpstr>
      <vt:lpstr>Qual o tema da aula de hoje?</vt:lpstr>
      <vt:lpstr>Qual o tema da aula de hoje?</vt:lpstr>
      <vt:lpstr>Qual o tema da aula de hoje?</vt:lpstr>
      <vt:lpstr>Qual o tema da aula de hoje?</vt:lpstr>
      <vt:lpstr>Apresentação do PowerPoint</vt:lpstr>
      <vt:lpstr>Apresentação do PowerPoint</vt:lpstr>
      <vt:lpstr>Qual o tema da aula de hoje?</vt:lpstr>
      <vt:lpstr>Qual o tema da aula de hoje?</vt:lpstr>
      <vt:lpstr>Apresentação do PowerPoint</vt:lpstr>
      <vt:lpstr>   Desenvolvimento sustentável</vt:lpstr>
      <vt:lpstr>Uso da palavra SUSTENTÁVEL</vt:lpstr>
      <vt:lpstr>Apresentação do PowerPoint</vt:lpstr>
      <vt:lpstr>Com o tempo...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 resposta é...</vt:lpstr>
      <vt:lpstr>O que é Desenvolvimento Sustentável?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Desenvolvimento Sustentável</vt:lpstr>
      <vt:lpstr>Pegada Ecológica</vt:lpstr>
      <vt:lpstr>Pegada Ecológica</vt:lpstr>
      <vt:lpstr>Pegada Ecológica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Agenda 2030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Como diminuir sua pegada ecológica?</vt:lpstr>
      <vt:lpstr>Como diminuir sua pegada ecológica?</vt:lpstr>
      <vt:lpstr>Como diminuir sua pegada ecológica?</vt:lpstr>
      <vt:lpstr>Como diminuir sua pegada ecológica?</vt:lpstr>
      <vt:lpstr>Como diminuir sua pegada ecológica?</vt:lpstr>
      <vt:lpstr>Rótulos e Selos ambientais (“Selos Verdes”)</vt:lpstr>
      <vt:lpstr>Apresentação do PowerPoint</vt:lpstr>
      <vt:lpstr>“Lavagem Verde” e  “Maquiagem Verde”</vt:lpstr>
      <vt:lpstr>1. Custo Ambiental Camuflado</vt:lpstr>
      <vt:lpstr>2. Falta de Prova</vt:lpstr>
      <vt:lpstr>3. Incerteza</vt:lpstr>
      <vt:lpstr>4. Culto a falsos Rótulos</vt:lpstr>
      <vt:lpstr>5. Irrelevancia</vt:lpstr>
      <vt:lpstr>6. Menos pior</vt:lpstr>
      <vt:lpstr>7. Mentira</vt:lpstr>
      <vt:lpstr>O que vale?</vt:lpstr>
      <vt:lpstr>para evitar o problema, evite...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Ambiental  Panorama Global e Regional</dc:title>
  <dc:creator>Suganuma</dc:creator>
  <cp:lastModifiedBy>Halison Golias</cp:lastModifiedBy>
  <cp:revision>162</cp:revision>
  <dcterms:created xsi:type="dcterms:W3CDTF">2016-08-09T16:10:03Z</dcterms:created>
  <dcterms:modified xsi:type="dcterms:W3CDTF">2021-10-05T12:37:16Z</dcterms:modified>
</cp:coreProperties>
</file>